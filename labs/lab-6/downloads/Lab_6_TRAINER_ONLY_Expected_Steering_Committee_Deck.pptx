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aa96217dd2406d" /><Relationship Type="http://schemas.openxmlformats.org/officeDocument/2006/relationships/extended-properties" Target="/docProps/app.xml" Id="R5c17a08d583c42ca" /><Relationship Type="http://schemas.openxmlformats.org/officeDocument/2006/relationships/officeDocument" Target="/ppt/presentation.xml" Id="R737a264474254f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9fc283549d4ccb"/>
  </p:sldMasterIdLst>
  <p:notesMasterIdLst>
    <p:notesMasterId xmlns:r="http://schemas.openxmlformats.org/officeDocument/2006/relationships" r:id="R6b9e34c4ffbe4720"/>
  </p:notesMasterIdLst>
  <p:sldIdLst>
    <p:sldId xmlns:r="http://schemas.openxmlformats.org/officeDocument/2006/relationships" id="256" r:id="Rd3d0f1ea65844a07"/>
    <p:sldId xmlns:r="http://schemas.openxmlformats.org/officeDocument/2006/relationships" id="257" r:id="R238596dc3a67485c"/>
    <p:sldId xmlns:r="http://schemas.openxmlformats.org/officeDocument/2006/relationships" id="258" r:id="Refea722fc71c4344"/>
    <p:sldId xmlns:r="http://schemas.openxmlformats.org/officeDocument/2006/relationships" id="259" r:id="Raff17bdfe3f34a97"/>
    <p:sldId xmlns:r="http://schemas.openxmlformats.org/officeDocument/2006/relationships" id="260" r:id="Rdfccc79b70fd4caa"/>
    <p:sldId xmlns:r="http://schemas.openxmlformats.org/officeDocument/2006/relationships" id="261" r:id="Rf175bfed00e24960"/>
    <p:sldId xmlns:r="http://schemas.openxmlformats.org/officeDocument/2006/relationships" id="262" r:id="Rd27a5f60fc3a4ef2"/>
    <p:sldId xmlns:r="http://schemas.openxmlformats.org/officeDocument/2006/relationships" id="263" r:id="Ra5f5fa29ca3b44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a07483f4df41a8" /><Relationship Type="http://schemas.openxmlformats.org/officeDocument/2006/relationships/slideMaster" Target="/ppt/slideMasters/slideMaster1.xml" Id="R489fc283549d4ccb" /><Relationship Type="http://schemas.openxmlformats.org/officeDocument/2006/relationships/notesMaster" Target="/ppt/notesMasters/notesMaster1.xml" Id="R6b9e34c4ffbe4720" /><Relationship Type="http://schemas.openxmlformats.org/officeDocument/2006/relationships/presProps" Target="/ppt/presProps.xml" Id="R0a6a1ca8eeeb4a39" /><Relationship Type="http://schemas.openxmlformats.org/officeDocument/2006/relationships/tableStyles" Target="/ppt/tableStyles.xml" Id="R238f2748381d4f66" /><Relationship Type="http://schemas.openxmlformats.org/officeDocument/2006/relationships/slide" Target="/ppt/slides/slide1.xml" Id="Rd3d0f1ea65844a07" /><Relationship Type="http://schemas.openxmlformats.org/officeDocument/2006/relationships/slide" Target="/ppt/slides/slide2.xml" Id="R238596dc3a67485c" /><Relationship Type="http://schemas.openxmlformats.org/officeDocument/2006/relationships/slide" Target="/ppt/slides/slide3.xml" Id="Refea722fc71c4344" /><Relationship Type="http://schemas.openxmlformats.org/officeDocument/2006/relationships/slide" Target="/ppt/slides/slide4.xml" Id="Raff17bdfe3f34a97" /><Relationship Type="http://schemas.openxmlformats.org/officeDocument/2006/relationships/slide" Target="/ppt/slides/slide5.xml" Id="Rdfccc79b70fd4caa" /><Relationship Type="http://schemas.openxmlformats.org/officeDocument/2006/relationships/slide" Target="/ppt/slides/slide6.xml" Id="Rf175bfed00e24960" /><Relationship Type="http://schemas.openxmlformats.org/officeDocument/2006/relationships/slide" Target="/ppt/slides/slide7.xml" Id="Rd27a5f60fc3a4ef2" /><Relationship Type="http://schemas.openxmlformats.org/officeDocument/2006/relationships/slide" Target="/ppt/slides/slide8.xml" Id="Ra5f5fa29ca3b44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5e2d951d1448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3c57d74c8b4fff" /><Relationship Type="http://schemas.openxmlformats.org/officeDocument/2006/relationships/notesMaster" Target="/ppt/notesMasters/notesMaster1.xml" Id="R3688ef7bab9949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4fedf28d584aa0" /><Relationship Type="http://schemas.openxmlformats.org/officeDocument/2006/relationships/notesMaster" Target="/ppt/notesMasters/notesMaster1.xml" Id="Rdb458ca8445f4b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4c0de39a7442a4" /><Relationship Type="http://schemas.openxmlformats.org/officeDocument/2006/relationships/notesMaster" Target="/ppt/notesMasters/notesMaster1.xml" Id="R6698bda1e61c4b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ae5806ea1d447b" /><Relationship Type="http://schemas.openxmlformats.org/officeDocument/2006/relationships/notesMaster" Target="/ppt/notesMasters/notesMaster1.xml" Id="R77d82d6904d744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4ac45a0eed4c86" /><Relationship Type="http://schemas.openxmlformats.org/officeDocument/2006/relationships/notesMaster" Target="/ppt/notesMasters/notesMaster1.xml" Id="Rbd1c3d46055e42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552999e4d2448c" /><Relationship Type="http://schemas.openxmlformats.org/officeDocument/2006/relationships/notesMaster" Target="/ppt/notesMasters/notesMaster1.xml" Id="Ra114ac29c2164a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55eda7f3604a25" /><Relationship Type="http://schemas.openxmlformats.org/officeDocument/2006/relationships/notesMaster" Target="/ppt/notesMasters/notesMaster1.xml" Id="Rc178f9d1beda46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4341f8a5564030" /><Relationship Type="http://schemas.openxmlformats.org/officeDocument/2006/relationships/notesMaster" Target="/ppt/notesMasters/notesMaster1.xml" Id="R1fa89679cd0e49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decision date and clarify that this is a proposed conditional launch, not an approved outcome.</a:t>
            </a:r>
          </a:p>
          <a:p xmlns:a="http://schemas.openxmlformats.org/drawingml/2006/main">
            <a:r>
              <a:t>Ask the committee to focus on the five release gates.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NS-04 - Change Notice CN-NS-014</a:t>
            </a:r>
          </a:p>
          <a:p xmlns:a="http://schemas.openxmlformats.org/drawingml/2006/main">
            <a:r>
              <a:t>- Verified Decision Brief v1.1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status, not activity.</a:t>
            </a:r>
          </a:p>
          <a:p xmlns:a="http://schemas.openxmlformats.org/drawingml/2006/main">
            <a:r>
              <a:t>Conditional Go is the programme team's working recommendation only.</a:t>
            </a:r>
          </a:p>
          <a:p xmlns:a="http://schemas.openxmlformats.org/drawingml/2006/main">
            <a:r>
              <a:t>Do not present the EUR 35,000 weekly delay statement as a financial fact.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NS-02 - Readiness Tracker</a:t>
            </a:r>
          </a:p>
          <a:p xmlns:a="http://schemas.openxmlformats.org/drawingml/2006/main">
            <a:r>
              <a:t>- NS-03 - Readiness Review Notes</a:t>
            </a:r>
          </a:p>
          <a:p xmlns:a="http://schemas.openxmlformats.org/drawingml/2006/main">
            <a:r>
              <a:t>- NS-04 - Change Notice CN-NS-014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scope and target value separate.</a:t>
            </a:r>
          </a:p>
          <a:p xmlns:a="http://schemas.openxmlformats.org/drawingml/2006/main">
            <a:r>
              <a:t>SAP remains the system of record.</a:t>
            </a:r>
          </a:p>
          <a:p xmlns:a="http://schemas.openxmlformats.org/drawingml/2006/main">
            <a:r>
              <a:t>Do not describe the target measures as achieved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NS-01 - Project Brief v1.0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percentage alone is insufficient.</a:t>
            </a:r>
          </a:p>
          <a:p xmlns:a="http://schemas.openxmlformats.org/drawingml/2006/main">
            <a:r>
              <a:t>The four Severity 1 defects block readiness.</a:t>
            </a:r>
          </a:p>
          <a:p xmlns:a="http://schemas.openxmlformats.org/drawingml/2006/main">
            <a:r>
              <a:t>The 8 September date is a vendor forecast and must be labelled accordingly.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NS-02 - Readiness Tracker, Readiness Summary</a:t>
            </a:r>
          </a:p>
          <a:p xmlns:a="http://schemas.openxmlformats.org/drawingml/2006/main">
            <a:r>
              <a:t>- NS-02 - UAT Defects</a:t>
            </a:r>
          </a:p>
          <a:p xmlns:a="http://schemas.openxmlformats.org/drawingml/2006/main">
            <a:r>
              <a:t>- NS-03 - Readiness Review Notes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numeric gates and the ownership gaps.</a:t>
            </a:r>
          </a:p>
          <a:p xmlns:a="http://schemas.openxmlformats.org/drawingml/2006/main">
            <a:r>
              <a:t>Do not infer a migration or support owner.</a:t>
            </a:r>
          </a:p>
          <a:p xmlns:a="http://schemas.openxmlformats.org/drawingml/2006/main">
            <a:r>
              <a:t>External access can remain disabled only under an approved restriction.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NS-01 - Project Brief v1.0</a:t>
            </a:r>
          </a:p>
          <a:p xmlns:a="http://schemas.openxmlformats.org/drawingml/2006/main">
            <a:r>
              <a:t>- NS-02 - Readiness Tracker</a:t>
            </a:r>
          </a:p>
          <a:p xmlns:a="http://schemas.openxmlformats.org/drawingml/2006/main">
            <a:r>
              <a:t>- NS-03 - Readiness Review Notes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makes uncertainty visible rather than resolving it through design.</a:t>
            </a:r>
          </a:p>
          <a:p xmlns:a="http://schemas.openxmlformats.org/drawingml/2006/main">
            <a:r>
              <a:t>Ask Finance to validate the delay-cost calculation.</a:t>
            </a:r>
          </a:p>
          <a:p xmlns:a="http://schemas.openxmlformats.org/drawingml/2006/main">
            <a:r>
              <a:t>Keep missing owners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NS-03 - Readiness Review Notes</a:t>
            </a:r>
          </a:p>
          <a:p xmlns:a="http://schemas.openxmlformats.org/drawingml/2006/main">
            <a:r>
              <a:t>- Verified Decision Brief v1.1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all three options using the same decision criteria.</a:t>
            </a:r>
          </a:p>
          <a:p xmlns:a="http://schemas.openxmlformats.org/drawingml/2006/main">
            <a:r>
              <a:t>Option A uses the approved 29 September date.</a:t>
            </a:r>
          </a:p>
          <a:p xmlns:a="http://schemas.openxmlformats.org/drawingml/2006/main">
            <a:r>
              <a:t>Do not quantify the cost of Option B without Finance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NS-04 - Change Notice CN-NS-014</a:t>
            </a:r>
          </a:p>
          <a:p xmlns:a="http://schemas.openxmlformats.org/drawingml/2006/main">
            <a:r>
              <a:t>- Verified Decision Brief v1.1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four required decisions aloud.</a:t>
            </a:r>
          </a:p>
          <a:p xmlns:a="http://schemas.openxmlformats.org/drawingml/2006/main">
            <a:r>
              <a:t>Ask the committee to correct any evidence before deciding.</a:t>
            </a:r>
          </a:p>
          <a:p xmlns:a="http://schemas.openxmlformats.org/drawingml/2006/main">
            <a:r>
              <a:t>Record the final decision separately from this draft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Verified Decision Brief v1.1</a:t>
            </a:r>
          </a:p>
          <a:p xmlns:a="http://schemas.openxmlformats.org/drawingml/2006/main">
            <a:r>
              <a:t>- NS-01 - Project Brief v1.0</a:t>
            </a:r>
          </a:p>
          <a:p xmlns:a="http://schemas.openxmlformats.org/drawingml/2006/main">
            <a:r>
              <a:t>- NS-02 - Readiness Tracker</a:t>
            </a:r>
          </a:p>
          <a:p xmlns:a="http://schemas.openxmlformats.org/drawingml/2006/main">
            <a:r>
              <a:t>- NS-03 - Readiness Review Notes</a:t>
            </a:r>
          </a:p>
          <a:p xmlns:a="http://schemas.openxmlformats.org/drawingml/2006/main">
            <a:r>
              <a:t>- NS-04 - Change Notice CN-NS-014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293921851a45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9deb7594d14248" /><Relationship Type="http://schemas.openxmlformats.org/officeDocument/2006/relationships/slideLayout" Target="/ppt/slideLayouts/slideLayout1.xml" Id="Ra871f0fce01246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71f0fce01246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fa10b525e4093" /><Relationship Type="http://schemas.openxmlformats.org/officeDocument/2006/relationships/notesSlide" Target="/ppt/notesSlides/notesSlide1.xml" Id="Rac70e6238a9a45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1c02548d64f62" /><Relationship Type="http://schemas.openxmlformats.org/officeDocument/2006/relationships/notesSlide" Target="/ppt/notesSlides/notesSlide2.xml" Id="Rff2e93ed378b45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278af0ae442a5" /><Relationship Type="http://schemas.openxmlformats.org/officeDocument/2006/relationships/notesSlide" Target="/ppt/notesSlides/notesSlide3.xml" Id="R38b9e3c42dd14c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1be0412fc4750" /><Relationship Type="http://schemas.openxmlformats.org/officeDocument/2006/relationships/chart" Target="/ppt/slides/charts/chart1.xml" Id="Rc58e1588888649c8" /><Relationship Type="http://schemas.openxmlformats.org/officeDocument/2006/relationships/notesSlide" Target="/ppt/notesSlides/notesSlide4.xml" Id="Rf0ca21f8b6484d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076faef854186" /><Relationship Type="http://schemas.openxmlformats.org/officeDocument/2006/relationships/notesSlide" Target="/ppt/notesSlides/notesSlide5.xml" Id="Ra8f30156b8e846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c68b34d0d424a" /><Relationship Type="http://schemas.openxmlformats.org/officeDocument/2006/relationships/notesSlide" Target="/ppt/notesSlides/notesSlide6.xml" Id="Rc79f3cb0510e44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ee6974a3b4687" /><Relationship Type="http://schemas.openxmlformats.org/officeDocument/2006/relationships/notesSlide" Target="/ppt/notesSlides/notesSlide7.xml" Id="Re117902ea44442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f9ff577d94a0d" /><Relationship Type="http://schemas.openxmlformats.org/officeDocument/2006/relationships/notesSlide" Target="/ppt/notesSlides/notesSlide8.xml" Id="R6bfcb69af63f401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Count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2"/>
              <c:pt idx="0">
                <c:v>Tests complete</c:v>
              </c:pt>
              <c:pt idx="1">
                <c:v>Tests remaining</c:v>
              </c:pt>
            </c:strLit>
          </c:cat>
          <c:val>
            <c:numLit>
              <c:formatCode>General</c:formatCode>
              <c:ptCount val="2"/>
              <c:pt idx="0">
                <c:v>184</c:v>
              </c:pt>
              <c:pt idx="1">
                <c:v>16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1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rand">
            <a:extLst xmlns:a="http://schemas.openxmlformats.org/drawingml/2006/main">
              <a:ext uri="{FF2B5EF4-FFF2-40B4-BE49-F238E27FC236}">
                <a16:creationId xmlns:a16="http://schemas.microsoft.com/office/drawing/2014/main" id="{ED01E973-FAFB-452D-A587-5B7C1B72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DEBFF"/>
                </a:solidFill>
              </a:defRPr>
            </a:pPr>
            <a:r>
              <a:rPr sz="1125" b="1">
                <a:solidFill>
                  <a:srgbClr val="DDEBFF"/>
                </a:solidFill>
              </a:rPr>
              <a:t>NORTHSTAR GROUP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C4EFA028-47BB-4864-837D-0783C1E7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838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Project Northstar</a:t>
            </a:r>
          </a:p>
        </p:txBody>
      </p:sp>
      <p:sp>
        <p:nvSpPr>
          <p:cNvPr id="3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9B2A1D4E-3456-4C30-8C26-D06717A1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DEBFF"/>
                </a:solidFill>
              </a:defRPr>
            </a:pPr>
            <a:r>
              <a:rPr sz="1875" b="0">
                <a:solidFill>
                  <a:srgbClr val="DDEBFF"/>
                </a:solidFill>
              </a:rPr>
              <a:t>Steering Committee decision | Proposed pilot: 29 September 2026</a:t>
            </a:r>
          </a:p>
        </p:txBody>
      </p:sp>
      <p:sp>
        <p:nvSpPr>
          <p:cNvPr id="4" name="deck-purpose">
            <a:extLst xmlns:a="http://schemas.openxmlformats.org/drawingml/2006/main">
              <a:ext uri="{FF2B5EF4-FFF2-40B4-BE49-F238E27FC236}">
                <a16:creationId xmlns:a16="http://schemas.microsoft.com/office/drawing/2014/main" id="{C0083131-88AD-43FF-96B6-ED20A438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Supplier Onboarding Platform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94845BC-261A-442E-B561-B38CBED8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nfidential">
            <a:extLst xmlns:a="http://schemas.openxmlformats.org/drawingml/2006/main">
              <a:ext uri="{FF2B5EF4-FFF2-40B4-BE49-F238E27FC236}">
                <a16:creationId xmlns:a16="http://schemas.microsoft.com/office/drawing/2014/main" id="{0DFD4860-3CA7-4B09-9823-B17F3650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436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EBFF"/>
                </a:solidFill>
              </a:defRPr>
            </a:pPr>
            <a:r>
              <a:rPr sz="975" b="0">
                <a:solidFill>
                  <a:srgbClr val="DDEBFF"/>
                </a:solidFill>
              </a:rPr>
              <a:t>Synthetic workshop case | Trainer answer deck</a:t>
            </a:r>
          </a:p>
        </p:txBody>
      </p:sp>
    </p:spTree>
    <p:extLst>
      <p:ext uri="{BB962C8B-B14F-4D97-AF65-F5344CB8AC3E}">
        <p14:creationId xmlns:p14="http://schemas.microsoft.com/office/powerpoint/2010/main" val="9728573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2">
            <a:extLst xmlns:a="http://schemas.openxmlformats.org/drawingml/2006/main">
              <a:ext uri="{FF2B5EF4-FFF2-40B4-BE49-F238E27FC236}">
                <a16:creationId xmlns:a16="http://schemas.microsoft.com/office/drawing/2014/main" id="{2BA04125-42BE-42AA-BFC9-7B3A4AC8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DECISION REQUIRED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0AFB1781-0D6F-4A52-ABE4-BD871E78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Four release gates remain open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01B99360-BF16-411C-9C9F-A2067D4E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ision-callout">
            <a:extLst xmlns:a="http://schemas.openxmlformats.org/drawingml/2006/main">
              <a:ext uri="{FF2B5EF4-FFF2-40B4-BE49-F238E27FC236}">
                <a16:creationId xmlns:a16="http://schemas.microsoft.com/office/drawing/2014/main" id="{7E8D6EFF-B475-4D26-9498-B8075DA3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2390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DEBFF"/>
            </a:solidFill>
            <a:prstDash val="solid"/>
          </a:ln>
        </p:spPr>
      </p:sp>
      <p:sp>
        <p:nvSpPr>
          <p:cNvPr id="5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38CA1C64-AB8F-4F53-842A-158E88D1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WORKING RECOMMENDATION - NOT APPROVED</a:t>
            </a:r>
          </a:p>
        </p:txBody>
      </p:sp>
      <p:sp>
        <p:nvSpPr>
          <p:cNvPr id="6" name="decision-text">
            <a:extLst xmlns:a="http://schemas.openxmlformats.org/drawingml/2006/main">
              <a:ext uri="{FF2B5EF4-FFF2-40B4-BE49-F238E27FC236}">
                <a16:creationId xmlns:a16="http://schemas.microsoft.com/office/drawing/2014/main" id="{D0EE4F49-38C2-44AC-B7A6-9FA1AD4B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647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A43"/>
                </a:solidFill>
              </a:defRPr>
            </a:pPr>
            <a:r>
              <a:rPr sz="2175" b="1">
                <a:solidFill>
                  <a:srgbClr val="102A43"/>
                </a:solidFill>
              </a:rPr>
              <a:t>Approve a Conditional Go for 29 September only if every release gate is met.</a:t>
            </a:r>
          </a:p>
        </p:txBody>
      </p:sp>
      <p:sp>
        <p:nvSpPr>
          <p:cNvPr id="7" name="release-status-surface">
            <a:extLst xmlns:a="http://schemas.openxmlformats.org/drawingml/2006/main">
              <a:ext uri="{FF2B5EF4-FFF2-40B4-BE49-F238E27FC236}">
                <a16:creationId xmlns:a16="http://schemas.microsoft.com/office/drawing/2014/main" id="{BFD91E7B-56E8-4CD8-BA57-1D230588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19250"/>
            <a:ext cx="30289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8" name="release-status-accent">
            <a:extLst xmlns:a="http://schemas.openxmlformats.org/drawingml/2006/main">
              <a:ext uri="{FF2B5EF4-FFF2-40B4-BE49-F238E27FC236}">
                <a16:creationId xmlns:a16="http://schemas.microsoft.com/office/drawing/2014/main" id="{0AB08190-0BA0-49A9-9AFE-22404099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192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lease-status-value">
            <a:extLst xmlns:a="http://schemas.openxmlformats.org/drawingml/2006/main">
              <a:ext uri="{FF2B5EF4-FFF2-40B4-BE49-F238E27FC236}">
                <a16:creationId xmlns:a16="http://schemas.microsoft.com/office/drawing/2014/main" id="{5D74A1DE-391A-478B-9D06-054F20B3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52600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33A3A"/>
                </a:solidFill>
              </a:defRPr>
            </a:pPr>
            <a:r>
              <a:rPr sz="2400" b="1">
                <a:solidFill>
                  <a:srgbClr val="A33A3A"/>
                </a:solidFill>
              </a:rPr>
              <a:t>NOT READY</a:t>
            </a:r>
          </a:p>
        </p:txBody>
      </p:sp>
      <p:sp>
        <p:nvSpPr>
          <p:cNvPr id="10" name="release-status-label">
            <a:extLst xmlns:a="http://schemas.openxmlformats.org/drawingml/2006/main">
              <a:ext uri="{FF2B5EF4-FFF2-40B4-BE49-F238E27FC236}">
                <a16:creationId xmlns:a16="http://schemas.microsoft.com/office/drawing/2014/main" id="{796E5378-2B1F-4F3C-A8A1-F5CF0276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9075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Current release status</a:t>
            </a:r>
          </a:p>
        </p:txBody>
      </p:sp>
      <p:sp>
        <p:nvSpPr>
          <p:cNvPr id="11" name="release-status-note">
            <a:extLst xmlns:a="http://schemas.openxmlformats.org/drawingml/2006/main">
              <a:ext uri="{FF2B5EF4-FFF2-40B4-BE49-F238E27FC236}">
                <a16:creationId xmlns:a16="http://schemas.microsoft.com/office/drawing/2014/main" id="{54469BEB-DCD4-4CEC-8D62-F8F6F9C9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4 of 5 areas are not ready</a:t>
            </a:r>
          </a:p>
        </p:txBody>
      </p:sp>
      <p:sp>
        <p:nvSpPr>
          <p:cNvPr id="12" name="sum-b1-dot">
            <a:extLst xmlns:a="http://schemas.openxmlformats.org/drawingml/2006/main">
              <a:ext uri="{FF2B5EF4-FFF2-40B4-BE49-F238E27FC236}">
                <a16:creationId xmlns:a16="http://schemas.microsoft.com/office/drawing/2014/main" id="{37CD470E-E3A7-4C74-B3EC-93A446A6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05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um-b1">
            <a:extLst xmlns:a="http://schemas.openxmlformats.org/drawingml/2006/main">
              <a:ext uri="{FF2B5EF4-FFF2-40B4-BE49-F238E27FC236}">
                <a16:creationId xmlns:a16="http://schemas.microsoft.com/office/drawing/2014/main" id="{26792F58-1BEB-4E5F-B5A4-6AD1B31A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512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UAT: four Severity 1 defects remain open</a:t>
            </a:r>
          </a:p>
        </p:txBody>
      </p:sp>
      <p:sp>
        <p:nvSpPr>
          <p:cNvPr id="14" name="sum-b2-dot">
            <a:extLst xmlns:a="http://schemas.openxmlformats.org/drawingml/2006/main">
              <a:ext uri="{FF2B5EF4-FFF2-40B4-BE49-F238E27FC236}">
                <a16:creationId xmlns:a16="http://schemas.microsoft.com/office/drawing/2014/main" id="{6B211328-2ED5-44FF-9F14-29272073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um-b2">
            <a:extLst xmlns:a="http://schemas.openxmlformats.org/drawingml/2006/main">
              <a:ext uri="{FF2B5EF4-FFF2-40B4-BE49-F238E27FC236}">
                <a16:creationId xmlns:a16="http://schemas.microsoft.com/office/drawing/2014/main" id="{A5728930-99D4-4596-8D95-AA41D70C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512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Security: external access is not approved</a:t>
            </a:r>
          </a:p>
        </p:txBody>
      </p:sp>
      <p:sp>
        <p:nvSpPr>
          <p:cNvPr id="16" name="sum-b3-dot">
            <a:extLst xmlns:a="http://schemas.openxmlformats.org/drawingml/2006/main">
              <a:ext uri="{FF2B5EF4-FFF2-40B4-BE49-F238E27FC236}">
                <a16:creationId xmlns:a16="http://schemas.microsoft.com/office/drawing/2014/main" id="{384FB6BD-A938-447A-B2B8-4369FEBE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72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um-b3">
            <a:extLst xmlns:a="http://schemas.openxmlformats.org/drawingml/2006/main">
              <a:ext uri="{FF2B5EF4-FFF2-40B4-BE49-F238E27FC236}">
                <a16:creationId xmlns:a16="http://schemas.microsoft.com/office/drawing/2014/main" id="{78DA07BC-83C7-4BBA-9C5D-B6690C12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67250"/>
            <a:ext cx="588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Migration, training and support ownership remain below gate</a:t>
            </a:r>
          </a:p>
        </p:txBody>
      </p:sp>
      <p:sp>
        <p:nvSpPr>
          <p:cNvPr id="18" name="sum-question">
            <a:extLst xmlns:a="http://schemas.openxmlformats.org/drawingml/2006/main">
              <a:ext uri="{FF2B5EF4-FFF2-40B4-BE49-F238E27FC236}">
                <a16:creationId xmlns:a16="http://schemas.microsoft.com/office/drawing/2014/main" id="{FB6B8C70-907E-4CE6-BD70-EEFB8885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Committee decision: Conditional Go, Delay or No Go?</a:t>
            </a:r>
          </a:p>
        </p:txBody>
      </p:sp>
      <p:sp>
        <p:nvSpPr>
          <p:cNvPr id="19" name="footer-2">
            <a:extLst xmlns:a="http://schemas.openxmlformats.org/drawingml/2006/main">
              <a:ext uri="{FF2B5EF4-FFF2-40B4-BE49-F238E27FC236}">
                <a16:creationId xmlns:a16="http://schemas.microsoft.com/office/drawing/2014/main" id="{6C51CF82-2FD8-428B-AD7F-FF599177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06D"/>
                </a:solidFill>
              </a:defRPr>
            </a:pPr>
            <a:r>
              <a:rPr sz="825" b="1">
                <a:solidFill>
                  <a:srgbClr val="52606D"/>
                </a:solidFill>
              </a:rPr>
              <a:t>PROJECT NORTHSTAR | STEERING COMMITTEE</a:t>
            </a:r>
          </a:p>
        </p:txBody>
      </p:sp>
      <p:sp>
        <p:nvSpPr>
          <p:cNvPr id="20" name="page-2">
            <a:extLst xmlns:a="http://schemas.openxmlformats.org/drawingml/2006/main">
              <a:ext uri="{FF2B5EF4-FFF2-40B4-BE49-F238E27FC236}">
                <a16:creationId xmlns:a16="http://schemas.microsoft.com/office/drawing/2014/main" id="{D62F54E4-3CA1-4A8A-BB9F-47ADA6A5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06D"/>
                </a:solidFill>
              </a:defRPr>
            </a:pPr>
            <a:r>
              <a:rPr sz="825" b="1">
                <a:solidFill>
                  <a:srgbClr val="52606D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954147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-3">
            <a:extLst xmlns:a="http://schemas.openxmlformats.org/drawingml/2006/main">
              <a:ext uri="{FF2B5EF4-FFF2-40B4-BE49-F238E27FC236}">
                <a16:creationId xmlns:a16="http://schemas.microsoft.com/office/drawing/2014/main" id="{1614FC9D-BBA4-48D3-BFF2-BA58EFC8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PILOT SCOPE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D904CF32-D254-4DEC-9FC1-A9BBB142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The scope is unchanged; benefits remain targets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722B4544-FF29-43F3-88AB-CAA1D2ED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ope-left-title">
            <a:extLst xmlns:a="http://schemas.openxmlformats.org/drawingml/2006/main">
              <a:ext uri="{FF2B5EF4-FFF2-40B4-BE49-F238E27FC236}">
                <a16:creationId xmlns:a16="http://schemas.microsoft.com/office/drawing/2014/main" id="{DE7312F2-B50F-4481-995C-3487EFA8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715B"/>
                </a:solidFill>
              </a:defRPr>
            </a:pPr>
            <a:r>
              <a:rPr sz="1125" b="1">
                <a:solidFill>
                  <a:srgbClr val="12715B"/>
                </a:solidFill>
              </a:rPr>
              <a:t>IN SCOPE</a:t>
            </a:r>
          </a:p>
        </p:txBody>
      </p:sp>
      <p:sp>
        <p:nvSpPr>
          <p:cNvPr id="5" name="scope-in-0-dot">
            <a:extLst xmlns:a="http://schemas.openxmlformats.org/drawingml/2006/main">
              <a:ext uri="{FF2B5EF4-FFF2-40B4-BE49-F238E27FC236}">
                <a16:creationId xmlns:a16="http://schemas.microsoft.com/office/drawing/2014/main" id="{BB4F1BDF-7B86-4192-B17A-88F38E7E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cope-in-0">
            <a:extLst xmlns:a="http://schemas.openxmlformats.org/drawingml/2006/main">
              <a:ext uri="{FF2B5EF4-FFF2-40B4-BE49-F238E27FC236}">
                <a16:creationId xmlns:a16="http://schemas.microsoft.com/office/drawing/2014/main" id="{E8572E7C-7984-48D8-BCCC-76B3B1D3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648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Supplier intake and document collection</a:t>
            </a:r>
          </a:p>
        </p:txBody>
      </p:sp>
      <p:sp>
        <p:nvSpPr>
          <p:cNvPr id="7" name="scope-in-1-dot">
            <a:extLst xmlns:a="http://schemas.openxmlformats.org/drawingml/2006/main">
              <a:ext uri="{FF2B5EF4-FFF2-40B4-BE49-F238E27FC236}">
                <a16:creationId xmlns:a16="http://schemas.microsoft.com/office/drawing/2014/main" id="{584AC14A-A3A1-47ED-9946-039A058E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98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cope-in-1">
            <a:extLst xmlns:a="http://schemas.openxmlformats.org/drawingml/2006/main">
              <a:ext uri="{FF2B5EF4-FFF2-40B4-BE49-F238E27FC236}">
                <a16:creationId xmlns:a16="http://schemas.microsoft.com/office/drawing/2014/main" id="{CCDE019A-A96E-4D63-BB02-D09C1543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4648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Compliance workflow and audit evidence</a:t>
            </a:r>
          </a:p>
        </p:txBody>
      </p:sp>
      <p:sp>
        <p:nvSpPr>
          <p:cNvPr id="9" name="scope-in-2-dot">
            <a:extLst xmlns:a="http://schemas.openxmlformats.org/drawingml/2006/main">
              <a:ext uri="{FF2B5EF4-FFF2-40B4-BE49-F238E27FC236}">
                <a16:creationId xmlns:a16="http://schemas.microsoft.com/office/drawing/2014/main" id="{01998585-B0AC-497C-837C-6B4E7B04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cope-in-2">
            <a:extLst xmlns:a="http://schemas.openxmlformats.org/drawingml/2006/main">
              <a:ext uri="{FF2B5EF4-FFF2-40B4-BE49-F238E27FC236}">
                <a16:creationId xmlns:a16="http://schemas.microsoft.com/office/drawing/2014/main" id="{5B6D0525-C72A-485F-83BC-3B80F203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4648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Bank-verification hand-off</a:t>
            </a:r>
          </a:p>
        </p:txBody>
      </p:sp>
      <p:sp>
        <p:nvSpPr>
          <p:cNvPr id="11" name="scope-in-3-dot">
            <a:extLst xmlns:a="http://schemas.openxmlformats.org/drawingml/2006/main">
              <a:ext uri="{FF2B5EF4-FFF2-40B4-BE49-F238E27FC236}">
                <a16:creationId xmlns:a16="http://schemas.microsoft.com/office/drawing/2014/main" id="{E1F977EC-BC2E-4EC0-B755-1A5304C9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cope-in-3">
            <a:extLst xmlns:a="http://schemas.openxmlformats.org/drawingml/2006/main">
              <a:ext uri="{FF2B5EF4-FFF2-40B4-BE49-F238E27FC236}">
                <a16:creationId xmlns:a16="http://schemas.microsoft.com/office/drawing/2014/main" id="{C7B67E4E-51B4-4DF3-ABB8-228D029E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4648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Status tracking and internal notifications</a:t>
            </a:r>
          </a:p>
        </p:txBody>
      </p:sp>
      <p:sp>
        <p:nvSpPr>
          <p:cNvPr id="13" name="scope-right-title">
            <a:extLst xmlns:a="http://schemas.openxmlformats.org/drawingml/2006/main">
              <a:ext uri="{FF2B5EF4-FFF2-40B4-BE49-F238E27FC236}">
                <a16:creationId xmlns:a16="http://schemas.microsoft.com/office/drawing/2014/main" id="{45D55416-4241-4773-A104-0FF0849B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TARGET VALUE</a:t>
            </a:r>
          </a:p>
        </p:txBody>
      </p:sp>
      <p:sp>
        <p:nvSpPr>
          <p:cNvPr id="14" name="cycle-target-surface">
            <a:extLst xmlns:a="http://schemas.openxmlformats.org/drawingml/2006/main">
              <a:ext uri="{FF2B5EF4-FFF2-40B4-BE49-F238E27FC236}">
                <a16:creationId xmlns:a16="http://schemas.microsoft.com/office/drawing/2014/main" id="{B0488CAA-9751-4F5F-A6B5-2FC0E173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4762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5" name="cycle-target-accent">
            <a:extLst xmlns:a="http://schemas.openxmlformats.org/drawingml/2006/main">
              <a:ext uri="{FF2B5EF4-FFF2-40B4-BE49-F238E27FC236}">
                <a16:creationId xmlns:a16="http://schemas.microsoft.com/office/drawing/2014/main" id="{E5E569AB-9289-4004-B970-B2F4539C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ycle-target-value">
            <a:extLst xmlns:a="http://schemas.openxmlformats.org/drawingml/2006/main">
              <a:ext uri="{FF2B5EF4-FFF2-40B4-BE49-F238E27FC236}">
                <a16:creationId xmlns:a16="http://schemas.microsoft.com/office/drawing/2014/main" id="{B7AE7585-A87A-4B66-940F-ADB4F86C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86000"/>
            <a:ext cx="434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</a:defRPr>
            </a:pPr>
            <a:r>
              <a:rPr sz="2400" b="1">
                <a:solidFill>
                  <a:srgbClr val="2563EB"/>
                </a:solidFill>
              </a:rPr>
              <a:t>12 -&gt; 7 days</a:t>
            </a:r>
          </a:p>
        </p:txBody>
      </p:sp>
      <p:sp>
        <p:nvSpPr>
          <p:cNvPr id="17" name="cycle-target-label">
            <a:extLst xmlns:a="http://schemas.openxmlformats.org/drawingml/2006/main">
              <a:ext uri="{FF2B5EF4-FFF2-40B4-BE49-F238E27FC236}">
                <a16:creationId xmlns:a16="http://schemas.microsoft.com/office/drawing/2014/main" id="{BBB3446E-8CC3-4764-8E68-635DCBCB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241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Onboarding cycle target</a:t>
            </a:r>
          </a:p>
        </p:txBody>
      </p:sp>
      <p:sp>
        <p:nvSpPr>
          <p:cNvPr id="18" name="cycle-target-note">
            <a:extLst xmlns:a="http://schemas.openxmlformats.org/drawingml/2006/main">
              <a:ext uri="{FF2B5EF4-FFF2-40B4-BE49-F238E27FC236}">
                <a16:creationId xmlns:a16="http://schemas.microsoft.com/office/drawing/2014/main" id="{78F9352C-6D35-4A89-8DD1-2B591141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990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Within three months of launch</a:t>
            </a:r>
          </a:p>
        </p:txBody>
      </p:sp>
      <p:sp>
        <p:nvSpPr>
          <p:cNvPr id="19" name="email-target-surface">
            <a:extLst xmlns:a="http://schemas.openxmlformats.org/drawingml/2006/main">
              <a:ext uri="{FF2B5EF4-FFF2-40B4-BE49-F238E27FC236}">
                <a16:creationId xmlns:a16="http://schemas.microsoft.com/office/drawing/2014/main" id="{255E5FCD-7362-4F7D-8476-10E8A264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19500"/>
            <a:ext cx="4762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0" name="email-target-accent">
            <a:extLst xmlns:a="http://schemas.openxmlformats.org/drawingml/2006/main">
              <a:ext uri="{FF2B5EF4-FFF2-40B4-BE49-F238E27FC236}">
                <a16:creationId xmlns:a16="http://schemas.microsoft.com/office/drawing/2014/main" id="{B67B2184-B761-4E2D-92E6-7F6172D8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195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email-target-value">
            <a:extLst xmlns:a="http://schemas.openxmlformats.org/drawingml/2006/main">
              <a:ext uri="{FF2B5EF4-FFF2-40B4-BE49-F238E27FC236}">
                <a16:creationId xmlns:a16="http://schemas.microsoft.com/office/drawing/2014/main" id="{185E9C31-5974-49D8-BDCC-5F28FFA6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52850"/>
            <a:ext cx="434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715B"/>
                </a:solidFill>
              </a:defRPr>
            </a:pPr>
            <a:r>
              <a:rPr sz="2400" b="1">
                <a:solidFill>
                  <a:srgbClr val="12715B"/>
                </a:solidFill>
              </a:rPr>
              <a:t>-30%</a:t>
            </a:r>
          </a:p>
        </p:txBody>
      </p:sp>
      <p:sp>
        <p:nvSpPr>
          <p:cNvPr id="22" name="email-target-label">
            <a:extLst xmlns:a="http://schemas.openxmlformats.org/drawingml/2006/main">
              <a:ext uri="{FF2B5EF4-FFF2-40B4-BE49-F238E27FC236}">
                <a16:creationId xmlns:a16="http://schemas.microsoft.com/office/drawing/2014/main" id="{92106442-FED9-4E68-BE29-9DE4E4A6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910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Manual follow-up target</a:t>
            </a:r>
          </a:p>
        </p:txBody>
      </p:sp>
      <p:sp>
        <p:nvSpPr>
          <p:cNvPr id="23" name="email-target-note">
            <a:extLst xmlns:a="http://schemas.openxmlformats.org/drawingml/2006/main">
              <a:ext uri="{FF2B5EF4-FFF2-40B4-BE49-F238E27FC236}">
                <a16:creationId xmlns:a16="http://schemas.microsoft.com/office/drawing/2014/main" id="{0E17EC23-0388-44E9-923E-3CF29073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767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Within three months of launch</a:t>
            </a:r>
          </a:p>
        </p:txBody>
      </p:sp>
      <p:sp>
        <p:nvSpPr>
          <p:cNvPr id="24" name="scope-note">
            <a:extLst xmlns:a="http://schemas.openxmlformats.org/drawingml/2006/main">
              <a:ext uri="{FF2B5EF4-FFF2-40B4-BE49-F238E27FC236}">
                <a16:creationId xmlns:a16="http://schemas.microsoft.com/office/drawing/2014/main" id="{EE0F010B-1C36-4094-8318-954E7470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816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33A3A"/>
                </a:solidFill>
              </a:defRPr>
            </a:pPr>
            <a:r>
              <a:rPr sz="1275" b="1">
                <a:solidFill>
                  <a:srgbClr val="A33A3A"/>
                </a:solidFill>
              </a:rPr>
              <a:t>These are approved targets - not benefits already realised.</a:t>
            </a:r>
          </a:p>
        </p:txBody>
      </p:sp>
      <p:sp>
        <p:nvSpPr>
          <p:cNvPr id="25" name="footer-3">
            <a:extLst xmlns:a="http://schemas.openxmlformats.org/drawingml/2006/main">
              <a:ext uri="{FF2B5EF4-FFF2-40B4-BE49-F238E27FC236}">
                <a16:creationId xmlns:a16="http://schemas.microsoft.com/office/drawing/2014/main" id="{9191BAB0-1CF2-46C6-986B-F4F0DFA6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06D"/>
                </a:solidFill>
              </a:defRPr>
            </a:pPr>
            <a:r>
              <a:rPr sz="825" b="1">
                <a:solidFill>
                  <a:srgbClr val="52606D"/>
                </a:solidFill>
              </a:rPr>
              <a:t>PROJECT NORTHSTAR | STEERING COMMITTEE</a:t>
            </a:r>
          </a:p>
        </p:txBody>
      </p:sp>
      <p:sp>
        <p:nvSpPr>
          <p:cNvPr id="26" name="page-3">
            <a:extLst xmlns:a="http://schemas.openxmlformats.org/drawingml/2006/main">
              <a:ext uri="{FF2B5EF4-FFF2-40B4-BE49-F238E27FC236}">
                <a16:creationId xmlns:a16="http://schemas.microsoft.com/office/drawing/2014/main" id="{DFBD2906-9B62-41D8-91AB-55481182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06D"/>
                </a:solidFill>
              </a:defRPr>
            </a:pPr>
            <a:r>
              <a:rPr sz="825" b="1">
                <a:solidFill>
                  <a:srgbClr val="52606D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062257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4">
            <a:extLst xmlns:a="http://schemas.openxmlformats.org/drawingml/2006/main">
              <a:ext uri="{FF2B5EF4-FFF2-40B4-BE49-F238E27FC236}">
                <a16:creationId xmlns:a16="http://schemas.microsoft.com/office/drawing/2014/main" id="{9F87AFE2-DC06-4F26-B8B7-B2A1447B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DELIVERY READINESS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5C33100E-8F66-48E6-B086-96084E77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Four Severity 1 defects block launch readiness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57C6F233-4822-4E1C-A1C3-4B9CB9E1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5905500" cy="3028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8e1588888649c8"/>
          </a:graphicData>
        </a:graphic>
      </p:graphicFrame>
      <p:sp>
        <p:nvSpPr>
          <p:cNvPr id="5" name="uat-pct-surface">
            <a:extLst xmlns:a="http://schemas.openxmlformats.org/drawingml/2006/main">
              <a:ext uri="{FF2B5EF4-FFF2-40B4-BE49-F238E27FC236}">
                <a16:creationId xmlns:a16="http://schemas.microsoft.com/office/drawing/2014/main" id="{BE3F5556-F8F1-4892-A713-124A3230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09750"/>
            <a:ext cx="41529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6" name="uat-pct-accent">
            <a:extLst xmlns:a="http://schemas.openxmlformats.org/drawingml/2006/main">
              <a:ext uri="{FF2B5EF4-FFF2-40B4-BE49-F238E27FC236}">
                <a16:creationId xmlns:a16="http://schemas.microsoft.com/office/drawing/2014/main" id="{7F6BD16E-4718-411D-9EFB-5943AA77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097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uat-pct-value">
            <a:extLst xmlns:a="http://schemas.openxmlformats.org/drawingml/2006/main">
              <a:ext uri="{FF2B5EF4-FFF2-40B4-BE49-F238E27FC236}">
                <a16:creationId xmlns:a16="http://schemas.microsoft.com/office/drawing/2014/main" id="{76195389-FF27-423E-AE4D-31711D42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43100"/>
            <a:ext cx="3733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</a:defRPr>
            </a:pPr>
            <a:r>
              <a:rPr sz="2400" b="1">
                <a:solidFill>
                  <a:srgbClr val="2563EB"/>
                </a:solidFill>
              </a:rPr>
              <a:t>92%</a:t>
            </a:r>
          </a:p>
        </p:txBody>
      </p:sp>
      <p:sp>
        <p:nvSpPr>
          <p:cNvPr id="8" name="uat-pct-label">
            <a:extLst xmlns:a="http://schemas.openxmlformats.org/drawingml/2006/main">
              <a:ext uri="{FF2B5EF4-FFF2-40B4-BE49-F238E27FC236}">
                <a16:creationId xmlns:a16="http://schemas.microsoft.com/office/drawing/2014/main" id="{A3C45025-A9A6-48B5-ADAE-25E13354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373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UAT complete</a:t>
            </a:r>
          </a:p>
        </p:txBody>
      </p:sp>
      <p:sp>
        <p:nvSpPr>
          <p:cNvPr id="9" name="uat-pct-note">
            <a:extLst xmlns:a="http://schemas.openxmlformats.org/drawingml/2006/main">
              <a:ext uri="{FF2B5EF4-FFF2-40B4-BE49-F238E27FC236}">
                <a16:creationId xmlns:a16="http://schemas.microsoft.com/office/drawing/2014/main" id="{3742373F-78C9-46B5-99A2-70E2B8A4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67000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184 of 200 planned tests</a:t>
            </a:r>
          </a:p>
        </p:txBody>
      </p:sp>
      <p:sp>
        <p:nvSpPr>
          <p:cNvPr id="10" name="sev1-surface">
            <a:extLst xmlns:a="http://schemas.openxmlformats.org/drawingml/2006/main">
              <a:ext uri="{FF2B5EF4-FFF2-40B4-BE49-F238E27FC236}">
                <a16:creationId xmlns:a16="http://schemas.microsoft.com/office/drawing/2014/main" id="{0C3ADAA3-1180-4546-BCA9-F44B5112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76600"/>
            <a:ext cx="41529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1" name="sev1-accent">
            <a:extLst xmlns:a="http://schemas.openxmlformats.org/drawingml/2006/main">
              <a:ext uri="{FF2B5EF4-FFF2-40B4-BE49-F238E27FC236}">
                <a16:creationId xmlns:a16="http://schemas.microsoft.com/office/drawing/2014/main" id="{0B68B1D4-C243-44DD-8F73-5F76FA40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766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v1-value">
            <a:extLst xmlns:a="http://schemas.openxmlformats.org/drawingml/2006/main">
              <a:ext uri="{FF2B5EF4-FFF2-40B4-BE49-F238E27FC236}">
                <a16:creationId xmlns:a16="http://schemas.microsoft.com/office/drawing/2014/main" id="{E8598EA2-ABE3-4E76-818B-BF50A629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09950"/>
            <a:ext cx="3733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33A3A"/>
                </a:solidFill>
              </a:defRPr>
            </a:pPr>
            <a:r>
              <a:rPr sz="2400" b="1">
                <a:solidFill>
                  <a:srgbClr val="A33A3A"/>
                </a:solidFill>
              </a:rPr>
              <a:t>4 OPEN</a:t>
            </a:r>
          </a:p>
        </p:txBody>
      </p:sp>
      <p:sp>
        <p:nvSpPr>
          <p:cNvPr id="13" name="sev1-label">
            <a:extLst xmlns:a="http://schemas.openxmlformats.org/drawingml/2006/main">
              <a:ext uri="{FF2B5EF4-FFF2-40B4-BE49-F238E27FC236}">
                <a16:creationId xmlns:a16="http://schemas.microsoft.com/office/drawing/2014/main" id="{79F38B45-D99C-427F-86EC-3B056D7B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48100"/>
            <a:ext cx="373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Severity 1 defects</a:t>
            </a:r>
          </a:p>
        </p:txBody>
      </p:sp>
      <p:sp>
        <p:nvSpPr>
          <p:cNvPr id="14" name="sev1-note">
            <a:extLst xmlns:a="http://schemas.openxmlformats.org/drawingml/2006/main">
              <a:ext uri="{FF2B5EF4-FFF2-40B4-BE49-F238E27FC236}">
                <a16:creationId xmlns:a16="http://schemas.microsoft.com/office/drawing/2014/main" id="{5E6A4996-AAB8-41CF-8237-1C88C3C8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33850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Release gate requires zero</a:t>
            </a:r>
          </a:p>
        </p:txBody>
      </p:sp>
      <p:sp>
        <p:nvSpPr>
          <p:cNvPr id="15" name="uat-forecast">
            <a:extLst xmlns:a="http://schemas.openxmlformats.org/drawingml/2006/main">
              <a:ext uri="{FF2B5EF4-FFF2-40B4-BE49-F238E27FC236}">
                <a16:creationId xmlns:a16="http://schemas.microsoft.com/office/drawing/2014/main" id="{15D9FA52-F32B-40BA-85EE-56AADEF4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95850"/>
            <a:ext cx="415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7F00"/>
                </a:solidFill>
              </a:defRPr>
            </a:pPr>
            <a:r>
              <a:rPr sz="1350" b="1">
                <a:solidFill>
                  <a:srgbClr val="C47F00"/>
                </a:solidFill>
              </a:rPr>
              <a:t>Vendor forecasts fixes by 8 September; closure is not confirmed.</a:t>
            </a:r>
          </a:p>
        </p:txBody>
      </p:sp>
      <p:sp>
        <p:nvSpPr>
          <p:cNvPr id="16" name="footer-4">
            <a:extLst xmlns:a="http://schemas.openxmlformats.org/drawingml/2006/main">
              <a:ext uri="{FF2B5EF4-FFF2-40B4-BE49-F238E27FC236}">
                <a16:creationId xmlns:a16="http://schemas.microsoft.com/office/drawing/2014/main" id="{5733FD36-9659-407C-8DC9-49976C06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06D"/>
                </a:solidFill>
              </a:defRPr>
            </a:pPr>
            <a:r>
              <a:rPr sz="825" b="1">
                <a:solidFill>
                  <a:srgbClr val="52606D"/>
                </a:solidFill>
              </a:rPr>
              <a:t>PROJECT NORTHSTAR | STEERING COMMITTEE</a:t>
            </a:r>
          </a:p>
        </p:txBody>
      </p:sp>
      <p:sp>
        <p:nvSpPr>
          <p:cNvPr id="17" name="page-4">
            <a:extLst xmlns:a="http://schemas.openxmlformats.org/drawingml/2006/main">
              <a:ext uri="{FF2B5EF4-FFF2-40B4-BE49-F238E27FC236}">
                <a16:creationId xmlns:a16="http://schemas.microsoft.com/office/drawing/2014/main" id="{643A6947-8021-4ED2-84BC-E12A9DC2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06D"/>
                </a:solidFill>
              </a:defRPr>
            </a:pPr>
            <a:r>
              <a:rPr sz="825" b="1">
                <a:solidFill>
                  <a:srgbClr val="52606D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187071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-5">
            <a:extLst xmlns:a="http://schemas.openxmlformats.org/drawingml/2006/main">
              <a:ext uri="{FF2B5EF4-FFF2-40B4-BE49-F238E27FC236}">
                <a16:creationId xmlns:a16="http://schemas.microsoft.com/office/drawing/2014/main" id="{AB1B2BD2-D252-49CC-A813-1D9BECC2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OPERATIONAL READINESS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52552238-5B70-4F80-9486-D45005A6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Security, migration, training and ownership remain conditional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8EC947BC-D35A-4B8E-80F3-2EDE04AA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p-0-surface">
            <a:extLst xmlns:a="http://schemas.openxmlformats.org/drawingml/2006/main">
              <a:ext uri="{FF2B5EF4-FFF2-40B4-BE49-F238E27FC236}">
                <a16:creationId xmlns:a16="http://schemas.microsoft.com/office/drawing/2014/main" id="{8417644B-6FA2-4E1E-BBB8-798AECF7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4953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5" name="op-0-accent">
            <a:extLst xmlns:a="http://schemas.openxmlformats.org/drawingml/2006/main">
              <a:ext uri="{FF2B5EF4-FFF2-40B4-BE49-F238E27FC236}">
                <a16:creationId xmlns:a16="http://schemas.microsoft.com/office/drawing/2014/main" id="{C656AB25-C37C-4D5C-B245-41FEFEB5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op-0-value">
            <a:extLst xmlns:a="http://schemas.openxmlformats.org/drawingml/2006/main">
              <a:ext uri="{FF2B5EF4-FFF2-40B4-BE49-F238E27FC236}">
                <a16:creationId xmlns:a16="http://schemas.microsoft.com/office/drawing/2014/main" id="{A5F91FD7-4CEC-4671-9314-255E7972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4785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47F00"/>
                </a:solidFill>
              </a:defRPr>
            </a:pPr>
            <a:r>
              <a:rPr sz="2400" b="1">
                <a:solidFill>
                  <a:srgbClr val="C47F00"/>
                </a:solidFill>
              </a:rPr>
              <a:t>Conditional</a:t>
            </a:r>
          </a:p>
        </p:txBody>
      </p:sp>
      <p:sp>
        <p:nvSpPr>
          <p:cNvPr id="7" name="op-0-label">
            <a:extLst xmlns:a="http://schemas.openxmlformats.org/drawingml/2006/main">
              <a:ext uri="{FF2B5EF4-FFF2-40B4-BE49-F238E27FC236}">
                <a16:creationId xmlns:a16="http://schemas.microsoft.com/office/drawing/2014/main" id="{D3EC8D4E-A517-4E3B-9C4C-D12E5BAB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SECURITY</a:t>
            </a:r>
          </a:p>
        </p:txBody>
      </p:sp>
      <p:sp>
        <p:nvSpPr>
          <p:cNvPr id="8" name="op-0-note">
            <a:extLst xmlns:a="http://schemas.openxmlformats.org/drawingml/2006/main">
              <a:ext uri="{FF2B5EF4-FFF2-40B4-BE49-F238E27FC236}">
                <a16:creationId xmlns:a16="http://schemas.microsoft.com/office/drawing/2014/main" id="{2C61FE65-230B-47CB-A0D5-4D21288A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Retest 10 Sep; external access not approved</a:t>
            </a:r>
          </a:p>
        </p:txBody>
      </p:sp>
      <p:sp>
        <p:nvSpPr>
          <p:cNvPr id="9" name="op-1-surface">
            <a:extLst xmlns:a="http://schemas.openxmlformats.org/drawingml/2006/main">
              <a:ext uri="{FF2B5EF4-FFF2-40B4-BE49-F238E27FC236}">
                <a16:creationId xmlns:a16="http://schemas.microsoft.com/office/drawing/2014/main" id="{01E84ED1-56FD-4451-A05C-567D42CB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14500"/>
            <a:ext cx="4953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0" name="op-1-accent">
            <a:extLst xmlns:a="http://schemas.openxmlformats.org/drawingml/2006/main">
              <a:ext uri="{FF2B5EF4-FFF2-40B4-BE49-F238E27FC236}">
                <a16:creationId xmlns:a16="http://schemas.microsoft.com/office/drawing/2014/main" id="{CDAF0E24-3F7B-4EBD-84A2-A093CDA4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145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p-1-value">
            <a:extLst xmlns:a="http://schemas.openxmlformats.org/drawingml/2006/main">
              <a:ext uri="{FF2B5EF4-FFF2-40B4-BE49-F238E27FC236}">
                <a16:creationId xmlns:a16="http://schemas.microsoft.com/office/drawing/2014/main" id="{0ACFF1DD-91E9-4672-B301-5AAE07F3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4785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33A3A"/>
                </a:solidFill>
              </a:defRPr>
            </a:pPr>
            <a:r>
              <a:rPr sz="2400" b="1">
                <a:solidFill>
                  <a:srgbClr val="A33A3A"/>
                </a:solidFill>
              </a:rPr>
              <a:t>86%</a:t>
            </a:r>
          </a:p>
        </p:txBody>
      </p:sp>
      <p:sp>
        <p:nvSpPr>
          <p:cNvPr id="12" name="op-1-label">
            <a:extLst xmlns:a="http://schemas.openxmlformats.org/drawingml/2006/main">
              <a:ext uri="{FF2B5EF4-FFF2-40B4-BE49-F238E27FC236}">
                <a16:creationId xmlns:a16="http://schemas.microsoft.com/office/drawing/2014/main" id="{C89FB718-E0E7-44FF-AD34-5286A838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MIGRATION</a:t>
            </a:r>
          </a:p>
        </p:txBody>
      </p:sp>
      <p:sp>
        <p:nvSpPr>
          <p:cNvPr id="13" name="op-1-note">
            <a:extLst xmlns:a="http://schemas.openxmlformats.org/drawingml/2006/main">
              <a:ext uri="{FF2B5EF4-FFF2-40B4-BE49-F238E27FC236}">
                <a16:creationId xmlns:a16="http://schemas.microsoft.com/office/drawing/2014/main" id="{0DBFD6BD-C2B1-4B1C-ABD4-353E7231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215/250 validated; sign-off owner not confirmed</a:t>
            </a:r>
          </a:p>
        </p:txBody>
      </p:sp>
      <p:sp>
        <p:nvSpPr>
          <p:cNvPr id="14" name="op-2-surface">
            <a:extLst xmlns:a="http://schemas.openxmlformats.org/drawingml/2006/main">
              <a:ext uri="{FF2B5EF4-FFF2-40B4-BE49-F238E27FC236}">
                <a16:creationId xmlns:a16="http://schemas.microsoft.com/office/drawing/2014/main" id="{809168A5-9AC9-437E-AF17-F45FCA93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4953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5" name="op-2-accent">
            <a:extLst xmlns:a="http://schemas.openxmlformats.org/drawingml/2006/main">
              <a:ext uri="{FF2B5EF4-FFF2-40B4-BE49-F238E27FC236}">
                <a16:creationId xmlns:a16="http://schemas.microsoft.com/office/drawing/2014/main" id="{00C3A338-ED5C-4E27-B52F-7A3D5BC8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p-2-value">
            <a:extLst xmlns:a="http://schemas.openxmlformats.org/drawingml/2006/main">
              <a:ext uri="{FF2B5EF4-FFF2-40B4-BE49-F238E27FC236}">
                <a16:creationId xmlns:a16="http://schemas.microsoft.com/office/drawing/2014/main" id="{2B3673B1-A64B-4A2D-BCB9-64E660EC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33A3A"/>
                </a:solidFill>
              </a:defRPr>
            </a:pPr>
            <a:r>
              <a:rPr sz="2400" b="1">
                <a:solidFill>
                  <a:srgbClr val="A33A3A"/>
                </a:solidFill>
              </a:rPr>
              <a:t>72%</a:t>
            </a:r>
          </a:p>
        </p:txBody>
      </p:sp>
      <p:sp>
        <p:nvSpPr>
          <p:cNvPr id="17" name="op-2-label">
            <a:extLst xmlns:a="http://schemas.openxmlformats.org/drawingml/2006/main">
              <a:ext uri="{FF2B5EF4-FFF2-40B4-BE49-F238E27FC236}">
                <a16:creationId xmlns:a16="http://schemas.microsoft.com/office/drawing/2014/main" id="{347F0949-B506-43B6-B15B-E3A02735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TRAINING</a:t>
            </a:r>
          </a:p>
        </p:txBody>
      </p:sp>
      <p:sp>
        <p:nvSpPr>
          <p:cNvPr id="18" name="op-2-note">
            <a:extLst xmlns:a="http://schemas.openxmlformats.org/drawingml/2006/main">
              <a:ext uri="{FF2B5EF4-FFF2-40B4-BE49-F238E27FC236}">
                <a16:creationId xmlns:a16="http://schemas.microsoft.com/office/drawing/2014/main" id="{C8F0C0CB-AF41-426C-9685-0F9ACC0E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36/50 complete; gate requires 45/50</a:t>
            </a:r>
          </a:p>
        </p:txBody>
      </p:sp>
      <p:sp>
        <p:nvSpPr>
          <p:cNvPr id="19" name="op-3-surface">
            <a:extLst xmlns:a="http://schemas.openxmlformats.org/drawingml/2006/main">
              <a:ext uri="{FF2B5EF4-FFF2-40B4-BE49-F238E27FC236}">
                <a16:creationId xmlns:a16="http://schemas.microsoft.com/office/drawing/2014/main" id="{70FB5D0F-5AB8-45A4-A927-9FB21DD6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33750"/>
            <a:ext cx="4953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0" name="op-3-accent">
            <a:extLst xmlns:a="http://schemas.openxmlformats.org/drawingml/2006/main">
              <a:ext uri="{FF2B5EF4-FFF2-40B4-BE49-F238E27FC236}">
                <a16:creationId xmlns:a16="http://schemas.microsoft.com/office/drawing/2014/main" id="{06A11DB1-063C-4365-961E-37B7EEC8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337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op-3-value">
            <a:extLst xmlns:a="http://schemas.openxmlformats.org/drawingml/2006/main">
              <a:ext uri="{FF2B5EF4-FFF2-40B4-BE49-F238E27FC236}">
                <a16:creationId xmlns:a16="http://schemas.microsoft.com/office/drawing/2014/main" id="{7F22A8DC-C208-4011-92C7-AB9D1C4A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6710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33A3A"/>
                </a:solidFill>
              </a:defRPr>
            </a:pPr>
            <a:r>
              <a:rPr sz="2400" b="1">
                <a:solidFill>
                  <a:srgbClr val="A33A3A"/>
                </a:solidFill>
              </a:rPr>
              <a:t>Not confirmed</a:t>
            </a:r>
          </a:p>
        </p:txBody>
      </p:sp>
      <p:sp>
        <p:nvSpPr>
          <p:cNvPr id="22" name="op-3-label">
            <a:extLst xmlns:a="http://schemas.openxmlformats.org/drawingml/2006/main">
              <a:ext uri="{FF2B5EF4-FFF2-40B4-BE49-F238E27FC236}">
                <a16:creationId xmlns:a16="http://schemas.microsoft.com/office/drawing/2014/main" id="{4A611FAF-1C0C-461B-BF84-D18ECB7A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052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SUPPORT</a:t>
            </a:r>
          </a:p>
        </p:txBody>
      </p:sp>
      <p:sp>
        <p:nvSpPr>
          <p:cNvPr id="23" name="op-3-note">
            <a:extLst xmlns:a="http://schemas.openxmlformats.org/drawingml/2006/main">
              <a:ext uri="{FF2B5EF4-FFF2-40B4-BE49-F238E27FC236}">
                <a16:creationId xmlns:a16="http://schemas.microsoft.com/office/drawing/2014/main" id="{BFB5CAE1-11AD-4053-9F68-9F22FDCC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9100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Owner and first-week triage must be confirmed</a:t>
            </a:r>
          </a:p>
        </p:txBody>
      </p:sp>
      <p:sp>
        <p:nvSpPr>
          <p:cNvPr id="24" name="op-note">
            <a:extLst xmlns:a="http://schemas.openxmlformats.org/drawingml/2006/main">
              <a:ext uri="{FF2B5EF4-FFF2-40B4-BE49-F238E27FC236}">
                <a16:creationId xmlns:a16="http://schemas.microsoft.com/office/drawing/2014/main" id="{DAF8713E-36C3-4C18-9E5F-1420C80F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All four conditions require human confirmation before launch.</a:t>
            </a:r>
          </a:p>
        </p:txBody>
      </p:sp>
      <p:sp>
        <p:nvSpPr>
          <p:cNvPr id="25" name="footer-5">
            <a:extLst xmlns:a="http://schemas.openxmlformats.org/drawingml/2006/main">
              <a:ext uri="{FF2B5EF4-FFF2-40B4-BE49-F238E27FC236}">
                <a16:creationId xmlns:a16="http://schemas.microsoft.com/office/drawing/2014/main" id="{79A7DDC0-72E0-43F0-8FA1-9AAC94A3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06D"/>
                </a:solidFill>
              </a:defRPr>
            </a:pPr>
            <a:r>
              <a:rPr sz="825" b="1">
                <a:solidFill>
                  <a:srgbClr val="52606D"/>
                </a:solidFill>
              </a:rPr>
              <a:t>PROJECT NORTHSTAR | STEERING COMMITTEE</a:t>
            </a:r>
          </a:p>
        </p:txBody>
      </p:sp>
      <p:sp>
        <p:nvSpPr>
          <p:cNvPr id="26" name="page-5">
            <a:extLst xmlns:a="http://schemas.openxmlformats.org/drawingml/2006/main">
              <a:ext uri="{FF2B5EF4-FFF2-40B4-BE49-F238E27FC236}">
                <a16:creationId xmlns:a16="http://schemas.microsoft.com/office/drawing/2014/main" id="{5DD97D0A-9116-41A3-BFC2-C8F25C01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06D"/>
                </a:solidFill>
              </a:defRPr>
            </a:pPr>
            <a:r>
              <a:rPr sz="825" b="1">
                <a:solidFill>
                  <a:srgbClr val="52606D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546267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6">
            <a:extLst xmlns:a="http://schemas.openxmlformats.org/drawingml/2006/main">
              <a:ext uri="{FF2B5EF4-FFF2-40B4-BE49-F238E27FC236}">
                <a16:creationId xmlns:a16="http://schemas.microsoft.com/office/drawing/2014/main" id="{B8EE1127-39F8-4FA6-98EA-81A7A763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EVIDENCE RISKS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F0C2CA75-8A50-4111-B778-9415C6B6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Three claims still need correction or confirmation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A9182627-C44C-4A37-B798-2593051F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isk-tag-0">
            <a:extLst xmlns:a="http://schemas.openxmlformats.org/drawingml/2006/main">
              <a:ext uri="{FF2B5EF4-FFF2-40B4-BE49-F238E27FC236}">
                <a16:creationId xmlns:a16="http://schemas.microsoft.com/office/drawing/2014/main" id="{D8FA1F66-2B7F-4409-9DE2-CB17B765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33A3A"/>
                </a:solidFill>
              </a:defRPr>
            </a:pPr>
            <a:r>
              <a:rPr sz="1050" b="1">
                <a:solidFill>
                  <a:srgbClr val="A33A3A"/>
                </a:solidFill>
              </a:rPr>
              <a:t>UNSUPPORTED</a:t>
            </a:r>
          </a:p>
        </p:txBody>
      </p:sp>
      <p:sp>
        <p:nvSpPr>
          <p:cNvPr id="5" name="risk-title-0">
            <a:extLst xmlns:a="http://schemas.openxmlformats.org/drawingml/2006/main">
              <a:ext uri="{FF2B5EF4-FFF2-40B4-BE49-F238E27FC236}">
                <a16:creationId xmlns:a16="http://schemas.microsoft.com/office/drawing/2014/main" id="{636B07C6-66F6-463A-B33F-83558D3E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733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EUR 35,000 weekly delay cost</a:t>
            </a:r>
          </a:p>
        </p:txBody>
      </p:sp>
      <p:sp>
        <p:nvSpPr>
          <p:cNvPr id="6" name="risk-detail-0">
            <a:extLst xmlns:a="http://schemas.openxmlformats.org/drawingml/2006/main">
              <a:ext uri="{FF2B5EF4-FFF2-40B4-BE49-F238E27FC236}">
                <a16:creationId xmlns:a16="http://schemas.microsoft.com/office/drawing/2014/main" id="{70A177FC-58A9-41CC-8C7F-7DE63962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33550"/>
            <a:ext cx="438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Vendor statement only; no Finance calculation supplied</a:t>
            </a:r>
          </a:p>
        </p:txBody>
      </p:sp>
      <p:sp>
        <p:nvSpPr>
          <p:cNvPr id="7" name="risk-rule-0">
            <a:extLst xmlns:a="http://schemas.openxmlformats.org/drawingml/2006/main">
              <a:ext uri="{FF2B5EF4-FFF2-40B4-BE49-F238E27FC236}">
                <a16:creationId xmlns:a16="http://schemas.microsoft.com/office/drawing/2014/main" id="{317FDB48-81D6-43C3-8EEC-52A2B7D8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isk-tag-1">
            <a:extLst xmlns:a="http://schemas.openxmlformats.org/drawingml/2006/main">
              <a:ext uri="{FF2B5EF4-FFF2-40B4-BE49-F238E27FC236}">
                <a16:creationId xmlns:a16="http://schemas.microsoft.com/office/drawing/2014/main" id="{6EDC7BB0-A448-421C-A0CC-0E6F574D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7F00"/>
                </a:solidFill>
              </a:defRPr>
            </a:pPr>
            <a:r>
              <a:rPr sz="1050" b="1">
                <a:solidFill>
                  <a:srgbClr val="C47F00"/>
                </a:solidFill>
              </a:rPr>
              <a:t>PROPOSAL</a:t>
            </a:r>
          </a:p>
        </p:txBody>
      </p:sp>
      <p:sp>
        <p:nvSpPr>
          <p:cNvPr id="9" name="risk-title-1">
            <a:extLst xmlns:a="http://schemas.openxmlformats.org/drawingml/2006/main">
              <a:ext uri="{FF2B5EF4-FFF2-40B4-BE49-F238E27FC236}">
                <a16:creationId xmlns:a16="http://schemas.microsoft.com/office/drawing/2014/main" id="{975F6221-0754-48E8-BC9D-2151D161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337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Conditional Go</a:t>
            </a:r>
          </a:p>
        </p:txBody>
      </p:sp>
      <p:sp>
        <p:nvSpPr>
          <p:cNvPr id="10" name="risk-detail-1">
            <a:extLst xmlns:a="http://schemas.openxmlformats.org/drawingml/2006/main">
              <a:ext uri="{FF2B5EF4-FFF2-40B4-BE49-F238E27FC236}">
                <a16:creationId xmlns:a16="http://schemas.microsoft.com/office/drawing/2014/main" id="{6503DFC5-7990-43AC-BC23-7D3411FF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33700"/>
            <a:ext cx="438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Working recommendation; Steering Committee has not approved it</a:t>
            </a:r>
          </a:p>
        </p:txBody>
      </p:sp>
      <p:sp>
        <p:nvSpPr>
          <p:cNvPr id="11" name="risk-rule-1">
            <a:extLst xmlns:a="http://schemas.openxmlformats.org/drawingml/2006/main">
              <a:ext uri="{FF2B5EF4-FFF2-40B4-BE49-F238E27FC236}">
                <a16:creationId xmlns:a16="http://schemas.microsoft.com/office/drawing/2014/main" id="{AF19F6DC-5FDA-4304-B887-A6536035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isk-tag-2">
            <a:extLst xmlns:a="http://schemas.openxmlformats.org/drawingml/2006/main">
              <a:ext uri="{FF2B5EF4-FFF2-40B4-BE49-F238E27FC236}">
                <a16:creationId xmlns:a16="http://schemas.microsoft.com/office/drawing/2014/main" id="{523B6C87-1689-47E2-B413-FA8504B5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MISSING</a:t>
            </a:r>
          </a:p>
        </p:txBody>
      </p:sp>
      <p:sp>
        <p:nvSpPr>
          <p:cNvPr id="13" name="risk-title-2">
            <a:extLst xmlns:a="http://schemas.openxmlformats.org/drawingml/2006/main">
              <a:ext uri="{FF2B5EF4-FFF2-40B4-BE49-F238E27FC236}">
                <a16:creationId xmlns:a16="http://schemas.microsoft.com/office/drawing/2014/main" id="{8F2230D4-C88C-4205-91DA-7DBBA32A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338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Migration and support owners</a:t>
            </a:r>
          </a:p>
        </p:txBody>
      </p:sp>
      <p:sp>
        <p:nvSpPr>
          <p:cNvPr id="14" name="risk-detail-2">
            <a:extLst xmlns:a="http://schemas.openxmlformats.org/drawingml/2006/main">
              <a:ext uri="{FF2B5EF4-FFF2-40B4-BE49-F238E27FC236}">
                <a16:creationId xmlns:a16="http://schemas.microsoft.com/office/drawing/2014/main" id="{CCD75648-1FAD-41EA-90B5-A5E130C1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33850"/>
            <a:ext cx="438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Both remain Not confirmed</a:t>
            </a:r>
          </a:p>
        </p:txBody>
      </p:sp>
      <p:sp>
        <p:nvSpPr>
          <p:cNvPr id="15" name="risk-rule-2">
            <a:extLst xmlns:a="http://schemas.openxmlformats.org/drawingml/2006/main">
              <a:ext uri="{FF2B5EF4-FFF2-40B4-BE49-F238E27FC236}">
                <a16:creationId xmlns:a16="http://schemas.microsoft.com/office/drawing/2014/main" id="{063AB99E-144E-4A7E-B7F0-04E8CB0D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6">
            <a:extLst xmlns:a="http://schemas.openxmlformats.org/drawingml/2006/main">
              <a:ext uri="{FF2B5EF4-FFF2-40B4-BE49-F238E27FC236}">
                <a16:creationId xmlns:a16="http://schemas.microsoft.com/office/drawing/2014/main" id="{D5C96564-F807-44B7-A237-B956CF41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06D"/>
                </a:solidFill>
              </a:defRPr>
            </a:pPr>
            <a:r>
              <a:rPr sz="825" b="1">
                <a:solidFill>
                  <a:srgbClr val="52606D"/>
                </a:solidFill>
              </a:rPr>
              <a:t>PROJECT NORTHSTAR | STEERING COMMITTEE</a:t>
            </a:r>
          </a:p>
        </p:txBody>
      </p:sp>
      <p:sp>
        <p:nvSpPr>
          <p:cNvPr id="17" name="page-6">
            <a:extLst xmlns:a="http://schemas.openxmlformats.org/drawingml/2006/main">
              <a:ext uri="{FF2B5EF4-FFF2-40B4-BE49-F238E27FC236}">
                <a16:creationId xmlns:a16="http://schemas.microsoft.com/office/drawing/2014/main" id="{B918F32F-3C61-4746-B732-0FA0357D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06D"/>
                </a:solidFill>
              </a:defRPr>
            </a:pPr>
            <a:r>
              <a:rPr sz="825" b="1">
                <a:solidFill>
                  <a:srgbClr val="52606D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010307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-7">
            <a:extLst xmlns:a="http://schemas.openxmlformats.org/drawingml/2006/main">
              <a:ext uri="{FF2B5EF4-FFF2-40B4-BE49-F238E27FC236}">
                <a16:creationId xmlns:a16="http://schemas.microsoft.com/office/drawing/2014/main" id="{23238170-E4CF-41A5-BE90-A7FCE6D0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LAUNCH OPTIONS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83D675E4-6E1F-4C00-90D1-1AA590A9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Conditional Go remains viable only if every gate is met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97A24BD8-3D2B-45E2-8F39-C6D3E4AA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ption-0-letter">
            <a:extLst xmlns:a="http://schemas.openxmlformats.org/drawingml/2006/main">
              <a:ext uri="{FF2B5EF4-FFF2-40B4-BE49-F238E27FC236}">
                <a16:creationId xmlns:a16="http://schemas.microsoft.com/office/drawing/2014/main" id="{13F0EEAF-B72C-4D4B-ABE7-98C526DC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</a:defRPr>
            </a:pPr>
            <a:r>
              <a:rPr sz="2400" b="1">
                <a:solidFill>
                  <a:srgbClr val="2563EB"/>
                </a:solidFill>
              </a:rPr>
              <a:t>A</a:t>
            </a:r>
          </a:p>
        </p:txBody>
      </p:sp>
      <p:sp>
        <p:nvSpPr>
          <p:cNvPr id="5" name="option-0-title">
            <a:extLst xmlns:a="http://schemas.openxmlformats.org/drawingml/2006/main">
              <a:ext uri="{FF2B5EF4-FFF2-40B4-BE49-F238E27FC236}">
                <a16:creationId xmlns:a16="http://schemas.microsoft.com/office/drawing/2014/main" id="{C3540437-98DE-406D-85FB-D9282DCC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175260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Conditional Go</a:t>
            </a:r>
          </a:p>
        </p:txBody>
      </p:sp>
      <p:sp>
        <p:nvSpPr>
          <p:cNvPr id="6" name="option-0-rule">
            <a:extLst xmlns:a="http://schemas.openxmlformats.org/drawingml/2006/main">
              <a:ext uri="{FF2B5EF4-FFF2-40B4-BE49-F238E27FC236}">
                <a16:creationId xmlns:a16="http://schemas.microsoft.com/office/drawing/2014/main" id="{85F80106-FDD8-4735-8F42-7B1B78CF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2876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option-0-date">
            <a:extLst xmlns:a="http://schemas.openxmlformats.org/drawingml/2006/main">
              <a:ext uri="{FF2B5EF4-FFF2-40B4-BE49-F238E27FC236}">
                <a16:creationId xmlns:a16="http://schemas.microsoft.com/office/drawing/2014/main" id="{4F10D2E0-3141-4B54-9E10-CA490900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29 Sep</a:t>
            </a:r>
          </a:p>
        </p:txBody>
      </p:sp>
      <p:sp>
        <p:nvSpPr>
          <p:cNvPr id="8" name="option-0-detail">
            <a:extLst xmlns:a="http://schemas.openxmlformats.org/drawingml/2006/main">
              <a:ext uri="{FF2B5EF4-FFF2-40B4-BE49-F238E27FC236}">
                <a16:creationId xmlns:a16="http://schemas.microsoft.com/office/drawing/2014/main" id="{CBC6C668-2257-4C5A-84C5-7455BA82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2876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Proceed only when all five release conditions are satisfied.</a:t>
            </a:r>
          </a:p>
        </p:txBody>
      </p:sp>
      <p:sp>
        <p:nvSpPr>
          <p:cNvPr id="9" name="option-0-status">
            <a:extLst xmlns:a="http://schemas.openxmlformats.org/drawingml/2006/main">
              <a:ext uri="{FF2B5EF4-FFF2-40B4-BE49-F238E27FC236}">
                <a16:creationId xmlns:a16="http://schemas.microsoft.com/office/drawing/2014/main" id="{A7180601-2932-4D5A-B47C-1BF42603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06D"/>
                </a:solidFill>
              </a:defRPr>
            </a:pPr>
            <a:r>
              <a:rPr sz="1200" b="1">
                <a:solidFill>
                  <a:srgbClr val="52606D"/>
                </a:solidFill>
              </a:rPr>
              <a:t>Working recommendation - not approved</a:t>
            </a:r>
          </a:p>
        </p:txBody>
      </p:sp>
      <p:sp>
        <p:nvSpPr>
          <p:cNvPr id="10" name="option-1-letter">
            <a:extLst xmlns:a="http://schemas.openxmlformats.org/drawingml/2006/main">
              <a:ext uri="{FF2B5EF4-FFF2-40B4-BE49-F238E27FC236}">
                <a16:creationId xmlns:a16="http://schemas.microsoft.com/office/drawing/2014/main" id="{1700E1C8-E7DF-4A9C-948D-9B8F32DD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5260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47F00"/>
                </a:solidFill>
              </a:defRPr>
            </a:pPr>
            <a:r>
              <a:rPr sz="2400" b="1">
                <a:solidFill>
                  <a:srgbClr val="C47F00"/>
                </a:solidFill>
              </a:rPr>
              <a:t>B</a:t>
            </a:r>
          </a:p>
        </p:txBody>
      </p:sp>
      <p:sp>
        <p:nvSpPr>
          <p:cNvPr id="11" name="option-1-title">
            <a:extLst xmlns:a="http://schemas.openxmlformats.org/drawingml/2006/main">
              <a:ext uri="{FF2B5EF4-FFF2-40B4-BE49-F238E27FC236}">
                <a16:creationId xmlns:a16="http://schemas.microsoft.com/office/drawing/2014/main" id="{F5FFE9EA-E35B-46B6-916A-D897A967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75260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Delay</a:t>
            </a:r>
          </a:p>
        </p:txBody>
      </p:sp>
      <p:sp>
        <p:nvSpPr>
          <p:cNvPr id="12" name="option-1-rule">
            <a:extLst xmlns:a="http://schemas.openxmlformats.org/drawingml/2006/main">
              <a:ext uri="{FF2B5EF4-FFF2-40B4-BE49-F238E27FC236}">
                <a16:creationId xmlns:a16="http://schemas.microsoft.com/office/drawing/2014/main" id="{9960E573-9456-4AEA-946B-77823C06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24100"/>
            <a:ext cx="2876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ption-1-date">
            <a:extLst xmlns:a="http://schemas.openxmlformats.org/drawingml/2006/main">
              <a:ext uri="{FF2B5EF4-FFF2-40B4-BE49-F238E27FC236}">
                <a16:creationId xmlns:a16="http://schemas.microsoft.com/office/drawing/2014/main" id="{5FF3EEC9-6C3D-436B-814E-F7651BDE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0985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47F00"/>
                </a:solidFill>
              </a:defRPr>
            </a:pPr>
            <a:r>
              <a:rPr sz="1950" b="1">
                <a:solidFill>
                  <a:srgbClr val="C47F00"/>
                </a:solidFill>
              </a:rPr>
              <a:t>New date TBD</a:t>
            </a:r>
          </a:p>
        </p:txBody>
      </p:sp>
      <p:sp>
        <p:nvSpPr>
          <p:cNvPr id="14" name="option-1-detail">
            <a:extLst xmlns:a="http://schemas.openxmlformats.org/drawingml/2006/main">
              <a:ext uri="{FF2B5EF4-FFF2-40B4-BE49-F238E27FC236}">
                <a16:creationId xmlns:a16="http://schemas.microsoft.com/office/drawing/2014/main" id="{02988C2D-4FDC-44EB-BE48-CC2A7BA6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57550"/>
            <a:ext cx="2876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Move the pilot if any release gate remains open.</a:t>
            </a:r>
          </a:p>
        </p:txBody>
      </p:sp>
      <p:sp>
        <p:nvSpPr>
          <p:cNvPr id="15" name="option-1-status">
            <a:extLst xmlns:a="http://schemas.openxmlformats.org/drawingml/2006/main">
              <a:ext uri="{FF2B5EF4-FFF2-40B4-BE49-F238E27FC236}">
                <a16:creationId xmlns:a16="http://schemas.microsoft.com/office/drawing/2014/main" id="{7E65A989-6318-47FF-A465-BD1708D4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148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06D"/>
                </a:solidFill>
              </a:defRPr>
            </a:pPr>
            <a:r>
              <a:rPr sz="1200" b="1">
                <a:solidFill>
                  <a:srgbClr val="52606D"/>
                </a:solidFill>
              </a:rPr>
              <a:t>Available committee option</a:t>
            </a:r>
          </a:p>
        </p:txBody>
      </p:sp>
      <p:sp>
        <p:nvSpPr>
          <p:cNvPr id="16" name="option-2-letter">
            <a:extLst xmlns:a="http://schemas.openxmlformats.org/drawingml/2006/main">
              <a:ext uri="{FF2B5EF4-FFF2-40B4-BE49-F238E27FC236}">
                <a16:creationId xmlns:a16="http://schemas.microsoft.com/office/drawing/2014/main" id="{0D56F57E-2EB9-4D56-A0A4-E19645A3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5260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33A3A"/>
                </a:solidFill>
              </a:defRPr>
            </a:pPr>
            <a:r>
              <a:rPr sz="2400" b="1">
                <a:solidFill>
                  <a:srgbClr val="A33A3A"/>
                </a:solidFill>
              </a:rPr>
              <a:t>C</a:t>
            </a:r>
          </a:p>
        </p:txBody>
      </p:sp>
      <p:sp>
        <p:nvSpPr>
          <p:cNvPr id="17" name="option-2-title">
            <a:extLst xmlns:a="http://schemas.openxmlformats.org/drawingml/2006/main">
              <a:ext uri="{FF2B5EF4-FFF2-40B4-BE49-F238E27FC236}">
                <a16:creationId xmlns:a16="http://schemas.microsoft.com/office/drawing/2014/main" id="{46C1EF97-062C-4EE8-9CC7-1C52464A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75260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No Go</a:t>
            </a:r>
          </a:p>
        </p:txBody>
      </p:sp>
      <p:sp>
        <p:nvSpPr>
          <p:cNvPr id="18" name="option-2-rule">
            <a:extLst xmlns:a="http://schemas.openxmlformats.org/drawingml/2006/main">
              <a:ext uri="{FF2B5EF4-FFF2-40B4-BE49-F238E27FC236}">
                <a16:creationId xmlns:a16="http://schemas.microsoft.com/office/drawing/2014/main" id="{992A6518-B37F-46F3-AD78-70577479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24100"/>
            <a:ext cx="2876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ption-2-date">
            <a:extLst xmlns:a="http://schemas.openxmlformats.org/drawingml/2006/main">
              <a:ext uri="{FF2B5EF4-FFF2-40B4-BE49-F238E27FC236}">
                <a16:creationId xmlns:a16="http://schemas.microsoft.com/office/drawing/2014/main" id="{1C258B23-519A-447B-971D-2E1E1577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0985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33A3A"/>
                </a:solidFill>
              </a:defRPr>
            </a:pPr>
            <a:r>
              <a:rPr sz="1950" b="1">
                <a:solidFill>
                  <a:srgbClr val="A33A3A"/>
                </a:solidFill>
              </a:rPr>
              <a:t>Replan</a:t>
            </a:r>
          </a:p>
        </p:txBody>
      </p:sp>
      <p:sp>
        <p:nvSpPr>
          <p:cNvPr id="20" name="option-2-detail">
            <a:extLst xmlns:a="http://schemas.openxmlformats.org/drawingml/2006/main">
              <a:ext uri="{FF2B5EF4-FFF2-40B4-BE49-F238E27FC236}">
                <a16:creationId xmlns:a16="http://schemas.microsoft.com/office/drawing/2014/main" id="{C5F0CCE7-C4E9-400D-BDE4-A71C416B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57550"/>
            <a:ext cx="2876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Stop the pilot and return the programme for replanning.</a:t>
            </a:r>
          </a:p>
        </p:txBody>
      </p:sp>
      <p:sp>
        <p:nvSpPr>
          <p:cNvPr id="21" name="option-2-status">
            <a:extLst xmlns:a="http://schemas.openxmlformats.org/drawingml/2006/main">
              <a:ext uri="{FF2B5EF4-FFF2-40B4-BE49-F238E27FC236}">
                <a16:creationId xmlns:a16="http://schemas.microsoft.com/office/drawing/2014/main" id="{18F82073-C6BF-481F-9907-93B01E3F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148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06D"/>
                </a:solidFill>
              </a:defRPr>
            </a:pPr>
            <a:r>
              <a:rPr sz="1200" b="1">
                <a:solidFill>
                  <a:srgbClr val="52606D"/>
                </a:solidFill>
              </a:rPr>
              <a:t>Available committee option</a:t>
            </a:r>
          </a:p>
        </p:txBody>
      </p:sp>
      <p:sp>
        <p:nvSpPr>
          <p:cNvPr id="22" name="footer-7">
            <a:extLst xmlns:a="http://schemas.openxmlformats.org/drawingml/2006/main">
              <a:ext uri="{FF2B5EF4-FFF2-40B4-BE49-F238E27FC236}">
                <a16:creationId xmlns:a16="http://schemas.microsoft.com/office/drawing/2014/main" id="{24089195-DE42-46C2-B492-26E9C46A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06D"/>
                </a:solidFill>
              </a:defRPr>
            </a:pPr>
            <a:r>
              <a:rPr sz="825" b="1">
                <a:solidFill>
                  <a:srgbClr val="52606D"/>
                </a:solidFill>
              </a:rPr>
              <a:t>PROJECT NORTHSTAR | STEERING COMMITTEE</a:t>
            </a:r>
          </a:p>
        </p:txBody>
      </p:sp>
      <p:sp>
        <p:nvSpPr>
          <p:cNvPr id="23" name="page-7">
            <a:extLst xmlns:a="http://schemas.openxmlformats.org/drawingml/2006/main">
              <a:ext uri="{FF2B5EF4-FFF2-40B4-BE49-F238E27FC236}">
                <a16:creationId xmlns:a16="http://schemas.microsoft.com/office/drawing/2014/main" id="{2ADF1022-DF02-445E-AF54-1F5E7F09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06D"/>
                </a:solidFill>
              </a:defRPr>
            </a:pPr>
            <a:r>
              <a:rPr sz="825" b="1">
                <a:solidFill>
                  <a:srgbClr val="52606D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306288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inal-eyebrow">
            <a:extLst xmlns:a="http://schemas.openxmlformats.org/drawingml/2006/main">
              <a:ext uri="{FF2B5EF4-FFF2-40B4-BE49-F238E27FC236}">
                <a16:creationId xmlns:a16="http://schemas.microsoft.com/office/drawing/2014/main" id="{B6DFFF17-ECF0-422B-AE97-324064C9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EBFF"/>
                </a:solidFill>
              </a:defRPr>
            </a:pPr>
            <a:r>
              <a:rPr sz="1050" b="1">
                <a:solidFill>
                  <a:srgbClr val="DDEBFF"/>
                </a:solidFill>
              </a:rPr>
              <a:t>DECISIONS REQUIRED TODAY</a:t>
            </a:r>
          </a:p>
        </p:txBody>
      </p:sp>
      <p:sp>
        <p:nvSpPr>
          <p:cNvPr id="2" name="final-title">
            <a:extLst xmlns:a="http://schemas.openxmlformats.org/drawingml/2006/main">
              <a:ext uri="{FF2B5EF4-FFF2-40B4-BE49-F238E27FC236}">
                <a16:creationId xmlns:a16="http://schemas.microsoft.com/office/drawing/2014/main" id="{1E4F1345-5C8B-4CB4-BD85-F7555986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Make the launch decision with explicit conditions</a:t>
            </a:r>
          </a:p>
        </p:txBody>
      </p:sp>
      <p:sp>
        <p:nvSpPr>
          <p:cNvPr id="3" name="final-num-0">
            <a:extLst xmlns:a="http://schemas.openxmlformats.org/drawingml/2006/main">
              <a:ext uri="{FF2B5EF4-FFF2-40B4-BE49-F238E27FC236}">
                <a16:creationId xmlns:a16="http://schemas.microsoft.com/office/drawing/2014/main" id="{EA1CDC37-6F23-45B1-886F-FAE43481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4" name="final-item-0">
            <a:extLst xmlns:a="http://schemas.openxmlformats.org/drawingml/2006/main">
              <a:ext uri="{FF2B5EF4-FFF2-40B4-BE49-F238E27FC236}">
                <a16:creationId xmlns:a16="http://schemas.microsoft.com/office/drawing/2014/main" id="{EB5B5655-8F2D-432E-886D-CE613BB7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2410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Approve Conditional Go for 29 September, Delay or No Go</a:t>
            </a:r>
          </a:p>
        </p:txBody>
      </p:sp>
      <p:sp>
        <p:nvSpPr>
          <p:cNvPr id="5" name="final-num-1">
            <a:extLst xmlns:a="http://schemas.openxmlformats.org/drawingml/2006/main">
              <a:ext uri="{FF2B5EF4-FFF2-40B4-BE49-F238E27FC236}">
                <a16:creationId xmlns:a16="http://schemas.microsoft.com/office/drawing/2014/main" id="{DEA00AFA-CDAA-4356-8477-C8880F49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6" name="final-item-1">
            <a:extLst xmlns:a="http://schemas.openxmlformats.org/drawingml/2006/main">
              <a:ext uri="{FF2B5EF4-FFF2-40B4-BE49-F238E27FC236}">
                <a16:creationId xmlns:a16="http://schemas.microsoft.com/office/drawing/2014/main" id="{057CC7BD-193F-4F6E-A8E7-3F52618E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Approve the temporary external-access restriction</a:t>
            </a:r>
          </a:p>
        </p:txBody>
      </p:sp>
      <p:sp>
        <p:nvSpPr>
          <p:cNvPr id="7" name="final-num-2">
            <a:extLst xmlns:a="http://schemas.openxmlformats.org/drawingml/2006/main">
              <a:ext uri="{FF2B5EF4-FFF2-40B4-BE49-F238E27FC236}">
                <a16:creationId xmlns:a16="http://schemas.microsoft.com/office/drawing/2014/main" id="{CD85C635-9EBC-497B-AECB-C097E6B0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8" name="final-item-2">
            <a:extLst xmlns:a="http://schemas.openxmlformats.org/drawingml/2006/main">
              <a:ext uri="{FF2B5EF4-FFF2-40B4-BE49-F238E27FC236}">
                <a16:creationId xmlns:a16="http://schemas.microsoft.com/office/drawing/2014/main" id="{284452DF-2CA1-4B3C-A8E2-7EF726E5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Confirm migration sign-off and support owners</a:t>
            </a:r>
          </a:p>
        </p:txBody>
      </p:sp>
      <p:sp>
        <p:nvSpPr>
          <p:cNvPr id="9" name="final-num-3">
            <a:extLst xmlns:a="http://schemas.openxmlformats.org/drawingml/2006/main">
              <a:ext uri="{FF2B5EF4-FFF2-40B4-BE49-F238E27FC236}">
                <a16:creationId xmlns:a16="http://schemas.microsoft.com/office/drawing/2014/main" id="{B4936EF5-3AA7-4254-B7E6-7E9BA279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10" name="final-item-3">
            <a:extLst xmlns:a="http://schemas.openxmlformats.org/drawingml/2006/main">
              <a:ext uri="{FF2B5EF4-FFF2-40B4-BE49-F238E27FC236}">
                <a16:creationId xmlns:a16="http://schemas.microsoft.com/office/drawing/2014/main" id="{8B124551-E136-45A0-B3A7-46C3B090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386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Require evidence that all release gates are met before launch</a:t>
            </a:r>
          </a:p>
        </p:txBody>
      </p:sp>
      <p:sp>
        <p:nvSpPr>
          <p:cNvPr id="11" name="final-boundary">
            <a:extLst xmlns:a="http://schemas.openxmlformats.org/drawingml/2006/main">
              <a:ext uri="{FF2B5EF4-FFF2-40B4-BE49-F238E27FC236}">
                <a16:creationId xmlns:a16="http://schemas.microsoft.com/office/drawing/2014/main" id="{020B1E3C-B1B2-4126-91B2-2C395222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DEBFF"/>
                </a:solidFill>
              </a:defRPr>
            </a:pPr>
            <a:r>
              <a:rPr sz="1350" b="1">
                <a:solidFill>
                  <a:srgbClr val="DDEBFF"/>
                </a:solidFill>
              </a:rPr>
              <a:t>Copilot prepared the evidence. The Steering Committee owns the decision.</a:t>
            </a:r>
          </a:p>
        </p:txBody>
      </p:sp>
      <p:sp>
        <p:nvSpPr>
          <p:cNvPr id="12" name="final-footer">
            <a:extLst xmlns:a="http://schemas.openxmlformats.org/drawingml/2006/main">
              <a:ext uri="{FF2B5EF4-FFF2-40B4-BE49-F238E27FC236}">
                <a16:creationId xmlns:a16="http://schemas.microsoft.com/office/drawing/2014/main" id="{8987E284-4A5A-416F-9DCE-730A5CC6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817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DEBFF"/>
                </a:solidFill>
              </a:defRPr>
            </a:pPr>
            <a:r>
              <a:rPr sz="825" b="1">
                <a:solidFill>
                  <a:srgbClr val="DDEBFF"/>
                </a:solidFill>
              </a:rPr>
              <a:t>NORTHSTAR GROUP | DECISION</a:t>
            </a:r>
          </a:p>
        </p:txBody>
      </p:sp>
    </p:spTree>
    <p:extLst>
      <p:ext uri="{BB962C8B-B14F-4D97-AF65-F5344CB8AC3E}">
        <p14:creationId xmlns:p14="http://schemas.microsoft.com/office/powerpoint/2010/main" val="2603038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2026-08-27T23:42:40.8870000Z</dcterms:created>
  <dcterms:modified xsi:type="dcterms:W3CDTF">2026-08-27T23:42:40.8870000Z</dcterms:modified>
</coreProperties>
</file>