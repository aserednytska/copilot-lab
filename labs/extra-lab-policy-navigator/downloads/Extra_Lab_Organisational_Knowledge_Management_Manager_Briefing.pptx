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061d82526143b9" /><Relationship Type="http://schemas.openxmlformats.org/officeDocument/2006/relationships/extended-properties" Target="/docProps/app.xml" Id="R36c274a3dff54e27" /><Relationship Type="http://schemas.openxmlformats.org/officeDocument/2006/relationships/officeDocument" Target="/ppt/presentation.xml" Id="R777d88ed07e74e4a" /></Relationships>
</file>

<file path=ppt/presentation.xml><?xml version="1.0" encoding="utf-8"?>
<p:presentation xmlns:p="http://schemas.openxmlformats.org/presentationml/2006/main">
  <p:sldMasterIdLst>
    <p:sldMasterId xmlns:r="http://schemas.openxmlformats.org/officeDocument/2006/relationships" id="2147483648" r:id="Rf5abf50b31ec4fa2"/>
    <p:sldMasterId xmlns:r="http://schemas.openxmlformats.org/officeDocument/2006/relationships" id="2147483660" r:id="Rf44085bdbbb74b9c"/>
    <p:sldMasterId xmlns:r="http://schemas.openxmlformats.org/officeDocument/2006/relationships" id="2147483672" r:id="R9d5746be0c584862"/>
  </p:sldMasterIdLst>
  <p:notesMasterIdLst>
    <p:notesMasterId xmlns:r="http://schemas.openxmlformats.org/officeDocument/2006/relationships" r:id="R21e4ed5044ad45b2"/>
  </p:notesMasterIdLst>
  <p:sldIdLst>
    <p:sldId xmlns:r="http://schemas.openxmlformats.org/officeDocument/2006/relationships" id="256" r:id="Rac77548ce1694bf5"/>
    <p:sldId xmlns:r="http://schemas.openxmlformats.org/officeDocument/2006/relationships" id="257" r:id="Rf0db02216b134c39"/>
    <p:sldId xmlns:r="http://schemas.openxmlformats.org/officeDocument/2006/relationships" id="258" r:id="R8d8c0405267740af"/>
    <p:sldId xmlns:r="http://schemas.openxmlformats.org/officeDocument/2006/relationships" id="259" r:id="R3912110fcf864ce5"/>
    <p:sldId xmlns:r="http://schemas.openxmlformats.org/officeDocument/2006/relationships" id="260" r:id="Rf980b3faa38d4c8e"/>
    <p:sldId xmlns:r="http://schemas.openxmlformats.org/officeDocument/2006/relationships" id="261" r:id="R27e758432cd14880"/>
    <p:sldId xmlns:r="http://schemas.openxmlformats.org/officeDocument/2006/relationships" id="262" r:id="R4506858b97974d0c"/>
    <p:sldId xmlns:r="http://schemas.openxmlformats.org/officeDocument/2006/relationships" id="263" r:id="R2de339d8fb1145f0"/>
    <p:sldId xmlns:r="http://schemas.openxmlformats.org/officeDocument/2006/relationships" id="264" r:id="R3cc38a43d75745ea"/>
    <p:sldId xmlns:r="http://schemas.openxmlformats.org/officeDocument/2006/relationships" id="265" r:id="R53795589ea2043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60dd2067654b69" /><Relationship Type="http://schemas.openxmlformats.org/officeDocument/2006/relationships/slideMaster" Target="/ppt/slideMasters/slideMaster1.xml" Id="Rf5abf50b31ec4fa2" /><Relationship Type="http://schemas.openxmlformats.org/officeDocument/2006/relationships/slideMaster" Target="/ppt/slideMasters/slideMaster2.xml" Id="Rf44085bdbbb74b9c" /><Relationship Type="http://schemas.openxmlformats.org/officeDocument/2006/relationships/slideMaster" Target="/ppt/slideMasters/slideMaster3.xml" Id="R9d5746be0c584862" /><Relationship Type="http://schemas.openxmlformats.org/officeDocument/2006/relationships/notesMaster" Target="/ppt/notesMasters/notesMaster1.xml" Id="R21e4ed5044ad45b2" /><Relationship Type="http://schemas.openxmlformats.org/officeDocument/2006/relationships/presProps" Target="/ppt/presProps.xml" Id="R46512083331342df" /><Relationship Type="http://schemas.openxmlformats.org/officeDocument/2006/relationships/viewProps" Target="/ppt/viewProps.xml" Id="Rf47ac5d999d64f6d" /><Relationship Type="http://schemas.openxmlformats.org/officeDocument/2006/relationships/tableStyles" Target="/ppt/tableStyles.xml" Id="Reda019ea656c4405" /><Relationship Type="http://schemas.openxmlformats.org/officeDocument/2006/relationships/slide" Target="/ppt/slides/slide1.xml" Id="Rac77548ce1694bf5" /><Relationship Type="http://schemas.openxmlformats.org/officeDocument/2006/relationships/slide" Target="/ppt/slides/slide2.xml" Id="Rf0db02216b134c39" /><Relationship Type="http://schemas.openxmlformats.org/officeDocument/2006/relationships/slide" Target="/ppt/slides/slide3.xml" Id="R8d8c0405267740af" /><Relationship Type="http://schemas.openxmlformats.org/officeDocument/2006/relationships/slide" Target="/ppt/slides/slide4.xml" Id="R3912110fcf864ce5" /><Relationship Type="http://schemas.openxmlformats.org/officeDocument/2006/relationships/slide" Target="/ppt/slides/slide5.xml" Id="Rf980b3faa38d4c8e" /><Relationship Type="http://schemas.openxmlformats.org/officeDocument/2006/relationships/slide" Target="/ppt/slides/slide6.xml" Id="R27e758432cd14880" /><Relationship Type="http://schemas.openxmlformats.org/officeDocument/2006/relationships/slide" Target="/ppt/slides/slide7.xml" Id="R4506858b97974d0c" /><Relationship Type="http://schemas.openxmlformats.org/officeDocument/2006/relationships/slide" Target="/ppt/slides/slide8.xml" Id="R2de339d8fb1145f0" /><Relationship Type="http://schemas.openxmlformats.org/officeDocument/2006/relationships/slide" Target="/ppt/slides/slide9.xml" Id="R3cc38a43d75745ea" /><Relationship Type="http://schemas.openxmlformats.org/officeDocument/2006/relationships/slide" Target="/ppt/slides/slide10.xml" Id="R53795589ea2043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3b1de03d15bf4f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5183905d1940e1" /><Relationship Type="http://schemas.openxmlformats.org/officeDocument/2006/relationships/notesMaster" Target="/ppt/notesMasters/notesMaster1.xml" Id="R91db5fb814324c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6e8ce6c5d4ac7" /><Relationship Type="http://schemas.openxmlformats.org/officeDocument/2006/relationships/notesMaster" Target="/ppt/notesMasters/notesMaster1.xml" Id="Ree93970a5f9349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8bce4d9d804a5b" /><Relationship Type="http://schemas.openxmlformats.org/officeDocument/2006/relationships/notesMaster" Target="/ppt/notesMasters/notesMaster1.xml" Id="R476eabe239e940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cea3ccfc6b4b0c" /><Relationship Type="http://schemas.openxmlformats.org/officeDocument/2006/relationships/notesMaster" Target="/ppt/notesMasters/notesMaster1.xml" Id="Ra04f6ec3c7bc42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770cd084154157" /><Relationship Type="http://schemas.openxmlformats.org/officeDocument/2006/relationships/notesMaster" Target="/ppt/notesMasters/notesMaster1.xml" Id="R32a1fc8c6837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95fa9e869845d6" /><Relationship Type="http://schemas.openxmlformats.org/officeDocument/2006/relationships/notesMaster" Target="/ppt/notesMasters/notesMaster1.xml" Id="Rafd93120553c4d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d6fdb9a7d74829" /><Relationship Type="http://schemas.openxmlformats.org/officeDocument/2006/relationships/notesMaster" Target="/ppt/notesMasters/notesMaster1.xml" Id="R5d3597ed239e47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4d1244c8c24a8f" /><Relationship Type="http://schemas.openxmlformats.org/officeDocument/2006/relationships/notesMaster" Target="/ppt/notesMasters/notesMaster1.xml" Id="Rd768665ac09b45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64e4720f4d44d6" /><Relationship Type="http://schemas.openxmlformats.org/officeDocument/2006/relationships/notesMaster" Target="/ppt/notesMasters/notesMaster1.xml" Id="R93ecf1b2cbfa4f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2091aa60094e39" /><Relationship Type="http://schemas.openxmlformats.org/officeDocument/2006/relationships/notesMaster" Target="/ppt/notesMasters/notesMaster1.xml" Id="Reef118b3cb4944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begin with a simple point: organisational knowledge is not the same as file storage. A folder may contain hundreds of documents, but that does not tell us which document is official, who owns it, whether everyone should see it, or whether it is still current.</a:t>
            </a:r>
            <a:endParaRPr/>
          </a:p>
          <a:p xmlns:a="http://schemas.openxmlformats.org/drawingml/2006/main">
            <a:r>
              <a:t/>
            </a:r>
            <a:endParaRPr/>
          </a:p>
          <a:p xmlns:a="http://schemas.openxmlformats.org/drawingml/2006/main">
            <a:r>
              <a:t>For Copilot, these questions matter because the quality of retrieval depends on the quality of the knowledge environment. If two policies say different things, Copilot may find both. If an old document is still accessible, it may still appear relevant. If nobody owns the content, there is no clear route for correction.</a:t>
            </a:r>
            <a:endParaRPr/>
          </a:p>
          <a:p xmlns:a="http://schemas.openxmlformats.org/drawingml/2006/main">
            <a:r>
              <a:t/>
            </a:r>
            <a:endParaRPr/>
          </a:p>
          <a:p xmlns:a="http://schemas.openxmlformats.org/drawingml/2006/main">
            <a:r>
              <a:t>So before we discuss agents, managers need five controls: authority, ownership, access, freshness and reuse. Copilot can make approved knowledge easier to find, but it cannot replace these controls.</a:t>
            </a:r>
            <a:endParaRPr/>
          </a:p>
          <a:p xmlns:a="http://schemas.openxmlformats.org/drawingml/2006/main">
            <a:r>
              <a:t/>
            </a:r>
            <a:endParaRPr/>
          </a:p>
          <a:p xmlns:a="http://schemas.openxmlformats.org/drawingml/2006/main">
            <a:r>
              <a:t>[Ask] Which of these five controls is currently the weakest in your organisation?</a:t>
            </a:r>
            <a:endParaRPr/>
          </a:p>
          <a:p xmlns:a="http://schemas.openxmlformats.org/drawingml/2006/main">
            <a:r>
              <a:t/>
            </a:r>
            <a:endParaRPr/>
          </a:p>
          <a:p xmlns:a="http://schemas.openxmlformats.org/drawingml/2006/main">
            <a:r>
              <a:t>[Transition] Once these controls are weak, even a well-written prompt can return the wrong answer.</a:t>
            </a:r>
            <a:endParaRPr/>
          </a:p>
          <a:p xmlns:a="http://schemas.openxmlformats.org/drawingml/2006/main">
            <a:r>
              <a:t/>
            </a:r>
            <a:endParaRPr/>
          </a:p>
          <a:p xmlns:a="http://schemas.openxmlformats.org/drawingml/2006/main">
            <a:r>
              <a:t>[Sources]</a:t>
            </a:r>
            <a:endParaRPr/>
          </a:p>
          <a:p xmlns:a="http://schemas.openxmlformats.org/drawingml/2006/main">
            <a:r>
              <a:t>- Session_4_Agents_Governance_and_Making_It_Stick_Full_Speaking_Script.docx</a:t>
            </a:r>
            <a:endParaRPr/>
          </a:p>
          <a:p xmlns:a="http://schemas.openxmlformats.org/drawingml/2006/main">
            <a:r>
              <a:t>- https://learn.microsoft.com/en-us/microsoft-365/copilot/extensibility/data-privacy-security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why Copilot can return an answer that sounds reasonable but is not reliable. The problem often starts before the user asks the question.</a:t>
            </a:r>
            <a:endParaRPr/>
          </a:p>
          <a:p xmlns:a="http://schemas.openxmlformats.org/drawingml/2006/main">
            <a:r>
              <a:t/>
            </a:r>
            <a:endParaRPr/>
          </a:p>
          <a:p xmlns:a="http://schemas.openxmlformats.org/drawingml/2006/main">
            <a:r>
              <a:t>Duplicate policies may contain slightly different wording. Obsolete articles may still be searchable. Missing metadata makes it difficult to identify the effective country, audience or date. Broad permissions can expose content to more people than intended. Conflicting sources can lead to a blended answer. And without a content owner, nobody is clearly responsible for resolving the issue.</a:t>
            </a:r>
            <a:endParaRPr/>
          </a:p>
          <a:p xmlns:a="http://schemas.openxmlformats.org/drawingml/2006/main">
            <a:r>
              <a:t/>
            </a:r>
            <a:endParaRPr/>
          </a:p>
          <a:p xmlns:a="http://schemas.openxmlformats.org/drawingml/2006/main">
            <a:r>
              <a:t>The practical lesson is that we should not begin by blaming the prompt. First inspect the knowledge sources and the permissions behind them.</a:t>
            </a:r>
            <a:endParaRPr/>
          </a:p>
          <a:p xmlns:a="http://schemas.openxmlformats.org/drawingml/2006/main">
            <a:r>
              <a:t/>
            </a:r>
            <a:endParaRPr/>
          </a:p>
          <a:p xmlns:a="http://schemas.openxmlformats.org/drawingml/2006/main">
            <a:r>
              <a:t>[Ask] If two documents conflict today, how does an employee know which one is authoritative?</a:t>
            </a:r>
            <a:endParaRPr/>
          </a:p>
          <a:p xmlns:a="http://schemas.openxmlformats.org/drawingml/2006/main">
            <a:r>
              <a:t/>
            </a:r>
            <a:endParaRPr/>
          </a:p>
          <a:p xmlns:a="http://schemas.openxmlformats.org/drawingml/2006/main">
            <a:r>
              <a:t>[Transition] The next decision is whether people need flexible help in Copilot Chat or a more controlled agent experience.</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https://learn.microsoft.com/en-us/microsoft-365/copilot/extensibility/data-privacy-security</a:t>
            </a:r>
            <a:endParaRPr/>
          </a:p>
          <a:p xmlns:a="http://schemas.openxmlformats.org/drawingml/2006/main">
            <a:r>
              <a:t>- https://learn.microsoft.com/en-us/microsoft-365/copilot/connectors/servicenow-knowledge-overview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Copilot Chat is useful when the question is ad hoc and the user can actively define the source, review the answer and decide what to do next. It is flexible and fast, but the user carries more responsibility for directing and checking the result.</a:t>
            </a:r>
            <a:endParaRPr/>
          </a:p>
          <a:p xmlns:a="http://schemas.openxmlformats.org/drawingml/2006/main">
            <a:r>
              <a:t/>
            </a:r>
            <a:endParaRPr/>
          </a:p>
          <a:p xmlns:a="http://schemas.openxmlformats.org/drawingml/2006/main">
            <a:r>
              <a:t>A knowledge agent is useful when the same questions repeat, when the organisation wants consistent instructions and sources, and when the response should always include citations, uncertainty and an escalation route.</a:t>
            </a:r>
            <a:endParaRPr/>
          </a:p>
          <a:p xmlns:a="http://schemas.openxmlformats.org/drawingml/2006/main">
            <a:r>
              <a:t/>
            </a:r>
            <a:endParaRPr/>
          </a:p>
          <a:p xmlns:a="http://schemas.openxmlformats.org/drawingml/2006/main">
            <a:r>
              <a:t>Agent Builder is a good starting point for a lightweight agent. However, the setting called Only use specified sources prioritises those sources; it does not fully block general model knowledge. If policy answers need stricter grounding, workflows or production controls, Copilot Studio is the stronger option.</a:t>
            </a:r>
            <a:endParaRPr/>
          </a:p>
          <a:p xmlns:a="http://schemas.openxmlformats.org/drawingml/2006/main">
            <a:r>
              <a:t/>
            </a:r>
            <a:endParaRPr/>
          </a:p>
          <a:p xmlns:a="http://schemas.openxmlformats.org/drawingml/2006/main">
            <a:r>
              <a:t>[Ask] Which questions in your organisation are repeated often enough to justify an agent?</a:t>
            </a:r>
            <a:endParaRPr/>
          </a:p>
          <a:p xmlns:a="http://schemas.openxmlformats.org/drawingml/2006/main">
            <a:r>
              <a:t/>
            </a:r>
            <a:endParaRPr/>
          </a:p>
          <a:p xmlns:a="http://schemas.openxmlformats.org/drawingml/2006/main">
            <a:r>
              <a:t>[Transition] Whichever experience we choose, the knowledge does not need to live in one system.</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https://learn.microsoft.com/en-us/microsoft-365/copilot/extensibility/agent-builder-add-knowledge</a:t>
            </a:r>
            <a:endParaRPr/>
          </a:p>
          <a:p xmlns:a="http://schemas.openxmlformats.org/drawingml/2006/main">
            <a:r>
              <a:t>- https://learn.microsoft.com/en-us/microsoft-copilot-studio/knowledge-copilot-studio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idea here is one knowledge experience across several authoritative systems. Formal policies can remain in SharePoint. Operational procedures and service instructions can remain in ServiceNow. We do not need to create uncontrolled copies simply so that Copilot can find them.</a:t>
            </a:r>
            <a:endParaRPr/>
          </a:p>
          <a:p xmlns:a="http://schemas.openxmlformats.org/drawingml/2006/main">
            <a:r>
              <a:t/>
            </a:r>
            <a:endParaRPr/>
          </a:p>
          <a:p xmlns:a="http://schemas.openxmlformats.org/drawingml/2006/main">
            <a:r>
              <a:t>The ServiceNow Knowledge connector can index approved articles into Microsoft Graph. Copilot Chat and a configured agent can then retrieve permitted content. The user still sees only information they are authorised to access.</a:t>
            </a:r>
            <a:endParaRPr/>
          </a:p>
          <a:p xmlns:a="http://schemas.openxmlformats.org/drawingml/2006/main">
            <a:r>
              <a:t/>
            </a:r>
            <a:endParaRPr/>
          </a:p>
          <a:p xmlns:a="http://schemas.openxmlformats.org/drawingml/2006/main">
            <a:r>
              <a:t>This architecture separates two responsibilities. Source systems manage approval, lifecycle and permissions. Copilot provides a conversational way to retrieve and explain that knowledge.</a:t>
            </a:r>
            <a:endParaRPr/>
          </a:p>
          <a:p xmlns:a="http://schemas.openxmlformats.org/drawingml/2006/main">
            <a:r>
              <a:t/>
            </a:r>
            <a:endParaRPr/>
          </a:p>
          <a:p xmlns:a="http://schemas.openxmlformats.org/drawingml/2006/main">
            <a:r>
              <a:t>[Ask] Which content must remain in ServiceNow, and which content is more naturally managed as a formal SharePoint policy?</a:t>
            </a:r>
            <a:endParaRPr/>
          </a:p>
          <a:p xmlns:a="http://schemas.openxmlformats.org/drawingml/2006/main">
            <a:r>
              <a:t/>
            </a:r>
            <a:endParaRPr/>
          </a:p>
          <a:p xmlns:a="http://schemas.openxmlformats.org/drawingml/2006/main">
            <a:r>
              <a:t>[Transition] To make this work, we need a clear rule for where each type of knowledge belongs.</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https://learn.microsoft.com/en-us/microsoft-365/copilot/connectors/servicenow-knowledge-overview</a:t>
            </a:r>
            <a:endParaRPr/>
          </a:p>
          <a:p xmlns:a="http://schemas.openxmlformats.org/drawingml/2006/main">
            <a:r>
              <a:t>- https://learn.microsoft.com/en-us/microsoft-365/copilot/extensibility/data-privacy-security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source-of-truth decision model. Formal corporate policies and standards normally belong in SharePoint when that is the approved document-management environment. Operational procedures, request instructions and support articles normally remain in ServiceNow. Structured facts, approvals and transaction records remain in their business system of record.</a:t>
            </a:r>
            <a:endParaRPr/>
          </a:p>
          <a:p xmlns:a="http://schemas.openxmlformats.org/drawingml/2006/main">
            <a:r>
              <a:t/>
            </a:r>
            <a:endParaRPr/>
          </a:p>
          <a:p xmlns:a="http://schemas.openxmlformats.org/drawingml/2006/main">
            <a:r>
              <a:t>Draft material can stay in the appropriate team workspace until it is approved. Duplicate content should be removed or clearly marked as superseded. A central knowledge catalogue should record the owner, status, effective date, review date and authoritative link.</a:t>
            </a:r>
            <a:endParaRPr/>
          </a:p>
          <a:p xmlns:a="http://schemas.openxmlformats.org/drawingml/2006/main">
            <a:r>
              <a:t/>
            </a:r>
            <a:endParaRPr/>
          </a:p>
          <a:p xmlns:a="http://schemas.openxmlformats.org/drawingml/2006/main">
            <a:r>
              <a:t>The goal is not to force everything into one platform. The goal is to make authority clear and prevent two live copies from drifting apart.</a:t>
            </a:r>
            <a:endParaRPr/>
          </a:p>
          <a:p xmlns:a="http://schemas.openxmlformats.org/drawingml/2006/main">
            <a:r>
              <a:t/>
            </a:r>
            <a:endParaRPr/>
          </a:p>
          <a:p xmlns:a="http://schemas.openxmlformats.org/drawingml/2006/main">
            <a:r>
              <a:t>[Ask] Where do you currently have the same instruction stored in more than one place?</a:t>
            </a:r>
            <a:endParaRPr/>
          </a:p>
          <a:p xmlns:a="http://schemas.openxmlformats.org/drawingml/2006/main">
            <a:r>
              <a:t/>
            </a:r>
            <a:endParaRPr/>
          </a:p>
          <a:p xmlns:a="http://schemas.openxmlformats.org/drawingml/2006/main">
            <a:r>
              <a:t>[Transition] Now let us look specifically at how ServiceNow knowledge becomes available to Copilot.</a:t>
            </a:r>
            <a:endParaRPr/>
          </a:p>
          <a:p xmlns:a="http://schemas.openxmlformats.org/drawingml/2006/main">
            <a:r>
              <a:t/>
            </a:r>
            <a:endParaRPr/>
          </a:p>
          <a:p xmlns:a="http://schemas.openxmlformats.org/drawingml/2006/main">
            <a:r>
              <a:t>[Sources]</a:t>
            </a:r>
            <a:endParaRPr/>
          </a:p>
          <a:p xmlns:a="http://schemas.openxmlformats.org/drawingml/2006/main">
            <a:r>
              <a:t>- Session_4_Agents_Governance_and_Making_It_Stick_Full_Speaking_Script.docx</a:t>
            </a:r>
            <a:endParaRPr/>
          </a:p>
          <a:p xmlns:a="http://schemas.openxmlformats.org/drawingml/2006/main">
            <a:r>
              <a:t>- https://learn.microsoft.com/en-us/microsoft-365/copilot/connectors/servicenow-knowledge-overview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ServiceNow Knowledge connector is configured by Microsoft 365 and ServiceNow administrators. It can index published knowledge articles and make them available in Microsoft 365 Copilot and search experiences.</a:t>
            </a:r>
            <a:endParaRPr/>
          </a:p>
          <a:p xmlns:a="http://schemas.openxmlformats.org/drawingml/2006/main">
            <a:r>
              <a:t/>
            </a:r>
            <a:endParaRPr/>
          </a:p>
          <a:p xmlns:a="http://schemas.openxmlformats.org/drawingml/2006/main">
            <a:r>
              <a:t>The important work is not only connecting the system. Administrators must scope the relevant knowledge bases, map identities correctly and preserve article and knowledge-base permissions. If ServiceNow uses advanced script-based user criteria, the advanced connector flow is important because the simple flow cannot evaluate every script safely.</a:t>
            </a:r>
            <a:endParaRPr/>
          </a:p>
          <a:p xmlns:a="http://schemas.openxmlformats.org/drawingml/2006/main">
            <a:r>
              <a:t/>
            </a:r>
            <a:endParaRPr/>
          </a:p>
          <a:p xmlns:a="http://schemas.openxmlformats.org/drawingml/2006/main">
            <a:r>
              <a:t>After indexing, validate the connection with a limited audience. Test people with different permissions and confirm both positive access and denied access. Also verify the article title, link, freshness and citation shown in Copilot.</a:t>
            </a:r>
            <a:endParaRPr/>
          </a:p>
          <a:p xmlns:a="http://schemas.openxmlformats.org/drawingml/2006/main">
            <a:r>
              <a:t/>
            </a:r>
            <a:endParaRPr/>
          </a:p>
          <a:p xmlns:a="http://schemas.openxmlformats.org/drawingml/2006/main">
            <a:r>
              <a:t>[Ask] Who would need to be involved in this setup from Microsoft 365, ServiceNow, security and knowledge ownership?</a:t>
            </a:r>
            <a:endParaRPr/>
          </a:p>
          <a:p xmlns:a="http://schemas.openxmlformats.org/drawingml/2006/main">
            <a:r>
              <a:t/>
            </a:r>
            <a:endParaRPr/>
          </a:p>
          <a:p xmlns:a="http://schemas.openxmlformats.org/drawingml/2006/main">
            <a:r>
              <a:t>[Transition] Connecting the content is only one moment in its lifecycle.</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https://learn.microsoft.com/en-us/microsoft-365/copilot/connectors/servicenow-knowledge-overview</a:t>
            </a:r>
            <a:endParaRPr/>
          </a:p>
          <a:p xmlns:a="http://schemas.openxmlformats.org/drawingml/2006/main">
            <a:r>
              <a:t>- https://learn.microsoft.com/en-us/microsoft-365/copilot/connectors/servicenow-knowledge-deployment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Knowledge moves through a lifecycle. Someone creates it. A subject-matter expert reviews it. An accountable owner approves it. The organisation publishes it, and employees retrieve it through SharePoint, ServiceNow, search, Copilot Chat or an agent.</a:t>
            </a:r>
            <a:endParaRPr/>
          </a:p>
          <a:p xmlns:a="http://schemas.openxmlformats.org/drawingml/2006/main">
            <a:r>
              <a:t/>
            </a:r>
            <a:endParaRPr/>
          </a:p>
          <a:p xmlns:a="http://schemas.openxmlformats.org/drawingml/2006/main">
            <a:r>
              <a:t>After publication, the work continues. Content must be updated when the process changes and retired when it is no longer valid. The retired article should either disappear from retrieval or clearly point to the replacement.</a:t>
            </a:r>
            <a:endParaRPr/>
          </a:p>
          <a:p xmlns:a="http://schemas.openxmlformats.org/drawingml/2006/main">
            <a:r>
              <a:t/>
            </a:r>
            <a:endParaRPr/>
          </a:p>
          <a:p xmlns:a="http://schemas.openxmlformats.org/drawingml/2006/main">
            <a:r>
              <a:t>A knowledge agent does not remove this lifecycle. In fact, it makes weak lifecycle management more visible because more people can retrieve the content quickly.</a:t>
            </a:r>
            <a:endParaRPr/>
          </a:p>
          <a:p xmlns:a="http://schemas.openxmlformats.org/drawingml/2006/main">
            <a:r>
              <a:t/>
            </a:r>
            <a:endParaRPr/>
          </a:p>
          <a:p xmlns:a="http://schemas.openxmlformats.org/drawingml/2006/main">
            <a:r>
              <a:t>[Ask] What event should trigger a policy review in addition to the normal review date?</a:t>
            </a:r>
            <a:endParaRPr/>
          </a:p>
          <a:p xmlns:a="http://schemas.openxmlformats.org/drawingml/2006/main">
            <a:r>
              <a:t/>
            </a:r>
            <a:endParaRPr/>
          </a:p>
          <a:p xmlns:a="http://schemas.openxmlformats.org/drawingml/2006/main">
            <a:r>
              <a:t>[Transition] A lifecycle works only when every important source has a named owner.</a:t>
            </a:r>
            <a:endParaRPr/>
          </a:p>
          <a:p xmlns:a="http://schemas.openxmlformats.org/drawingml/2006/main">
            <a:r>
              <a:t/>
            </a:r>
            <a:endParaRPr/>
          </a:p>
          <a:p xmlns:a="http://schemas.openxmlformats.org/drawingml/2006/main">
            <a:r>
              <a:t>[Sources]</a:t>
            </a:r>
            <a:endParaRPr/>
          </a:p>
          <a:p xmlns:a="http://schemas.openxmlformats.org/drawingml/2006/main">
            <a:r>
              <a:t>- Session_4_Agents_Governance_and_Making_It_Stick_Full_Speaking_Script.docx</a:t>
            </a:r>
            <a:endParaRPr/>
          </a:p>
          <a:p xmlns:a="http://schemas.openxmlformats.org/drawingml/2006/main">
            <a:r>
              <a:t>- https://learn.microsoft.com/en-us/microsoft-365/copilot/connectors/servicenow-knowledge-overview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connecting a source to Copilot, create a simple knowledge catalogue. For each item, record the content owner and whether the item is authoritative, approved, draft, superseded or retired.</a:t>
            </a:r>
            <a:endParaRPr/>
          </a:p>
          <a:p xmlns:a="http://schemas.openxmlformats.org/drawingml/2006/main">
            <a:r>
              <a:t/>
            </a:r>
            <a:endParaRPr/>
          </a:p>
          <a:p xmlns:a="http://schemas.openxmlformats.org/drawingml/2006/main">
            <a:r>
              <a:t>Also record the intended audience, effective date, next review date, sensitivity and access rules. Add the direct source link and, where relevant, the document or article that it replaces.</a:t>
            </a:r>
            <a:endParaRPr/>
          </a:p>
          <a:p xmlns:a="http://schemas.openxmlformats.org/drawingml/2006/main">
            <a:r>
              <a:t/>
            </a:r>
            <a:endParaRPr/>
          </a:p>
          <a:p xmlns:a="http://schemas.openxmlformats.org/drawingml/2006/main">
            <a:r>
              <a:t>The owner is not simply the person who uploaded the file. The owner is accountable for the meaning, approval and continued accuracy of the content. IT can operate the platform, but IT should not silently decide which HR, legal or operational policy is correct.</a:t>
            </a:r>
            <a:endParaRPr/>
          </a:p>
          <a:p xmlns:a="http://schemas.openxmlformats.org/drawingml/2006/main">
            <a:r>
              <a:t/>
            </a:r>
            <a:endParaRPr/>
          </a:p>
          <a:p xmlns:a="http://schemas.openxmlformats.org/drawingml/2006/main">
            <a:r>
              <a:t>[Ask] For your most frequently used policy, can you name the accountable content owner and the next review date?</a:t>
            </a:r>
            <a:endParaRPr/>
          </a:p>
          <a:p xmlns:a="http://schemas.openxmlformats.org/drawingml/2006/main">
            <a:r>
              <a:t/>
            </a:r>
            <a:endParaRPr/>
          </a:p>
          <a:p xmlns:a="http://schemas.openxmlformats.org/drawingml/2006/main">
            <a:r>
              <a:t>[Transition] Good metadata helps retrieval, but the agent also needs instructions for uncertainty and conflict.</a:t>
            </a:r>
            <a:endParaRPr/>
          </a:p>
          <a:p xmlns:a="http://schemas.openxmlformats.org/drawingml/2006/main">
            <a:r>
              <a:t/>
            </a:r>
            <a:endParaRPr/>
          </a:p>
          <a:p xmlns:a="http://schemas.openxmlformats.org/drawingml/2006/main">
            <a:r>
              <a:t>[Sources]</a:t>
            </a:r>
            <a:endParaRPr/>
          </a:p>
          <a:p xmlns:a="http://schemas.openxmlformats.org/drawingml/2006/main">
            <a:r>
              <a:t>- Session_4_Agents_Governance_and_Making_It_Stick_Full_Speaking_Script.docx</a:t>
            </a:r>
            <a:endParaRPr/>
          </a:p>
          <a:p xmlns:a="http://schemas.openxmlformats.org/drawingml/2006/main">
            <a:r>
              <a:t>- https://learn.microsoft.com/en-us/microsoft-365/copilot/extensibility/data-privacy-security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policy agent should make its evidence visible. It should cite the source, show the effective or last-reviewed date, and separate formal policy from procedural guidance.</a:t>
            </a:r>
            <a:endParaRPr/>
          </a:p>
          <a:p xmlns:a="http://schemas.openxmlformats.org/drawingml/2006/main">
            <a:r>
              <a:t/>
            </a:r>
            <a:endParaRPr/>
          </a:p>
          <a:p xmlns:a="http://schemas.openxmlformats.org/drawingml/2006/main">
            <a:r>
              <a:t>If two sources conflict, the agent should show both and explain that the answer requires owner confirmation. It should not silently choose the wording that sounds more recent. If information is missing, it should say Not confirmed. If a user asks for an exception, the agent should explain the standard rule and direct the request to the accountable person. It must never claim that it approved the exception.</a:t>
            </a:r>
            <a:endParaRPr/>
          </a:p>
          <a:p xmlns:a="http://schemas.openxmlformats.org/drawingml/2006/main">
            <a:r>
              <a:t/>
            </a:r>
            <a:endParaRPr/>
          </a:p>
          <a:p xmlns:a="http://schemas.openxmlformats.org/drawingml/2006/main">
            <a:r>
              <a:t>Remember that Agent Builder can prioritise specified sources but cannot fully block general model knowledge. Copilot Studio provides stronger grounding controls, although even there we still test citations and behaviour carefully.</a:t>
            </a:r>
            <a:endParaRPr/>
          </a:p>
          <a:p xmlns:a="http://schemas.openxmlformats.org/drawingml/2006/main">
            <a:r>
              <a:t/>
            </a:r>
            <a:endParaRPr/>
          </a:p>
          <a:p xmlns:a="http://schemas.openxmlformats.org/drawingml/2006/main">
            <a:r>
              <a:t>[Ask] What exact phrase should your agent use when it cannot confirm a policy answer?</a:t>
            </a:r>
            <a:endParaRPr/>
          </a:p>
          <a:p xmlns:a="http://schemas.openxmlformats.org/drawingml/2006/main">
            <a:r>
              <a:t/>
            </a:r>
            <a:endParaRPr/>
          </a:p>
          <a:p xmlns:a="http://schemas.openxmlformats.org/drawingml/2006/main">
            <a:r>
              <a:t>[Transition] These controls should be proven in a limited pilot before broad release.</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https://learn.microsoft.com/en-us/microsoft-365/copilot/extensibility/agent-builder-add-knowledge</a:t>
            </a:r>
            <a:endParaRPr/>
          </a:p>
          <a:p xmlns:a="http://schemas.openxmlformats.org/drawingml/2006/main">
            <a:r>
              <a:t>- https://learn.microsoft.com/en-us/microsoft-copilot-studio/knowledge-copilot-studio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recommend an eight-week pilot rather than an organisation-wide launch. In the first two weeks, choose one policy area, one audience and a small set of questions. Then clean the sources, confirm owners and permissions, and remove or mark obsolete content.</a:t>
            </a:r>
            <a:endParaRPr/>
          </a:p>
          <a:p xmlns:a="http://schemas.openxmlformats.org/drawingml/2006/main">
            <a:r>
              <a:t/>
            </a:r>
            <a:endParaRPr/>
          </a:p>
          <a:p xmlns:a="http://schemas.openxmlformats.org/drawingml/2006/main">
            <a:r>
              <a:t>Build the agent in weeks three and four. Test normal questions, conflicts, outdated content, missing information, restricted access, exception requests and prompt injection. In weeks six and seven, release it to a limited group and collect real examples of success and failure.</a:t>
            </a:r>
            <a:endParaRPr/>
          </a:p>
          <a:p xmlns:a="http://schemas.openxmlformats.org/drawingml/2006/main">
            <a:r>
              <a:t/>
            </a:r>
            <a:endParaRPr/>
          </a:p>
          <a:p xmlns:a="http://schemas.openxmlformats.org/drawingml/2006/main">
            <a:r>
              <a:t>At the end of week eight, decide whether to expand, revise or stop. Useful measures include citation accuracy, answer acceptance, unresolved conflicts, escalation rate, time saved and the number of source problems corrected.</a:t>
            </a:r>
            <a:endParaRPr/>
          </a:p>
          <a:p xmlns:a="http://schemas.openxmlformats.org/drawingml/2006/main">
            <a:r>
              <a:t/>
            </a:r>
            <a:endParaRPr/>
          </a:p>
          <a:p xmlns:a="http://schemas.openxmlformats.org/drawingml/2006/main">
            <a:r>
              <a:t>[Ask] Which policy area is bounded enough for your first pilot but important enough to create visible value?</a:t>
            </a:r>
            <a:endParaRPr/>
          </a:p>
          <a:p xmlns:a="http://schemas.openxmlformats.org/drawingml/2006/main">
            <a:r>
              <a:t/>
            </a:r>
            <a:endParaRPr/>
          </a:p>
          <a:p xmlns:a="http://schemas.openxmlformats.org/drawingml/2006/main">
            <a:r>
              <a:t>[Close] The technology can connect knowledge, but reliable organisational answers still depend on authority, ownership, permissions, freshness and human accountability.</a:t>
            </a:r>
            <a:endParaRPr/>
          </a:p>
          <a:p xmlns:a="http://schemas.openxmlformats.org/drawingml/2006/main">
            <a:r>
              <a:t/>
            </a:r>
            <a:endParaRPr/>
          </a:p>
          <a:p xmlns:a="http://schemas.openxmlformats.org/drawingml/2006/main">
            <a:r>
              <a:t>[Sources]</a:t>
            </a:r>
            <a:endParaRPr/>
          </a:p>
          <a:p xmlns:a="http://schemas.openxmlformats.org/drawingml/2006/main">
            <a:r>
              <a:t>- https://learn.microsoft.com/en-us/microsoft-365/copilot/connectors/servicenow-knowledge-deployment</a:t>
            </a:r>
            <a:endParaRPr/>
          </a:p>
          <a:p xmlns:a="http://schemas.openxmlformats.org/drawingml/2006/main">
            <a:r>
              <a:t>- https://learn.microsoft.com/en-us/microsoft-365/copilot/extensibility/data-privacy-security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9d7959023947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d74f7d986643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93c07cbd1640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d5d51eba7643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824e32c3964e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b9a8f440744fa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d180057f8c949f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5555166c50948f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b65eaa8284b498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cd32cb0649f4a6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205b3ccd49a4a7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6b9af2d8e5b7440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f511df466f1b4c8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fc5d16988b5743a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141693ccf965489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44b3aee91c62466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d381ad55cadf4d2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4bf37498a2c9411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cacdfe623c974cd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77b5f5b449ba43b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63fac8f608cd410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8e5f65742afe48f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3.xml" Id="R077ea0bf7f9847f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1476d25b7acf46d9"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3175480b7e184231"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81451e1d96fc44eb"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24d005014ac54c15"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98c330bc77174daa"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f741ac585e394708"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c8cf3edf66554fef"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4d18335f0cb14444"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ea666ba084c74a05"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df534b3a7930454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A0A9BC-949F-ACA3-E689-005687B028D2}"/>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456AD4D-719D-F6ED-FADA-DC6173E34250}"/>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5C0A2EA-58A4-1B9B-D057-89EE678F7C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C3494D0A-2041-0517-F530-AA6214E422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49D666-FDCB-4E01-4220-7CBCD12541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A92BFC-A87D-4715-0C52-4C84062D20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866A35C-3CD4-4385-0F11-6D51571B9FC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2D29B9D-9A3D-BAE8-6D20-59E90D3E77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0CE134D2-54D9-B5E0-BB2D-7F6F81400F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7BE4B82-6B86-6100-5FF8-EB2300D059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B90988-389A-5115-A39B-97D3AADCF19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0E5C562-BB9D-D29B-F769-A5A2C66D9D8E}"/>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1F9051C-6FCC-5D54-8BC7-9CF922CB5A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5229C5FE-3A45-CC9C-F4FA-4AAAE6065E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E42C6D-76B5-BB42-E8B3-3D0260D363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FD381C-BB2E-688C-2B8F-556120721A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D291F87-47F5-747C-ABFB-F7335AD8519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958A0B0-20EB-37F3-1E75-5EF7F6B4F6BE}"/>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2EFC4DF4-6DEC-7D42-F547-DDE10DCD0D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CEAD9F53-949E-1E9A-5C2D-B6EBFAAC25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164308B-896F-98D3-C948-FE3F9D9EC2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7A799D-018D-6A35-C6D0-CEA84793AEA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D028F9C-598E-6EE9-E578-BE4D7D4D7547}"/>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1692D5B-805A-E494-9539-955AD92755A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9E8A4C5-D81E-FC18-741A-60B6205897C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85D6C20-C4FB-74B0-A05E-85248C9978D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EDCB1F6-5D9E-71D9-DFA9-5DC113284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8" name="Footer Placeholder 7">
            <a:extLst xmlns:a="http://schemas.openxmlformats.org/drawingml/2006/main">
              <a:ext uri="{FF2B5EF4-FFF2-40B4-BE49-F238E27FC236}">
                <a16:creationId xmlns:a16="http://schemas.microsoft.com/office/drawing/2014/main" id="{F986C729-2D4D-F46E-C6CB-558A50A7D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5F83A36-381C-BE5E-38D5-FA29248BDC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7BFC56-632C-5F27-16E6-E642654801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40D3264-B1E0-5590-CE1A-4489491B26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4" name="Footer Placeholder 3">
            <a:extLst xmlns:a="http://schemas.openxmlformats.org/drawingml/2006/main">
              <a:ext uri="{FF2B5EF4-FFF2-40B4-BE49-F238E27FC236}">
                <a16:creationId xmlns:a16="http://schemas.microsoft.com/office/drawing/2014/main" id="{450A5A30-4E43-F63A-326B-ED23EA0421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E8506BA-3678-0691-9579-632FE99190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439E26D-AAC5-96DE-B88F-C9DCD2C26C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3" name="Footer Placeholder 2">
            <a:extLst xmlns:a="http://schemas.openxmlformats.org/drawingml/2006/main">
              <a:ext uri="{FF2B5EF4-FFF2-40B4-BE49-F238E27FC236}">
                <a16:creationId xmlns:a16="http://schemas.microsoft.com/office/drawing/2014/main" id="{15ED8598-327A-4673-1F99-A91B5583D3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E622516-CD88-4495-1A37-DA270F6243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0FB77F-A405-312E-9A31-57AEB11C789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3148FDE-23E2-03FB-0199-3B5783D1BE5D}"/>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5065236C-38D2-3A77-4A77-9B4DE1E7C4F1}"/>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B93DC9B-7CDD-AEA0-88C1-A45C3E088D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C1B38343-1499-A3D1-40B3-75086D2063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0DC29A2-D5E0-C10F-CB24-6E843687FD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5860B2-774D-C7C5-72B7-E303BCF9BB5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798D44C-9051-A93A-CD02-CCF6D5A8F6A8}"/>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82ADA2E-5EE1-1629-DBF6-233A0AED3E1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9BBC53-507D-00A8-33A4-F0F01740EE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E15369CD-0759-3A61-30E6-35B7DB664A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A64BC6-2DD6-49C8-09EF-D6DC5C118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634559-5478-0565-53AB-907E82D993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6DCE7E2-1339-AF73-EFEF-16122F72CB2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1957F16-0C46-2AFC-BB34-10CB4F89A9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62E5B8D2-EB1B-E232-D890-C3DB0E5C1D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89CB37-47B9-A7FF-CFC8-E7A28128DF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C3053B9-AF20-2047-8F21-A0EEAC6034E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F1AD274-8FFF-BC75-7F97-BEBF0A828AE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C5BB25B-6C4C-5E70-E7DD-785B7C4EED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2C1CC69C-EA75-86AA-F2C5-1FE2871D4A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F9B637F-B212-C032-6E6A-A4509E8207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3D55A5B-A606-4AB1-BC8D-BE59925D6492}" type="slidenum">
              <a:t>‹#›</a:t>
            </a:fld>
            <a:endParaRPr/>
          </a:p>
        </p:txBody>
      </p:sp>
    </p:spTree>
  </p:cSld>
</p:sldLayout>
</file>

<file path=ppt/slideLayouts/slideLayout12.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E01-D4C8-4EB8-AF7A-AF16187617FE}"/>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14E638A-2C2E-401D-BF40-F45F2B1FD9FA}"/>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13.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E60926-6943-4DEE-83D0-91023BEF26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F934D35-8F52-4EB4-BB14-9CFA0BC12FF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EF2B5E9-44B9-4625-AE54-4B2708C36B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4F65AB7A-0945-4C3E-B1FF-29DBB7FB3F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46A4D8-A807-49F6-8F14-0343C638C6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4.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3A8472-30AB-45D6-9E53-DED5FA7FA6B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9111B3F-AD9B-4F86-88BD-528D583E1127}"/>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B1A0ACB9-7597-4C8B-AEFF-57636700E5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C2A3ADE3-0C45-4A47-996B-800093E613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2E61FBF-F83C-4706-A063-1F66201DE5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5.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4AF6F2-F57E-41E9-A177-A6A7B08FB5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B58C35C-C735-4EE4-8851-F640781FA6B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BEAC76-9D07-4D12-A988-F5DE8B1C2EC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CDEEBEA-8FBB-4FEE-BA8E-12593EA6C6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B01BB7D8-1DA0-4701-B576-74A3D2844B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0345674-F62A-4A53-94A8-F3FBD88B9C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6.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9DB58A-858A-404C-A142-D189DB5E5C9C}"/>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16C8CBC-BC76-4A33-AFEE-DD5C72C7CAB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D1CF0D96-BF19-4C42-83B5-82E0C8C930F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8A4B3D0-0E54-4800-A06C-1C889472146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3B007BA6-CB88-4CC7-AD2D-4C40C72FD54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518D0B9-F9BC-4408-9FBF-6D05608A63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8" name="Footer Placeholder 7">
            <a:extLst xmlns:a="http://schemas.openxmlformats.org/drawingml/2006/main">
              <a:ext uri="{FF2B5EF4-FFF2-40B4-BE49-F238E27FC236}">
                <a16:creationId xmlns:a16="http://schemas.microsoft.com/office/drawing/2014/main" id="{497A3D14-3F3C-44CC-AC3D-7E7927565E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0EDB986-F807-4C8C-9CC2-8539B0281A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7.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E52BC2-F217-4842-A2E3-120F8E5960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A01D37F-DAC6-45BE-8AD4-BBBAF4696C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4" name="Footer Placeholder 3">
            <a:extLst xmlns:a="http://schemas.openxmlformats.org/drawingml/2006/main">
              <a:ext uri="{FF2B5EF4-FFF2-40B4-BE49-F238E27FC236}">
                <a16:creationId xmlns:a16="http://schemas.microsoft.com/office/drawing/2014/main" id="{EA91D45D-17E0-4DB8-A4B7-83C0EA4F7A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190CCB7-0966-4D0D-9A37-E6F53139B1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8.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5AC04E2-F7B3-499D-B535-AF08A2B884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3" name="Footer Placeholder 2">
            <a:extLst xmlns:a="http://schemas.openxmlformats.org/drawingml/2006/main">
              <a:ext uri="{FF2B5EF4-FFF2-40B4-BE49-F238E27FC236}">
                <a16:creationId xmlns:a16="http://schemas.microsoft.com/office/drawing/2014/main" id="{2BA8CDAC-C44F-4CD8-A9F4-DB1A666C19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C90AEA-05E0-40C1-A74D-9FB549A6F3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19.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DCBBF3-38FC-428C-8E49-633CC8429D4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F86AA5D-6527-46ED-9AD8-731EF15A82E2}"/>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E34EE114-4632-4FD3-8F70-70A3B4B4B8B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855C8CDF-363B-4A37-94F6-0B7403CE84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A0D1E330-6D66-4527-983C-B00AE16C7E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1BEE0C-92B0-4DC4-90A4-FA4EE7886E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20.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B76284-38BC-4AED-AC94-B1C4E35D123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211E088-C8AA-4484-99E9-11F363754BD6}"/>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3F0459E-B3A5-42A9-B750-D197D4C4ECC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BFA37F34-3C3A-448D-A31A-76F9C594ABF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810B63CA-4C8D-4980-89AF-09CB930624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38BCA9-318A-43BF-A17E-3C4256993E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21.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F9EF1B-2337-4889-B4D8-7D96864C95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B7FA071-9241-49FB-B6F5-FED1B5BA7E1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B38A472-EA8C-4F09-9B36-12B1F163F2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D571EA96-2836-4FCC-BF2A-B00649CFEB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0E13BF-5CA7-4129-A635-C549C4A4DD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22.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40CF1D6-0CEC-4C9B-9796-342126312B24}"/>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46FD9E1-F030-4320-B7D4-1EC02EA45537}"/>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ED45C7A-D2CC-48DB-92D4-73A50092EE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9559FBA-1A77-4519-83E4-F9F2CE82C366}"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7B740F9F-7C8F-454D-9011-96FD1949CF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C5E7F3-8B72-4584-85BF-7F89DBAAAA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B16CAC3-D4D4-4544-A2AC-E0D04D1CC24D}" type="slidenum">
              <a:t>‹#›</a:t>
            </a:fld>
            <a:endParaRPr/>
          </a:p>
        </p:txBody>
      </p:sp>
    </p:spTree>
  </p:cSld>
</p:sldLayout>
</file>

<file path=ppt/slideLayouts/slideLayout23.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B612DF-3956-40D8-80C4-A5533A2C171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0C5B576-D647-4021-A515-998A9783D89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120238C-2188-410C-B69B-7330E9BD9D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B7ACF4A0-62C0-4986-950F-AF45F26A6E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F529610-8887-4D48-A443-0EA119B01E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4.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BC4039-3F12-416A-B601-A90A0403AD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97270C2-FE2B-4345-9281-A97A90EE45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3CA7270-E884-4013-8F72-56F2EE09EC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ABAE85B4-2635-4D27-AA90-56C476BA31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2A9FAF4-2B1B-4F06-986C-FAA4D2EA5C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5.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3B3E28-AFE3-4072-BBAF-C254E0A50C0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268D45-E59B-4178-BD2A-10472D28842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677D93F-62F5-4C9E-B1D4-1AE768F1A9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35D28A8D-5EAC-4A94-9BE9-2DD1A25988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C76BB9-8054-45A8-A2A8-AA8881FE34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6.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4FAB47-0AB9-4D97-8454-C86E4C1396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047459A-C883-4059-93B1-776ED37D6E6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19FFE22-7ADB-4D6B-8DE7-6C645D8C97A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BA37362B-D4DF-4A6C-8D67-2CB3415174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584F3AD9-7F1E-45D9-A25F-F12115B4BE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7FF3E53-7C00-4581-A4EE-B0730F05D9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7.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C6C591-741A-4931-910F-B81BBCACDD6D}"/>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4BF3AFE-1E0B-42AE-A32B-2982403DBCA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13F4284B-4273-43CB-AB0A-27047ED662D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E8F81FB-C129-4CB2-AEB2-0FF9C97AE41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6F0FC418-FB06-470F-B41B-A59D5BAC2B9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26FD8DD-EE02-49F0-A6B6-B0B3373345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8" name="Footer Placeholder 7">
            <a:extLst xmlns:a="http://schemas.openxmlformats.org/drawingml/2006/main">
              <a:ext uri="{FF2B5EF4-FFF2-40B4-BE49-F238E27FC236}">
                <a16:creationId xmlns:a16="http://schemas.microsoft.com/office/drawing/2014/main" id="{9C4F90E8-D54F-488C-8BAE-3CD0C91187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73A12EB-54E0-4D7E-BC4A-9FC30F1BEB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8.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31D3F2-8E3E-4D6F-BAD4-BE55AA4D10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42D3153-BFC0-408C-BAE9-F877CF4CD0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4" name="Footer Placeholder 3">
            <a:extLst xmlns:a="http://schemas.openxmlformats.org/drawingml/2006/main">
              <a:ext uri="{FF2B5EF4-FFF2-40B4-BE49-F238E27FC236}">
                <a16:creationId xmlns:a16="http://schemas.microsoft.com/office/drawing/2014/main" id="{13D8C05D-068B-41AF-B745-36AE223FB6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AFBF9AC-7E6C-436C-9786-88EBD03EAD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29.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4FB4E73-E1B5-41B9-B56C-3C133F2511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3" name="Footer Placeholder 2">
            <a:extLst xmlns:a="http://schemas.openxmlformats.org/drawingml/2006/main">
              <a:ext uri="{FF2B5EF4-FFF2-40B4-BE49-F238E27FC236}">
                <a16:creationId xmlns:a16="http://schemas.microsoft.com/office/drawing/2014/main" id="{CC720738-2A56-4487-A2C7-46E60A2F1F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F69A7D5-2944-4894-909F-891A04F6AE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30.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C5BB28-DD74-463F-92A0-CB3A0A33AE3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88A7E59-E2BB-4EBF-A0A5-394918009D85}"/>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F34C49A8-44B2-4E87-A4E3-C13A47C93BD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AFB3B828-3D70-4F46-B01D-E15AB0EC67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BC68D926-39D8-4EE2-94F4-CE23E440A0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D99F451-EC34-4866-ABCF-7E32B173D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31.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467B4C-F56F-4A5C-B95C-B3EAAF7B3E6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B00AC5A-E7D6-45DD-9763-7661B7960358}"/>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41EB7B3-8AF6-4E6B-BDBD-6FA28533DD3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11006005-7EC4-4F71-AA26-7774E2089A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6" name="Footer Placeholder 5">
            <a:extLst xmlns:a="http://schemas.openxmlformats.org/drawingml/2006/main">
              <a:ext uri="{FF2B5EF4-FFF2-40B4-BE49-F238E27FC236}">
                <a16:creationId xmlns:a16="http://schemas.microsoft.com/office/drawing/2014/main" id="{87EB9CEE-1237-47E2-984E-427DAE452B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8AF86BB-24DB-40D3-97BF-C563353F15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32.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D8D942-5D21-4B3C-88B4-9E00136E4A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9B30A54-511F-4ED9-8A1C-D7212D3279B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BCB108A-07D8-4E56-BABC-321E89A2DA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113E7025-74AB-4847-88A2-7D6F3D2121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7D1600-1BD1-4920-A0B6-8F31D53DB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Layouts/slideLayout33.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74332A6-1BF3-479D-AF07-8C92BE25FD8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5CDF8F5-461D-40E6-81E0-9DE6C891415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E0B970F-BCA6-4F89-9C37-CB687E315A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CDBB0449-4772-4EC6-B679-24CCEA6135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3085CC-A2E1-4E3B-97A9-ACA483E4C2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471E835-D5F6-4403-95B1-BC9FD4B41D28}"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b7b94090f04cc0" /><Relationship Type="http://schemas.openxmlformats.org/officeDocument/2006/relationships/slideLayout" Target="/ppt/slideLayouts/slideLayout1.xml" Id="Rf594a77d9cc4468f" /><Relationship Type="http://schemas.openxmlformats.org/officeDocument/2006/relationships/slideLayout" Target="/ppt/slideLayouts/slideLayout2.xml" Id="Rf3d9c7d9e86e461a" /><Relationship Type="http://schemas.openxmlformats.org/officeDocument/2006/relationships/slideLayout" Target="/ppt/slideLayouts/slideLayout3.xml" Id="R7413946372174904" /><Relationship Type="http://schemas.openxmlformats.org/officeDocument/2006/relationships/slideLayout" Target="/ppt/slideLayouts/slideLayout4.xml" Id="R189540c31f03413a" /><Relationship Type="http://schemas.openxmlformats.org/officeDocument/2006/relationships/slideLayout" Target="/ppt/slideLayouts/slideLayout5.xml" Id="R31b500f41c054911" /><Relationship Type="http://schemas.openxmlformats.org/officeDocument/2006/relationships/slideLayout" Target="/ppt/slideLayouts/slideLayout6.xml" Id="R19d502528fa94ea8" /><Relationship Type="http://schemas.openxmlformats.org/officeDocument/2006/relationships/slideLayout" Target="/ppt/slideLayouts/slideLayout7.xml" Id="Rea5312ef74364f2d" /><Relationship Type="http://schemas.openxmlformats.org/officeDocument/2006/relationships/slideLayout" Target="/ppt/slideLayouts/slideLayout8.xml" Id="Rcad1e7f05b8c4eea" /><Relationship Type="http://schemas.openxmlformats.org/officeDocument/2006/relationships/slideLayout" Target="/ppt/slideLayouts/slideLayout9.xml" Id="R5733f9bff8914da0" /><Relationship Type="http://schemas.openxmlformats.org/officeDocument/2006/relationships/slideLayout" Target="/ppt/slideLayouts/slideLayout10.xml" Id="Rd9e48fe45e944a6f" /><Relationship Type="http://schemas.openxmlformats.org/officeDocument/2006/relationships/slideLayout" Target="/ppt/slideLayouts/slideLayout11.xml" Id="R9278ac061ed84a9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7f33b0d0cdc4859" /><Relationship Type="http://schemas.openxmlformats.org/officeDocument/2006/relationships/slideLayout" Target="/ppt/slideLayouts/slideLayout12.xml" Id="R07e5d612b0a34a17" /><Relationship Type="http://schemas.openxmlformats.org/officeDocument/2006/relationships/slideLayout" Target="/ppt/slideLayouts/slideLayout13.xml" Id="R99a16c6e436c4a77" /><Relationship Type="http://schemas.openxmlformats.org/officeDocument/2006/relationships/slideLayout" Target="/ppt/slideLayouts/slideLayout14.xml" Id="R49b3185eb9524806" /><Relationship Type="http://schemas.openxmlformats.org/officeDocument/2006/relationships/slideLayout" Target="/ppt/slideLayouts/slideLayout15.xml" Id="Rd59cbeb54a1342eb" /><Relationship Type="http://schemas.openxmlformats.org/officeDocument/2006/relationships/slideLayout" Target="/ppt/slideLayouts/slideLayout16.xml" Id="R936ac3dc0e5a4e55" /><Relationship Type="http://schemas.openxmlformats.org/officeDocument/2006/relationships/slideLayout" Target="/ppt/slideLayouts/slideLayout17.xml" Id="Rf43088b7032b4c07" /><Relationship Type="http://schemas.openxmlformats.org/officeDocument/2006/relationships/slideLayout" Target="/ppt/slideLayouts/slideLayout18.xml" Id="R8b7dcb8f64914233" /><Relationship Type="http://schemas.openxmlformats.org/officeDocument/2006/relationships/slideLayout" Target="/ppt/slideLayouts/slideLayout19.xml" Id="R84d36c6fa98c41af" /><Relationship Type="http://schemas.openxmlformats.org/officeDocument/2006/relationships/slideLayout" Target="/ppt/slideLayouts/slideLayout20.xml" Id="R94614e7871d0468c" /><Relationship Type="http://schemas.openxmlformats.org/officeDocument/2006/relationships/slideLayout" Target="/ppt/slideLayouts/slideLayout21.xml" Id="Rd5faa084dac64fd0" /><Relationship Type="http://schemas.openxmlformats.org/officeDocument/2006/relationships/slideLayout" Target="/ppt/slideLayouts/slideLayout22.xml" Id="Rda79a397126a49de"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96c3abf143af4f6d" /><Relationship Type="http://schemas.openxmlformats.org/officeDocument/2006/relationships/slideLayout" Target="/ppt/slideLayouts/slideLayout23.xml" Id="R619e0a6ea4b9428d" /><Relationship Type="http://schemas.openxmlformats.org/officeDocument/2006/relationships/slideLayout" Target="/ppt/slideLayouts/slideLayout24.xml" Id="R064acf41ae5a4366" /><Relationship Type="http://schemas.openxmlformats.org/officeDocument/2006/relationships/slideLayout" Target="/ppt/slideLayouts/slideLayout25.xml" Id="R5c56117d5df8469b" /><Relationship Type="http://schemas.openxmlformats.org/officeDocument/2006/relationships/slideLayout" Target="/ppt/slideLayouts/slideLayout26.xml" Id="Re757833042fa4d09" /><Relationship Type="http://schemas.openxmlformats.org/officeDocument/2006/relationships/slideLayout" Target="/ppt/slideLayouts/slideLayout27.xml" Id="R0291569324b14169" /><Relationship Type="http://schemas.openxmlformats.org/officeDocument/2006/relationships/slideLayout" Target="/ppt/slideLayouts/slideLayout28.xml" Id="R78501f11cc404abd" /><Relationship Type="http://schemas.openxmlformats.org/officeDocument/2006/relationships/slideLayout" Target="/ppt/slideLayouts/slideLayout29.xml" Id="Ra182daa38b814365" /><Relationship Type="http://schemas.openxmlformats.org/officeDocument/2006/relationships/slideLayout" Target="/ppt/slideLayouts/slideLayout30.xml" Id="Re5338db09ca844d2" /><Relationship Type="http://schemas.openxmlformats.org/officeDocument/2006/relationships/slideLayout" Target="/ppt/slideLayouts/slideLayout31.xml" Id="R72754fb9f20d4a33" /><Relationship Type="http://schemas.openxmlformats.org/officeDocument/2006/relationships/slideLayout" Target="/ppt/slideLayouts/slideLayout32.xml" Id="R6859e79026684737" /><Relationship Type="http://schemas.openxmlformats.org/officeDocument/2006/relationships/slideLayout" Target="/ppt/slideLayouts/slideLayout33.xml" Id="R51ab53982cf94ba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B8760AC-D63C-5220-7F48-7A159199B38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2AE8889-EF8A-8D99-C7CD-0FCCB1C15E40}"/>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C46F12F-6D35-8BAC-E97B-F609D89E966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83EE291-C9E8-4587-B84B-4F75D5EC351E}"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DCAE9302-AF4A-54D1-60C1-A793CE5F688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C83B36-99A3-FAA6-EDBE-D4EAA412840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3D55A5B-A606-4AB1-BC8D-BE59925D6492}"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94a77d9cc4468f"/>
    <p:sldLayoutId xmlns:r="http://schemas.openxmlformats.org/officeDocument/2006/relationships" id="2147483650" r:id="Rf3d9c7d9e86e461a"/>
    <p:sldLayoutId xmlns:r="http://schemas.openxmlformats.org/officeDocument/2006/relationships" id="2147483651" r:id="R7413946372174904"/>
    <p:sldLayoutId xmlns:r="http://schemas.openxmlformats.org/officeDocument/2006/relationships" id="2147483652" r:id="R189540c31f03413a"/>
    <p:sldLayoutId xmlns:r="http://schemas.openxmlformats.org/officeDocument/2006/relationships" id="2147483653" r:id="R31b500f41c054911"/>
    <p:sldLayoutId xmlns:r="http://schemas.openxmlformats.org/officeDocument/2006/relationships" id="2147483654" r:id="R19d502528fa94ea8"/>
    <p:sldLayoutId xmlns:r="http://schemas.openxmlformats.org/officeDocument/2006/relationships" id="2147483655" r:id="Rea5312ef74364f2d"/>
    <p:sldLayoutId xmlns:r="http://schemas.openxmlformats.org/officeDocument/2006/relationships" id="2147483656" r:id="Rcad1e7f05b8c4eea"/>
    <p:sldLayoutId xmlns:r="http://schemas.openxmlformats.org/officeDocument/2006/relationships" id="2147483657" r:id="R5733f9bff8914da0"/>
    <p:sldLayoutId xmlns:r="http://schemas.openxmlformats.org/officeDocument/2006/relationships" id="2147483658" r:id="Rd9e48fe45e944a6f"/>
    <p:sldLayoutId xmlns:r="http://schemas.openxmlformats.org/officeDocument/2006/relationships" id="2147483659" r:id="R9278ac061ed84a9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A2B5C1D-A6DF-4E4A-A541-A0055CE3C5F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35C22F0-0C3A-4AFD-8297-43A83F785A9D}"/>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91FB1FA-B7C1-4771-85B1-C31FF811DD9F}"/>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A9559FBA-1A77-4519-83E4-F9F2CE82C366}"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706EB6A1-AE80-4755-9054-2C965C579B0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5EBCE2-A896-45B7-9280-372134CF7E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8B16CAC3-D4D4-4544-A2AC-E0D04D1CC24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07e5d612b0a34a17"/>
    <p:sldLayoutId xmlns:r="http://schemas.openxmlformats.org/officeDocument/2006/relationships" id="2147483662" r:id="R99a16c6e436c4a77"/>
    <p:sldLayoutId xmlns:r="http://schemas.openxmlformats.org/officeDocument/2006/relationships" id="2147483663" r:id="R49b3185eb9524806"/>
    <p:sldLayoutId xmlns:r="http://schemas.openxmlformats.org/officeDocument/2006/relationships" id="2147483664" r:id="Rd59cbeb54a1342eb"/>
    <p:sldLayoutId xmlns:r="http://schemas.openxmlformats.org/officeDocument/2006/relationships" id="2147483665" r:id="R936ac3dc0e5a4e55"/>
    <p:sldLayoutId xmlns:r="http://schemas.openxmlformats.org/officeDocument/2006/relationships" id="2147483666" r:id="Rf43088b7032b4c07"/>
    <p:sldLayoutId xmlns:r="http://schemas.openxmlformats.org/officeDocument/2006/relationships" id="2147483667" r:id="R8b7dcb8f64914233"/>
    <p:sldLayoutId xmlns:r="http://schemas.openxmlformats.org/officeDocument/2006/relationships" id="2147483668" r:id="R84d36c6fa98c41af"/>
    <p:sldLayoutId xmlns:r="http://schemas.openxmlformats.org/officeDocument/2006/relationships" id="2147483669" r:id="R94614e7871d0468c"/>
    <p:sldLayoutId xmlns:r="http://schemas.openxmlformats.org/officeDocument/2006/relationships" id="2147483670" r:id="Rd5faa084dac64fd0"/>
    <p:sldLayoutId xmlns:r="http://schemas.openxmlformats.org/officeDocument/2006/relationships" id="2147483671" r:id="Rda79a397126a49de"/>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E426648-25D7-4BB9-905F-3A1C5D18A17C}"/>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4B8B3B9-A1EB-48A1-9810-1666DC560C1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295C1E9-08B6-45FE-AF27-ED747324CF1A}"/>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C826727D-43D9-496D-A2E5-CBEBB54869F1}" type="datetimeFigureOut">
              <a:t>8/18/2026</a:t>
            </a:fld>
            <a:endParaRPr/>
          </a:p>
        </p:txBody>
      </p:sp>
      <p:sp>
        <p:nvSpPr>
          <p:cNvPr id="5" name="Footer Placeholder 4">
            <a:extLst xmlns:a="http://schemas.openxmlformats.org/drawingml/2006/main">
              <a:ext uri="{FF2B5EF4-FFF2-40B4-BE49-F238E27FC236}">
                <a16:creationId xmlns:a16="http://schemas.microsoft.com/office/drawing/2014/main" id="{74795080-1F0E-435A-853A-51016F1B580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089116E-096D-43BB-B613-A1C4E12F0D9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9471E835-D5F6-4403-95B1-BC9FD4B41D2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3" r:id="R619e0a6ea4b9428d"/>
    <p:sldLayoutId xmlns:r="http://schemas.openxmlformats.org/officeDocument/2006/relationships" id="2147483674" r:id="R064acf41ae5a4366"/>
    <p:sldLayoutId xmlns:r="http://schemas.openxmlformats.org/officeDocument/2006/relationships" id="2147483675" r:id="R5c56117d5df8469b"/>
    <p:sldLayoutId xmlns:r="http://schemas.openxmlformats.org/officeDocument/2006/relationships" id="2147483676" r:id="Re757833042fa4d09"/>
    <p:sldLayoutId xmlns:r="http://schemas.openxmlformats.org/officeDocument/2006/relationships" id="2147483677" r:id="R0291569324b14169"/>
    <p:sldLayoutId xmlns:r="http://schemas.openxmlformats.org/officeDocument/2006/relationships" id="2147483678" r:id="R78501f11cc404abd"/>
    <p:sldLayoutId xmlns:r="http://schemas.openxmlformats.org/officeDocument/2006/relationships" id="2147483679" r:id="Ra182daa38b814365"/>
    <p:sldLayoutId xmlns:r="http://schemas.openxmlformats.org/officeDocument/2006/relationships" id="2147483680" r:id="Re5338db09ca844d2"/>
    <p:sldLayoutId xmlns:r="http://schemas.openxmlformats.org/officeDocument/2006/relationships" id="2147483681" r:id="R72754fb9f20d4a33"/>
    <p:sldLayoutId xmlns:r="http://schemas.openxmlformats.org/officeDocument/2006/relationships" id="2147483682" r:id="R6859e79026684737"/>
    <p:sldLayoutId xmlns:r="http://schemas.openxmlformats.org/officeDocument/2006/relationships" id="2147483683" r:id="R51ab53982cf94ba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71a7d07b85bb4ead" /><Relationship Type="http://schemas.openxmlformats.org/officeDocument/2006/relationships/notesSlide" Target="/ppt/notesSlides/notesSlide1.xml" Id="R93c7b88bba2249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a1a0d75ff0654744" /><Relationship Type="http://schemas.openxmlformats.org/officeDocument/2006/relationships/notesSlide" Target="/ppt/notesSlides/notesSlide2.xml" Id="Rebc67d12aa6c43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223f033e4f7242b5" /><Relationship Type="http://schemas.openxmlformats.org/officeDocument/2006/relationships/notesSlide" Target="/ppt/notesSlides/notesSlide3.xml" Id="Raa12b67d47524f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619ee0a2a6314153" /><Relationship Type="http://schemas.openxmlformats.org/officeDocument/2006/relationships/notesSlide" Target="/ppt/notesSlides/notesSlide4.xml" Id="Rd508eb08f8ab49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4340b06464b54d83" /><Relationship Type="http://schemas.openxmlformats.org/officeDocument/2006/relationships/notesSlide" Target="/ppt/notesSlides/notesSlide5.xml" Id="Rb71e5e06f9a646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433f0842ca0a401f" /><Relationship Type="http://schemas.openxmlformats.org/officeDocument/2006/relationships/notesSlide" Target="/ppt/notesSlides/notesSlide6.xml" Id="R861d97675d4541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ba1f78ad7477493d" /><Relationship Type="http://schemas.openxmlformats.org/officeDocument/2006/relationships/notesSlide" Target="/ppt/notesSlides/notesSlide7.xml" Id="Re1aaf81da54b41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a5506b2c9be44d3b" /><Relationship Type="http://schemas.openxmlformats.org/officeDocument/2006/relationships/notesSlide" Target="/ppt/notesSlides/notesSlide8.xml" Id="Rae096b32418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3e3e55f7b5ea463d" /><Relationship Type="http://schemas.openxmlformats.org/officeDocument/2006/relationships/notesSlide" Target="/ppt/notesSlides/notesSlide9.xml" Id="R745b100e2c4a46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c76c4b3136f745f3" /><Relationship Type="http://schemas.openxmlformats.org/officeDocument/2006/relationships/notesSlide" Target="/ppt/notesSlides/notesSlide10.xml" Id="R4dfac7c8cdf44fd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8D030472-93A4-67E4-715B-282A0B818DBA}"/>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F55011DE-98D2-9F0B-3CF0-8B907847151E}"/>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Organisational Knowledge Is More Than File Storage</a:t>
            </a:r>
          </a:p>
        </p:txBody>
      </p:sp>
      <p:sp>
        <p:nvSpPr>
          <p:cNvPr id="20" name="Google Shape;94;p19">
            <a:extLst xmlns:a="http://schemas.openxmlformats.org/drawingml/2006/main">
              <a:ext uri="{FF2B5EF4-FFF2-40B4-BE49-F238E27FC236}">
                <a16:creationId xmlns:a16="http://schemas.microsoft.com/office/drawing/2014/main" id="{FC0527BB-876E-4C59-F75E-2DF182C08027}"/>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AC677483-6D63-F130-7A7F-FF7BB2146713}"/>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143B26DE-3454-7ED3-5843-105129C2379D}"/>
              </a:ext>
            </a:extLst>
          </p:cNvPr>
          <p:cNvSpPr>
            <a:spLocks xmlns:a="http://schemas.openxmlformats.org/drawingml/2006/main" noGrp="1"/>
          </p:cNvSpPr>
          <p:nvPr/>
        </p:nvSpPr>
        <p:spPr>
          <a:xfrm xmlns:a="http://schemas.openxmlformats.org/drawingml/2006/main">
            <a:off x="605307" y="1442766"/>
            <a:ext cx="11056117"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Useful knowledge needs five controls:</a:t>
            </a:r>
          </a:p>
          <a:p xmlns:a="http://schemas.openxmlformats.org/drawingml/2006/main">
            <a:pPr marL="22" indent="-12">
              <a:buChar char="•"/>
            </a:pPr>
            <a:r>
              <a:rPr b="1"/>
              <a:t>Authority — </a:t>
            </a:r>
            <a:r>
              <a:t>Which source is official?</a:t>
            </a:r>
          </a:p>
          <a:p xmlns:a="http://schemas.openxmlformats.org/drawingml/2006/main">
            <a:pPr marL="22" indent="-12">
              <a:buChar char="•"/>
            </a:pPr>
            <a:r>
              <a:rPr b="1"/>
              <a:t>Ownership — </a:t>
            </a:r>
            <a:r>
              <a:t>Who approves and updates it?</a:t>
            </a:r>
          </a:p>
          <a:p xmlns:a="http://schemas.openxmlformats.org/drawingml/2006/main">
            <a:pPr marL="22" indent="-12">
              <a:buChar char="•"/>
            </a:pPr>
            <a:r>
              <a:rPr b="1"/>
              <a:t>Access — </a:t>
            </a:r>
            <a:r>
              <a:t>Who is allowed to see it?</a:t>
            </a:r>
          </a:p>
          <a:p xmlns:a="http://schemas.openxmlformats.org/drawingml/2006/main">
            <a:pPr marL="22" indent="-12">
              <a:buChar char="•"/>
            </a:pPr>
            <a:r>
              <a:rPr b="1"/>
              <a:t>Freshness — </a:t>
            </a:r>
            <a:r>
              <a:t>When was it last reviewed?</a:t>
            </a:r>
          </a:p>
          <a:p xmlns:a="http://schemas.openxmlformats.org/drawingml/2006/main">
            <a:pPr marL="22" indent="-12">
              <a:buChar char="•"/>
            </a:pPr>
            <a:r>
              <a:rPr b="1"/>
              <a:t>Reuse — </a:t>
            </a:r>
            <a:r>
              <a:t>Where should people find it?</a:t>
            </a:r>
          </a:p>
          <a:p xmlns:a="http://schemas.openxmlformats.org/drawingml/2006/main">
            <a:r>
              <a:rPr b="1"/>
              <a:t>Copilot can improve retrieval. It cannot repair weak ownership or conflicting content.</a:t>
            </a:r>
          </a:p>
        </p:txBody>
      </p:sp>
    </p:spTree>
    <p:extLst>
      <p:ext uri="{BB962C8B-B14F-4D97-AF65-F5344CB8AC3E}">
        <p14:creationId xmlns:p14="http://schemas.microsoft.com/office/powerpoint/2010/main" val="9351223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C396D283-1998-9950-F96D-83B7612CDC4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780B0F05-955E-EBD5-A69C-B67956C1AAC1}"/>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Why Copilot Finds the Wrong Answer</a:t>
            </a:r>
          </a:p>
        </p:txBody>
      </p:sp>
      <p:sp>
        <p:nvSpPr>
          <p:cNvPr id="20" name="Google Shape;94;p19">
            <a:extLst xmlns:a="http://schemas.openxmlformats.org/drawingml/2006/main">
              <a:ext uri="{FF2B5EF4-FFF2-40B4-BE49-F238E27FC236}">
                <a16:creationId xmlns:a16="http://schemas.microsoft.com/office/drawing/2014/main" id="{DEB1583F-82CF-4140-B717-F2D0E684E480}"/>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A48A4BC5-ABA7-DC41-EE2A-958C77DD39B3}"/>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4C14631D-CFEB-B2CB-440A-86F29EFD8AD7}"/>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Wrong answers often begin before the prompt. Duplicate, stale, poorly labelled or over-shared content can all look relevant during retrieval.</a:t>
            </a:r>
          </a:p>
        </p:txBody>
      </p:sp>
      <p:sp>
        <p:nvSpPr>
          <p:cNvPr id="8" name="Freeform 2">
            <a:extLst xmlns:a="http://schemas.openxmlformats.org/drawingml/2006/main">
              <a:ext uri="{FF2B5EF4-FFF2-40B4-BE49-F238E27FC236}">
                <a16:creationId xmlns:a16="http://schemas.microsoft.com/office/drawing/2014/main" id="{E2DBE00A-7CC2-CB56-A84B-ABD970EBB774}"/>
              </a:ext>
            </a:extLst>
          </p:cNvPr>
          <p:cNvSpPr>
            <a:spLocks xmlns:a="http://schemas.openxmlformats.org/drawingml/2006/main" noGrp="1"/>
          </p:cNvSpPr>
          <p:nvPr/>
        </p:nvSpPr>
        <p:spPr>
          <a:xfrm xmlns:a="http://schemas.openxmlformats.org/drawingml/2006/main" rot="0" flipH="0" flipV="0">
            <a:off x="1410577" y="3222410"/>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9" name="Freeform 3">
            <a:extLst xmlns:a="http://schemas.openxmlformats.org/drawingml/2006/main">
              <a:ext uri="{FF2B5EF4-FFF2-40B4-BE49-F238E27FC236}">
                <a16:creationId xmlns:a16="http://schemas.microsoft.com/office/drawing/2014/main" id="{C45AC6DA-FA75-1566-4774-DE7D7C0F8CAD}"/>
              </a:ext>
            </a:extLst>
          </p:cNvPr>
          <p:cNvSpPr>
            <a:spLocks xmlns:a="http://schemas.openxmlformats.org/drawingml/2006/main" noGrp="1"/>
          </p:cNvSpPr>
          <p:nvPr/>
        </p:nvSpPr>
        <p:spPr>
          <a:xfrm xmlns:a="http://schemas.openxmlformats.org/drawingml/2006/main" rot="0" flipH="0" flipV="0">
            <a:off x="1187708" y="3071451"/>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1</a:t>
            </a:r>
          </a:p>
        </p:txBody>
      </p:sp>
      <p:sp>
        <p:nvSpPr>
          <p:cNvPr id="7" name="TextBox 6">
            <a:extLst xmlns:a="http://schemas.openxmlformats.org/drawingml/2006/main">
              <a:ext uri="{FF2B5EF4-FFF2-40B4-BE49-F238E27FC236}">
                <a16:creationId xmlns:a16="http://schemas.microsoft.com/office/drawing/2014/main" id="{428E30E5-738F-86A6-1DDC-FD6278255D80}"/>
              </a:ext>
            </a:extLst>
          </p:cNvPr>
          <p:cNvSpPr>
            <a:spLocks xmlns:a="http://schemas.openxmlformats.org/drawingml/2006/main" noGrp="1"/>
          </p:cNvSpPr>
          <p:nvPr/>
        </p:nvSpPr>
        <p:spPr>
          <a:xfrm xmlns:a="http://schemas.openxmlformats.org/drawingml/2006/main" rot="0" flipH="0" flipV="0">
            <a:off x="1534181" y="3576599"/>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609630">
              <a:lnSpc>
                <a:spcPct val="100000"/>
              </a:lnSpc>
              <a:spcBef>
                <a:spcPts val="0"/>
              </a:spcBef>
              <a:spcAft>
                <a:spcPts val="0"/>
              </a:spcAft>
              <a:buClrTx/>
              <a:buSzTx/>
              <a:buFontTx/>
              <a:buNone/>
            </a:pPr>
            <a:r>
              <a:rPr sz="1600" b="1" i="0" u="none" cap="none" spc="0">
                <a:ln>
                  <a:noFill/>
                </a:ln>
                <a:solidFill>
                  <a:prstClr val="black"/>
                </a:solidFill>
                <a:latin typeface="Calibri"/>
                <a:ea typeface="Calibri"/>
                <a:cs typeface="Calibri"/>
              </a:rPr>
              <a:t>Duplicate policies</a:t>
            </a:r>
          </a:p>
        </p:txBody>
      </p:sp>
      <p:sp>
        <p:nvSpPr>
          <p:cNvPr id="13" name="Freeform 2">
            <a:extLst xmlns:a="http://schemas.openxmlformats.org/drawingml/2006/main">
              <a:ext uri="{FF2B5EF4-FFF2-40B4-BE49-F238E27FC236}">
                <a16:creationId xmlns:a16="http://schemas.microsoft.com/office/drawing/2014/main" id="{D8AE1E2B-F548-1110-AF76-51E960F98B53}"/>
              </a:ext>
            </a:extLst>
          </p:cNvPr>
          <p:cNvSpPr>
            <a:spLocks xmlns:a="http://schemas.openxmlformats.org/drawingml/2006/main" noGrp="1"/>
          </p:cNvSpPr>
          <p:nvPr/>
        </p:nvSpPr>
        <p:spPr>
          <a:xfrm xmlns:a="http://schemas.openxmlformats.org/drawingml/2006/main" rot="0" flipH="0" flipV="0">
            <a:off x="4897034" y="3220694"/>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14" name="Freeform 3">
            <a:extLst xmlns:a="http://schemas.openxmlformats.org/drawingml/2006/main">
              <a:ext uri="{FF2B5EF4-FFF2-40B4-BE49-F238E27FC236}">
                <a16:creationId xmlns:a16="http://schemas.microsoft.com/office/drawing/2014/main" id="{D6E045A0-1D4F-5CCC-A221-5F3F2A07101A}"/>
              </a:ext>
            </a:extLst>
          </p:cNvPr>
          <p:cNvSpPr>
            <a:spLocks xmlns:a="http://schemas.openxmlformats.org/drawingml/2006/main" noGrp="1"/>
          </p:cNvSpPr>
          <p:nvPr/>
        </p:nvSpPr>
        <p:spPr>
          <a:xfrm xmlns:a="http://schemas.openxmlformats.org/drawingml/2006/main" rot="0" flipH="0" flipV="0">
            <a:off x="4674165" y="3069735"/>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2</a:t>
            </a:r>
          </a:p>
        </p:txBody>
      </p:sp>
      <p:sp>
        <p:nvSpPr>
          <p:cNvPr id="12" name="TextBox 11">
            <a:extLst xmlns:a="http://schemas.openxmlformats.org/drawingml/2006/main">
              <a:ext uri="{FF2B5EF4-FFF2-40B4-BE49-F238E27FC236}">
                <a16:creationId xmlns:a16="http://schemas.microsoft.com/office/drawing/2014/main" id="{EA156483-77BB-6BB0-115F-BFC05617A0DD}"/>
              </a:ext>
            </a:extLst>
          </p:cNvPr>
          <p:cNvSpPr>
            <a:spLocks xmlns:a="http://schemas.openxmlformats.org/drawingml/2006/main" noGrp="1"/>
          </p:cNvSpPr>
          <p:nvPr/>
        </p:nvSpPr>
        <p:spPr>
          <a:xfrm xmlns:a="http://schemas.openxmlformats.org/drawingml/2006/main" rot="0" flipH="0" flipV="0">
            <a:off x="4912819" y="3577846"/>
            <a:ext cx="283442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Obsolete articles</a:t>
            </a:r>
            <a:endParaRPr sz="1467" b="0" i="0" u="none" kern="0" cap="none" spc="0" baseline="0">
              <a:ln>
                <a:noFill/>
              </a:ln>
              <a:solidFill>
                <a:prstClr val="black"/>
              </a:solidFill>
              <a:latin typeface="Calibri"/>
              <a:ea typeface="Calibri"/>
              <a:cs typeface="Calibri"/>
            </a:endParaRPr>
          </a:p>
        </p:txBody>
      </p:sp>
      <p:sp>
        <p:nvSpPr>
          <p:cNvPr id="22" name="Freeform 2">
            <a:extLst xmlns:a="http://schemas.openxmlformats.org/drawingml/2006/main">
              <a:ext uri="{FF2B5EF4-FFF2-40B4-BE49-F238E27FC236}">
                <a16:creationId xmlns:a16="http://schemas.microsoft.com/office/drawing/2014/main" id="{F34B2837-6712-1649-E6D6-FD214E360A37}"/>
              </a:ext>
            </a:extLst>
          </p:cNvPr>
          <p:cNvSpPr>
            <a:spLocks xmlns:a="http://schemas.openxmlformats.org/drawingml/2006/main" noGrp="1"/>
          </p:cNvSpPr>
          <p:nvPr/>
        </p:nvSpPr>
        <p:spPr>
          <a:xfrm xmlns:a="http://schemas.openxmlformats.org/drawingml/2006/main" rot="0" flipH="0" flipV="0">
            <a:off x="8383492" y="3220694"/>
            <a:ext cx="2834420" cy="1139404"/>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3" name="Freeform 3">
            <a:extLst xmlns:a="http://schemas.openxmlformats.org/drawingml/2006/main">
              <a:ext uri="{FF2B5EF4-FFF2-40B4-BE49-F238E27FC236}">
                <a16:creationId xmlns:a16="http://schemas.microsoft.com/office/drawing/2014/main" id="{E5D1E5B4-8BBC-71CD-ECC9-112D7342C464}"/>
              </a:ext>
            </a:extLst>
          </p:cNvPr>
          <p:cNvSpPr>
            <a:spLocks xmlns:a="http://schemas.openxmlformats.org/drawingml/2006/main" noGrp="1"/>
          </p:cNvSpPr>
          <p:nvPr/>
        </p:nvSpPr>
        <p:spPr>
          <a:xfrm xmlns:a="http://schemas.openxmlformats.org/drawingml/2006/main" rot="0" flipH="0" flipV="0">
            <a:off x="8160623" y="306973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3</a:t>
            </a:r>
          </a:p>
        </p:txBody>
      </p:sp>
      <p:sp>
        <p:nvSpPr>
          <p:cNvPr id="18" name="TextBox 17">
            <a:extLst xmlns:a="http://schemas.openxmlformats.org/drawingml/2006/main">
              <a:ext uri="{FF2B5EF4-FFF2-40B4-BE49-F238E27FC236}">
                <a16:creationId xmlns:a16="http://schemas.microsoft.com/office/drawing/2014/main" id="{7FFD516B-0F8E-280E-72B3-4B03ADA5956C}"/>
              </a:ext>
            </a:extLst>
          </p:cNvPr>
          <p:cNvSpPr>
            <a:spLocks xmlns:a="http://schemas.openxmlformats.org/drawingml/2006/main" noGrp="1"/>
          </p:cNvSpPr>
          <p:nvPr/>
        </p:nvSpPr>
        <p:spPr>
          <a:xfrm xmlns:a="http://schemas.openxmlformats.org/drawingml/2006/main" rot="0" flipH="0" flipV="0">
            <a:off x="8492025" y="3572978"/>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Missing metadata</a:t>
            </a:r>
            <a:endParaRPr sz="1600" b="1" i="0" u="none" kern="0" cap="none" spc="0" baseline="0">
              <a:ln>
                <a:noFill/>
              </a:ln>
              <a:solidFill>
                <a:prstClr val="black"/>
              </a:solidFill>
              <a:latin typeface="Calibri"/>
              <a:ea typeface="Calibri"/>
              <a:cs typeface="Calibri"/>
            </a:endParaRPr>
          </a:p>
        </p:txBody>
      </p:sp>
      <p:sp>
        <p:nvSpPr>
          <p:cNvPr id="27" name="Freeform 2">
            <a:extLst xmlns:a="http://schemas.openxmlformats.org/drawingml/2006/main">
              <a:ext uri="{FF2B5EF4-FFF2-40B4-BE49-F238E27FC236}">
                <a16:creationId xmlns:a16="http://schemas.microsoft.com/office/drawing/2014/main" id="{16891978-EE90-B8F1-546A-0E80E8BA35EF}"/>
              </a:ext>
            </a:extLst>
          </p:cNvPr>
          <p:cNvSpPr>
            <a:spLocks xmlns:a="http://schemas.openxmlformats.org/drawingml/2006/main" noGrp="1"/>
          </p:cNvSpPr>
          <p:nvPr/>
        </p:nvSpPr>
        <p:spPr>
          <a:xfrm xmlns:a="http://schemas.openxmlformats.org/drawingml/2006/main" rot="0" flipH="0" flipV="0">
            <a:off x="1438532" y="491713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8" name="Freeform 3">
            <a:extLst xmlns:a="http://schemas.openxmlformats.org/drawingml/2006/main">
              <a:ext uri="{FF2B5EF4-FFF2-40B4-BE49-F238E27FC236}">
                <a16:creationId xmlns:a16="http://schemas.microsoft.com/office/drawing/2014/main" id="{9B678107-6042-D40B-9F23-041BB1B48810}"/>
              </a:ext>
            </a:extLst>
          </p:cNvPr>
          <p:cNvSpPr>
            <a:spLocks xmlns:a="http://schemas.openxmlformats.org/drawingml/2006/main" noGrp="1"/>
          </p:cNvSpPr>
          <p:nvPr/>
        </p:nvSpPr>
        <p:spPr>
          <a:xfrm xmlns:a="http://schemas.openxmlformats.org/drawingml/2006/main" rot="0" flipH="0" flipV="0">
            <a:off x="1215663" y="4766176"/>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4</a:t>
            </a:r>
          </a:p>
        </p:txBody>
      </p:sp>
      <p:sp>
        <p:nvSpPr>
          <p:cNvPr id="26" name="TextBox 25">
            <a:extLst xmlns:a="http://schemas.openxmlformats.org/drawingml/2006/main">
              <a:ext uri="{FF2B5EF4-FFF2-40B4-BE49-F238E27FC236}">
                <a16:creationId xmlns:a16="http://schemas.microsoft.com/office/drawing/2014/main" id="{0AF03C4D-BE12-903F-7FA0-C844058395DF}"/>
              </a:ext>
            </a:extLst>
          </p:cNvPr>
          <p:cNvSpPr>
            <a:spLocks xmlns:a="http://schemas.openxmlformats.org/drawingml/2006/main" noGrp="1"/>
          </p:cNvSpPr>
          <p:nvPr/>
        </p:nvSpPr>
        <p:spPr>
          <a:xfrm xmlns:a="http://schemas.openxmlformats.org/drawingml/2006/main" rot="0" flipH="0" flipV="0">
            <a:off x="1506226" y="5260728"/>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Broad permissions</a:t>
            </a:r>
            <a:endParaRPr sz="1600" b="1" i="0" u="none" kern="0" cap="none" spc="0" baseline="0">
              <a:ln>
                <a:noFill/>
              </a:ln>
              <a:solidFill>
                <a:prstClr val="black"/>
              </a:solidFill>
              <a:latin typeface="Calibri"/>
              <a:ea typeface="Calibri"/>
              <a:cs typeface="Calibri"/>
            </a:endParaRPr>
          </a:p>
        </p:txBody>
      </p:sp>
      <p:sp>
        <p:nvSpPr>
          <p:cNvPr id="32" name="Freeform 2">
            <a:extLst xmlns:a="http://schemas.openxmlformats.org/drawingml/2006/main">
              <a:ext uri="{FF2B5EF4-FFF2-40B4-BE49-F238E27FC236}">
                <a16:creationId xmlns:a16="http://schemas.microsoft.com/office/drawing/2014/main" id="{F656A45D-161B-75C5-9177-D8340131AC25}"/>
              </a:ext>
            </a:extLst>
          </p:cNvPr>
          <p:cNvSpPr>
            <a:spLocks xmlns:a="http://schemas.openxmlformats.org/drawingml/2006/main" noGrp="1"/>
          </p:cNvSpPr>
          <p:nvPr/>
        </p:nvSpPr>
        <p:spPr>
          <a:xfrm xmlns:a="http://schemas.openxmlformats.org/drawingml/2006/main" rot="0" flipH="0" flipV="0">
            <a:off x="5008468" y="491192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3" name="Freeform 3">
            <a:extLst xmlns:a="http://schemas.openxmlformats.org/drawingml/2006/main">
              <a:ext uri="{FF2B5EF4-FFF2-40B4-BE49-F238E27FC236}">
                <a16:creationId xmlns:a16="http://schemas.microsoft.com/office/drawing/2014/main" id="{6B68E53E-0629-330A-EA8E-C8DDBE321E29}"/>
              </a:ext>
            </a:extLst>
          </p:cNvPr>
          <p:cNvSpPr>
            <a:spLocks xmlns:a="http://schemas.openxmlformats.org/drawingml/2006/main" noGrp="1"/>
          </p:cNvSpPr>
          <p:nvPr/>
        </p:nvSpPr>
        <p:spPr>
          <a:xfrm xmlns:a="http://schemas.openxmlformats.org/drawingml/2006/main" rot="0" flipH="0" flipV="0">
            <a:off x="4785599" y="476096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5</a:t>
            </a:r>
          </a:p>
        </p:txBody>
      </p:sp>
      <p:sp>
        <p:nvSpPr>
          <p:cNvPr id="31" name="TextBox 30">
            <a:extLst xmlns:a="http://schemas.openxmlformats.org/drawingml/2006/main">
              <a:ext uri="{FF2B5EF4-FFF2-40B4-BE49-F238E27FC236}">
                <a16:creationId xmlns:a16="http://schemas.microsoft.com/office/drawing/2014/main" id="{6EEC897E-FB4D-4474-FEF0-ED62ACB6A128}"/>
              </a:ext>
            </a:extLst>
          </p:cNvPr>
          <p:cNvSpPr>
            <a:spLocks xmlns:a="http://schemas.openxmlformats.org/drawingml/2006/main" noGrp="1"/>
          </p:cNvSpPr>
          <p:nvPr/>
        </p:nvSpPr>
        <p:spPr>
          <a:xfrm xmlns:a="http://schemas.openxmlformats.org/drawingml/2006/main" rot="0" flipH="0" flipV="0">
            <a:off x="5104117" y="5266032"/>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Conflicting sources</a:t>
            </a:r>
            <a:endParaRPr sz="1600" b="1" i="0" u="none" kern="0" cap="none" spc="0" baseline="0">
              <a:ln>
                <a:noFill/>
              </a:ln>
              <a:solidFill>
                <a:prstClr val="black"/>
              </a:solidFill>
              <a:latin typeface="Calibri"/>
              <a:ea typeface="Calibri"/>
              <a:cs typeface="Calibri"/>
            </a:endParaRPr>
          </a:p>
        </p:txBody>
      </p:sp>
      <p:sp>
        <p:nvSpPr>
          <p:cNvPr id="37" name="Freeform 2">
            <a:extLst xmlns:a="http://schemas.openxmlformats.org/drawingml/2006/main">
              <a:ext uri="{FF2B5EF4-FFF2-40B4-BE49-F238E27FC236}">
                <a16:creationId xmlns:a16="http://schemas.microsoft.com/office/drawing/2014/main" id="{DA2C3D72-3CD2-FB2C-D2FC-F803134D1B5A}"/>
              </a:ext>
            </a:extLst>
          </p:cNvPr>
          <p:cNvSpPr>
            <a:spLocks xmlns:a="http://schemas.openxmlformats.org/drawingml/2006/main" noGrp="1"/>
          </p:cNvSpPr>
          <p:nvPr/>
        </p:nvSpPr>
        <p:spPr>
          <a:xfrm xmlns:a="http://schemas.openxmlformats.org/drawingml/2006/main" rot="0" flipH="0" flipV="0">
            <a:off x="8494926" y="4865608"/>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8" name="Freeform 3">
            <a:extLst xmlns:a="http://schemas.openxmlformats.org/drawingml/2006/main">
              <a:ext uri="{FF2B5EF4-FFF2-40B4-BE49-F238E27FC236}">
                <a16:creationId xmlns:a16="http://schemas.microsoft.com/office/drawing/2014/main" id="{0134B811-BE61-C9A3-A684-660DDAF850A6}"/>
              </a:ext>
            </a:extLst>
          </p:cNvPr>
          <p:cNvSpPr>
            <a:spLocks xmlns:a="http://schemas.openxmlformats.org/drawingml/2006/main" noGrp="1"/>
          </p:cNvSpPr>
          <p:nvPr/>
        </p:nvSpPr>
        <p:spPr>
          <a:xfrm xmlns:a="http://schemas.openxmlformats.org/drawingml/2006/main" rot="0" flipH="0" flipV="0">
            <a:off x="8272057" y="4714649"/>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6</a:t>
            </a:r>
          </a:p>
        </p:txBody>
      </p:sp>
      <p:sp>
        <p:nvSpPr>
          <p:cNvPr id="36" name="TextBox 35">
            <a:extLst xmlns:a="http://schemas.openxmlformats.org/drawingml/2006/main">
              <a:ext uri="{FF2B5EF4-FFF2-40B4-BE49-F238E27FC236}">
                <a16:creationId xmlns:a16="http://schemas.microsoft.com/office/drawing/2014/main" id="{C7B43436-C53A-41FF-2626-538CA297E34B}"/>
              </a:ext>
            </a:extLst>
          </p:cNvPr>
          <p:cNvSpPr>
            <a:spLocks xmlns:a="http://schemas.openxmlformats.org/drawingml/2006/main" noGrp="1"/>
          </p:cNvSpPr>
          <p:nvPr/>
        </p:nvSpPr>
        <p:spPr>
          <a:xfrm xmlns:a="http://schemas.openxmlformats.org/drawingml/2006/main" rot="0" flipH="0" flipV="0">
            <a:off x="8603459" y="5234112"/>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No content owner</a:t>
            </a:r>
            <a:endParaRPr sz="1600" b="1" i="0" u="none" kern="0" cap="none" spc="0" baseline="0">
              <a:ln>
                <a:noFill/>
              </a:ln>
              <a:solidFill>
                <a:prstClr val="black"/>
              </a:solidFill>
              <a:latin typeface="Calibri"/>
              <a:ea typeface="Calibri"/>
              <a:cs typeface="Calibri"/>
            </a:endParaRPr>
          </a:p>
        </p:txBody>
      </p:sp>
    </p:spTree>
    <p:extLst>
      <p:ext uri="{BB962C8B-B14F-4D97-AF65-F5344CB8AC3E}">
        <p14:creationId xmlns:p14="http://schemas.microsoft.com/office/powerpoint/2010/main" val="39473544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8D030472-93A4-67E4-715B-282A0B818DBA}"/>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F55011DE-98D2-9F0B-3CF0-8B907847151E}"/>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Copilot Chat or a Knowledge Agent?</a:t>
            </a:r>
          </a:p>
        </p:txBody>
      </p:sp>
      <p:sp>
        <p:nvSpPr>
          <p:cNvPr id="20" name="Google Shape;94;p19">
            <a:extLst xmlns:a="http://schemas.openxmlformats.org/drawingml/2006/main">
              <a:ext uri="{FF2B5EF4-FFF2-40B4-BE49-F238E27FC236}">
                <a16:creationId xmlns:a16="http://schemas.microsoft.com/office/drawing/2014/main" id="{FC0527BB-876E-4C59-F75E-2DF182C08027}"/>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AC677483-6D63-F130-7A7F-FF7BB2146713}"/>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143B26DE-3454-7ED3-5843-105129C2379D}"/>
              </a:ext>
            </a:extLst>
          </p:cNvPr>
          <p:cNvSpPr>
            <a:spLocks xmlns:a="http://schemas.openxmlformats.org/drawingml/2006/main" noGrp="1"/>
          </p:cNvSpPr>
          <p:nvPr/>
        </p:nvSpPr>
        <p:spPr>
          <a:xfrm xmlns:a="http://schemas.openxmlformats.org/drawingml/2006/main">
            <a:off x="605307" y="1442766"/>
            <a:ext cx="11056117"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Use Copilot Chat when:</a:t>
            </a:r>
          </a:p>
          <a:p xmlns:a="http://schemas.openxmlformats.org/drawingml/2006/main">
            <a:pPr marL="22" indent="-12">
              <a:buChar char="•"/>
            </a:pPr>
            <a:r>
              <a:t>The question is ad hoc and the user can define the source.</a:t>
            </a:r>
          </a:p>
          <a:p xmlns:a="http://schemas.openxmlformats.org/drawingml/2006/main">
            <a:pPr marL="22" indent="-12">
              <a:buChar char="•"/>
            </a:pPr>
            <a:r>
              <a:t>The user can check the answer and owns the next step.</a:t>
            </a:r>
          </a:p>
          <a:p xmlns:a="http://schemas.openxmlformats.org/drawingml/2006/main">
            <a:r>
              <a:rPr b="1"/>
              <a:t>Use a knowledge agent when:</a:t>
            </a:r>
          </a:p>
          <a:p xmlns:a="http://schemas.openxmlformats.org/drawingml/2006/main">
            <a:pPr marL="22" indent="-12">
              <a:buChar char="•"/>
            </a:pPr>
            <a:r>
              <a:t>The same questions repeat and sources or response rules should be consistent.</a:t>
            </a:r>
          </a:p>
          <a:p xmlns:a="http://schemas.openxmlformats.org/drawingml/2006/main">
            <a:pPr marL="22" indent="-12">
              <a:buChar char="•"/>
            </a:pPr>
            <a:r>
              <a:t>Citations, uncertainty and escalation must be built into the experience.</a:t>
            </a:r>
          </a:p>
          <a:p xmlns:a="http://schemas.openxmlformats.org/drawingml/2006/main">
            <a:r>
              <a:t>Use Copilot Studio when stricter grounding, workflows or production governance are required.</a:t>
            </a:r>
          </a:p>
        </p:txBody>
      </p:sp>
    </p:spTree>
    <p:extLst>
      <p:ext uri="{BB962C8B-B14F-4D97-AF65-F5344CB8AC3E}">
        <p14:creationId xmlns:p14="http://schemas.microsoft.com/office/powerpoint/2010/main" val="9351223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F8A79285-28DC-F9DE-49DC-A7A0E9BCC84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D3B2CAC2-41D8-8578-7971-F47AE7439C00}"/>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One Knowledge Experience Across Systems</a:t>
            </a:r>
          </a:p>
        </p:txBody>
      </p:sp>
      <p:sp>
        <p:nvSpPr>
          <p:cNvPr id="20" name="Google Shape;94;p19">
            <a:extLst xmlns:a="http://schemas.openxmlformats.org/drawingml/2006/main">
              <a:ext uri="{FF2B5EF4-FFF2-40B4-BE49-F238E27FC236}">
                <a16:creationId xmlns:a16="http://schemas.microsoft.com/office/drawing/2014/main" id="{6EE3AC3C-42B1-72DE-9F50-B82EE63942BD}"/>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462F345E-3C9A-52E8-E0A7-59B03AEEAD4B}"/>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3FDCCBEF-F0A3-9C69-7A26-6DC4AD5A6169}"/>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Do not copy every ServiceNow article into SharePoint. Keep each approved item in its authoritative system and make it discoverable through governed connections.</a:t>
            </a:r>
          </a:p>
        </p:txBody>
      </p:sp>
      <p:sp>
        <p:nvSpPr>
          <p:cNvPr id="29" name="Rectangle: Diagonal Corners Snipped 28">
            <a:extLst xmlns:a="http://schemas.openxmlformats.org/drawingml/2006/main">
              <a:ext uri="{FF2B5EF4-FFF2-40B4-BE49-F238E27FC236}">
                <a16:creationId xmlns:a16="http://schemas.microsoft.com/office/drawing/2014/main" id="{C3CB7AE8-25BF-0DAB-59A9-60C423839A7A}"/>
              </a:ext>
            </a:extLst>
          </p:cNvPr>
          <p:cNvSpPr>
            <a:spLocks xmlns:a="http://schemas.openxmlformats.org/drawingml/2006/main" noGrp="1"/>
          </p:cNvSpPr>
          <p:nvPr/>
        </p:nvSpPr>
        <p:spPr>
          <a:xfrm xmlns:a="http://schemas.openxmlformats.org/drawingml/2006/main" rot="0" flipH="0" flipV="0">
            <a:off x="929653" y="3280923"/>
            <a:ext cx="2835533" cy="1126524"/>
          </a:xfrm>
          <a:prstGeom xmlns:a="http://schemas.openxmlformats.org/drawingml/2006/main" prst="snip2DiagRect">
            <a:avLst/>
          </a:prstGeom>
          <a:solidFill xmlns:a="http://schemas.openxmlformats.org/drawingml/2006/main">
            <a:srgbClr val="ED7D31">
              <a:lumMod val="75000"/>
            </a:srgbClr>
          </a:solidFill>
          <a:ln xmlns:a="http://schemas.openxmlformats.org/drawingml/2006/main" w="12700" cmpd="sng">
            <a:solidFill>
              <a:srgbClr val="ED7D31">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30" name="Rectangle: Diagonal Corners Snipped 29">
            <a:extLst xmlns:a="http://schemas.openxmlformats.org/drawingml/2006/main">
              <a:ext uri="{FF2B5EF4-FFF2-40B4-BE49-F238E27FC236}">
                <a16:creationId xmlns:a16="http://schemas.microsoft.com/office/drawing/2014/main" id="{93116C05-9B4C-5F55-627B-A75CA6A4E9B2}"/>
              </a:ext>
            </a:extLst>
          </p:cNvPr>
          <p:cNvSpPr>
            <a:spLocks xmlns:a="http://schemas.openxmlformats.org/drawingml/2006/main" noGrp="1"/>
          </p:cNvSpPr>
          <p:nvPr/>
        </p:nvSpPr>
        <p:spPr>
          <a:xfrm xmlns:a="http://schemas.openxmlformats.org/drawingml/2006/main" rot="0" flipH="0" flipV="0">
            <a:off x="997862" y="3352223"/>
            <a:ext cx="2835533" cy="1126524"/>
          </a:xfrm>
          <a:prstGeom xmlns:a="http://schemas.openxmlformats.org/drawingml/2006/main" prst="snip2DiagRect">
            <a:avLst/>
          </a:prstGeom>
          <a:solidFill xmlns:a="http://schemas.openxmlformats.org/drawingml/2006/main">
            <a:srgbClr val="ED7D31">
              <a:lumMod val="20000"/>
              <a:lumOff val="80000"/>
            </a:srgbClr>
          </a:solidFill>
          <a:ln xmlns:a="http://schemas.openxmlformats.org/drawingml/2006/main" w="12700" cmpd="sng">
            <a:solidFill>
              <a:srgbClr val="ED7D31">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31" name="TextBox 30">
            <a:extLst xmlns:a="http://schemas.openxmlformats.org/drawingml/2006/main">
              <a:ext uri="{FF2B5EF4-FFF2-40B4-BE49-F238E27FC236}">
                <a16:creationId xmlns:a16="http://schemas.microsoft.com/office/drawing/2014/main" id="{3137764D-49E6-E3B2-CBF5-D882A90C14FE}"/>
              </a:ext>
            </a:extLst>
          </p:cNvPr>
          <p:cNvSpPr>
            <a:spLocks xmlns:a="http://schemas.openxmlformats.org/drawingml/2006/main" noGrp="1"/>
          </p:cNvSpPr>
          <p:nvPr/>
        </p:nvSpPr>
        <p:spPr>
          <a:xfrm xmlns:a="http://schemas.openxmlformats.org/drawingml/2006/main" rot="0" flipH="0" flipV="0">
            <a:off x="1163055" y="3586354"/>
            <a:ext cx="2606038"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SharePoint policies</a:t>
            </a:r>
          </a:p>
        </p:txBody>
      </p:sp>
      <p:sp>
        <p:nvSpPr>
          <p:cNvPr id="26" name="Rectangle: Diagonal Corners Snipped 25">
            <a:extLst xmlns:a="http://schemas.openxmlformats.org/drawingml/2006/main">
              <a:ext uri="{FF2B5EF4-FFF2-40B4-BE49-F238E27FC236}">
                <a16:creationId xmlns:a16="http://schemas.microsoft.com/office/drawing/2014/main" id="{901C01B5-41FF-B4E2-A36D-2CBDB8D775E6}"/>
              </a:ext>
            </a:extLst>
          </p:cNvPr>
          <p:cNvSpPr>
            <a:spLocks xmlns:a="http://schemas.openxmlformats.org/drawingml/2006/main" noGrp="1"/>
          </p:cNvSpPr>
          <p:nvPr/>
        </p:nvSpPr>
        <p:spPr>
          <a:xfrm xmlns:a="http://schemas.openxmlformats.org/drawingml/2006/main" rot="0" flipH="0" flipV="0">
            <a:off x="3917182" y="3280924"/>
            <a:ext cx="2835531" cy="1126524"/>
          </a:xfrm>
          <a:prstGeom xmlns:a="http://schemas.openxmlformats.org/drawingml/2006/main" prst="snip2DiagRect">
            <a:avLst/>
          </a:prstGeom>
          <a:solidFill xmlns:a="http://schemas.openxmlformats.org/drawingml/2006/main">
            <a:srgbClr val="4472C4">
              <a:lumMod val="75000"/>
            </a:srgbClr>
          </a:solidFill>
          <a:ln xmlns:a="http://schemas.openxmlformats.org/drawingml/2006/main" w="12700" cmpd="sng">
            <a:solidFill>
              <a:srgbClr val="4472C4">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7" name="Rectangle: Diagonal Corners Snipped 26">
            <a:extLst xmlns:a="http://schemas.openxmlformats.org/drawingml/2006/main">
              <a:ext uri="{FF2B5EF4-FFF2-40B4-BE49-F238E27FC236}">
                <a16:creationId xmlns:a16="http://schemas.microsoft.com/office/drawing/2014/main" id="{0A4F23CC-CAAE-DEAA-4966-312516DAE716}"/>
              </a:ext>
            </a:extLst>
          </p:cNvPr>
          <p:cNvSpPr>
            <a:spLocks xmlns:a="http://schemas.openxmlformats.org/drawingml/2006/main" noGrp="1"/>
          </p:cNvSpPr>
          <p:nvPr/>
        </p:nvSpPr>
        <p:spPr>
          <a:xfrm xmlns:a="http://schemas.openxmlformats.org/drawingml/2006/main" rot="0" flipH="0" flipV="0">
            <a:off x="3985391" y="3352224"/>
            <a:ext cx="2835531" cy="1126524"/>
          </a:xfrm>
          <a:prstGeom xmlns:a="http://schemas.openxmlformats.org/drawingml/2006/main" prst="snip2DiagRect">
            <a:avLst/>
          </a:prstGeom>
          <a:solidFill xmlns:a="http://schemas.openxmlformats.org/drawingml/2006/main">
            <a:srgbClr val="4472C4">
              <a:lumMod val="20000"/>
              <a:lumOff val="80000"/>
            </a:srgbClr>
          </a:solidFill>
          <a:ln xmlns:a="http://schemas.openxmlformats.org/drawingml/2006/main" w="12700" cmpd="sng">
            <a:solidFill>
              <a:srgbClr val="4472C4">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8" name="TextBox 27">
            <a:extLst xmlns:a="http://schemas.openxmlformats.org/drawingml/2006/main">
              <a:ext uri="{FF2B5EF4-FFF2-40B4-BE49-F238E27FC236}">
                <a16:creationId xmlns:a16="http://schemas.microsoft.com/office/drawing/2014/main" id="{ECB61D13-C4C2-F71C-95DC-D1DDC8D684B7}"/>
              </a:ext>
            </a:extLst>
          </p:cNvPr>
          <p:cNvSpPr>
            <a:spLocks xmlns:a="http://schemas.openxmlformats.org/drawingml/2006/main" noGrp="1"/>
          </p:cNvSpPr>
          <p:nvPr/>
        </p:nvSpPr>
        <p:spPr>
          <a:xfrm xmlns:a="http://schemas.openxmlformats.org/drawingml/2006/main" rot="0" flipH="0" flipV="0">
            <a:off x="4255166" y="3594872"/>
            <a:ext cx="239071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ServiceNow knowledge</a:t>
            </a:r>
          </a:p>
        </p:txBody>
      </p:sp>
      <p:sp>
        <p:nvSpPr>
          <p:cNvPr id="23" name="Rectangle: Diagonal Corners Snipped 22">
            <a:extLst xmlns:a="http://schemas.openxmlformats.org/drawingml/2006/main">
              <a:ext uri="{FF2B5EF4-FFF2-40B4-BE49-F238E27FC236}">
                <a16:creationId xmlns:a16="http://schemas.microsoft.com/office/drawing/2014/main" id="{A624F8B0-B00E-49B9-46BF-DAECCB71DB20}"/>
              </a:ext>
            </a:extLst>
          </p:cNvPr>
          <p:cNvSpPr>
            <a:spLocks xmlns:a="http://schemas.openxmlformats.org/drawingml/2006/main" noGrp="1"/>
          </p:cNvSpPr>
          <p:nvPr/>
        </p:nvSpPr>
        <p:spPr>
          <a:xfrm xmlns:a="http://schemas.openxmlformats.org/drawingml/2006/main" rot="0" flipH="0" flipV="0">
            <a:off x="6904712" y="3280923"/>
            <a:ext cx="2835531" cy="1126524"/>
          </a:xfrm>
          <a:prstGeom xmlns:a="http://schemas.openxmlformats.org/drawingml/2006/main" prst="snip2DiagRect">
            <a:avLst/>
          </a:prstGeom>
          <a:solidFill xmlns:a="http://schemas.openxmlformats.org/drawingml/2006/main">
            <a:srgbClr val="70AD47">
              <a:lumMod val="75000"/>
            </a:srgbClr>
          </a:solidFill>
          <a:ln xmlns:a="http://schemas.openxmlformats.org/drawingml/2006/main" w="12700" cmpd="sng">
            <a:solidFill>
              <a:srgbClr val="70AD47">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4" name="Rectangle: Diagonal Corners Snipped 23">
            <a:extLst xmlns:a="http://schemas.openxmlformats.org/drawingml/2006/main">
              <a:ext uri="{FF2B5EF4-FFF2-40B4-BE49-F238E27FC236}">
                <a16:creationId xmlns:a16="http://schemas.microsoft.com/office/drawing/2014/main" id="{2784985A-5736-984E-C2C7-113A8B94A9F0}"/>
              </a:ext>
            </a:extLst>
          </p:cNvPr>
          <p:cNvSpPr>
            <a:spLocks xmlns:a="http://schemas.openxmlformats.org/drawingml/2006/main" noGrp="1"/>
          </p:cNvSpPr>
          <p:nvPr/>
        </p:nvSpPr>
        <p:spPr>
          <a:xfrm xmlns:a="http://schemas.openxmlformats.org/drawingml/2006/main" rot="0" flipH="0" flipV="0">
            <a:off x="6972921" y="3352223"/>
            <a:ext cx="2835531" cy="1126524"/>
          </a:xfrm>
          <a:prstGeom xmlns:a="http://schemas.openxmlformats.org/drawingml/2006/main" prst="snip2DiagRect">
            <a:avLst/>
          </a:prstGeom>
          <a:solidFill xmlns:a="http://schemas.openxmlformats.org/drawingml/2006/main">
            <a:srgbClr val="70AD47">
              <a:lumMod val="20000"/>
              <a:lumOff val="80000"/>
            </a:srgbClr>
          </a:solidFill>
          <a:ln xmlns:a="http://schemas.openxmlformats.org/drawingml/2006/main" w="12700" cmpd="sng">
            <a:solidFill>
              <a:srgbClr val="70AD47">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5" name="TextBox 24">
            <a:extLst xmlns:a="http://schemas.openxmlformats.org/drawingml/2006/main">
              <a:ext uri="{FF2B5EF4-FFF2-40B4-BE49-F238E27FC236}">
                <a16:creationId xmlns:a16="http://schemas.microsoft.com/office/drawing/2014/main" id="{FDF625C2-42B4-38A1-882C-2148A34DCFF8}"/>
              </a:ext>
            </a:extLst>
          </p:cNvPr>
          <p:cNvSpPr>
            <a:spLocks xmlns:a="http://schemas.openxmlformats.org/drawingml/2006/main" noGrp="1"/>
          </p:cNvSpPr>
          <p:nvPr/>
        </p:nvSpPr>
        <p:spPr>
          <a:xfrm xmlns:a="http://schemas.openxmlformats.org/drawingml/2006/main" rot="0" flipH="0" flipV="0">
            <a:off x="6951443" y="3704690"/>
            <a:ext cx="2835534"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Copilot connector</a:t>
            </a:r>
          </a:p>
        </p:txBody>
      </p:sp>
      <p:sp>
        <p:nvSpPr>
          <p:cNvPr id="16" name="Rectangle: Diagonal Corners Snipped 15">
            <a:extLst xmlns:a="http://schemas.openxmlformats.org/drawingml/2006/main">
              <a:ext uri="{FF2B5EF4-FFF2-40B4-BE49-F238E27FC236}">
                <a16:creationId xmlns:a16="http://schemas.microsoft.com/office/drawing/2014/main" id="{6F732226-4F7F-8D3B-2A84-E347E06AFC34}"/>
              </a:ext>
            </a:extLst>
          </p:cNvPr>
          <p:cNvSpPr>
            <a:spLocks xmlns:a="http://schemas.openxmlformats.org/drawingml/2006/main" noGrp="1"/>
          </p:cNvSpPr>
          <p:nvPr/>
        </p:nvSpPr>
        <p:spPr>
          <a:xfrm xmlns:a="http://schemas.openxmlformats.org/drawingml/2006/main" rot="0" flipH="0" flipV="0">
            <a:off x="2382645" y="4820710"/>
            <a:ext cx="2835541" cy="1126521"/>
          </a:xfrm>
          <a:prstGeom xmlns:a="http://schemas.openxmlformats.org/drawingml/2006/main" prst="snip2DiagRect">
            <a:avLst/>
          </a:prstGeom>
          <a:solidFill xmlns:a="http://schemas.openxmlformats.org/drawingml/2006/main">
            <a:srgbClr val="4BACC6">
              <a:lumMod val="75000"/>
            </a:srgbClr>
          </a:solidFill>
          <a:ln xmlns:a="http://schemas.openxmlformats.org/drawingml/2006/main" w="12700" cmpd="sng">
            <a:solidFill>
              <a:srgbClr val="4BACC6">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8" name="Rectangle: Diagonal Corners Snipped 17">
            <a:extLst xmlns:a="http://schemas.openxmlformats.org/drawingml/2006/main">
              <a:ext uri="{FF2B5EF4-FFF2-40B4-BE49-F238E27FC236}">
                <a16:creationId xmlns:a16="http://schemas.microsoft.com/office/drawing/2014/main" id="{9E32631D-246F-60A8-1E7E-BB1F97B1C7C2}"/>
              </a:ext>
            </a:extLst>
          </p:cNvPr>
          <p:cNvSpPr>
            <a:spLocks xmlns:a="http://schemas.openxmlformats.org/drawingml/2006/main" noGrp="1"/>
          </p:cNvSpPr>
          <p:nvPr/>
        </p:nvSpPr>
        <p:spPr>
          <a:xfrm xmlns:a="http://schemas.openxmlformats.org/drawingml/2006/main" rot="0" flipH="0" flipV="0">
            <a:off x="2450854" y="4892010"/>
            <a:ext cx="2835541" cy="1126521"/>
          </a:xfrm>
          <a:prstGeom xmlns:a="http://schemas.openxmlformats.org/drawingml/2006/main" prst="snip2DiagRect">
            <a:avLst/>
          </a:prstGeom>
          <a:solidFill xmlns:a="http://schemas.openxmlformats.org/drawingml/2006/main">
            <a:srgbClr val="4BACC6">
              <a:lumMod val="20000"/>
              <a:lumOff val="80000"/>
            </a:srgbClr>
          </a:solidFill>
          <a:ln xmlns:a="http://schemas.openxmlformats.org/drawingml/2006/main" w="12700" cmpd="sng">
            <a:solidFill>
              <a:srgbClr val="4BACC6">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2" name="TextBox 21">
            <a:extLst xmlns:a="http://schemas.openxmlformats.org/drawingml/2006/main">
              <a:ext uri="{FF2B5EF4-FFF2-40B4-BE49-F238E27FC236}">
                <a16:creationId xmlns:a16="http://schemas.microsoft.com/office/drawing/2014/main" id="{5D92C390-8395-723D-0EF0-C0A5A96BF9BA}"/>
              </a:ext>
            </a:extLst>
          </p:cNvPr>
          <p:cNvSpPr>
            <a:spLocks xmlns:a="http://schemas.openxmlformats.org/drawingml/2006/main" noGrp="1"/>
          </p:cNvSpPr>
          <p:nvPr/>
        </p:nvSpPr>
        <p:spPr>
          <a:xfrm xmlns:a="http://schemas.openxmlformats.org/drawingml/2006/main" rot="0" flipH="0" flipV="0">
            <a:off x="2532177" y="5123846"/>
            <a:ext cx="2667741"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Microsoft Graph access</a:t>
            </a:r>
          </a:p>
        </p:txBody>
      </p:sp>
      <p:sp>
        <p:nvSpPr>
          <p:cNvPr id="13" name="Rectangle: Diagonal Corners Snipped 12">
            <a:extLst xmlns:a="http://schemas.openxmlformats.org/drawingml/2006/main">
              <a:ext uri="{FF2B5EF4-FFF2-40B4-BE49-F238E27FC236}">
                <a16:creationId xmlns:a16="http://schemas.microsoft.com/office/drawing/2014/main" id="{2A9B835F-FA40-2E2C-C16F-3EF0547A061D}"/>
              </a:ext>
            </a:extLst>
          </p:cNvPr>
          <p:cNvSpPr>
            <a:spLocks xmlns:a="http://schemas.openxmlformats.org/drawingml/2006/main" noGrp="1"/>
          </p:cNvSpPr>
          <p:nvPr/>
        </p:nvSpPr>
        <p:spPr>
          <a:xfrm xmlns:a="http://schemas.openxmlformats.org/drawingml/2006/main" rot="0" flipH="0" flipV="0">
            <a:off x="5374868" y="4820716"/>
            <a:ext cx="2835534" cy="1126524"/>
          </a:xfrm>
          <a:prstGeom xmlns:a="http://schemas.openxmlformats.org/drawingml/2006/main" prst="snip2DiagRect">
            <a:avLst/>
          </a:prstGeom>
          <a:solidFill xmlns:a="http://schemas.openxmlformats.org/drawingml/2006/main">
            <a:srgbClr val="C0504D"/>
          </a:solidFill>
          <a:ln xmlns:a="http://schemas.openxmlformats.org/drawingml/2006/main" w="12700" cmpd="sng">
            <a:solidFill>
              <a:srgbClr val="C0504D"/>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4" name="Rectangle: Diagonal Corners Snipped 13">
            <a:extLst xmlns:a="http://schemas.openxmlformats.org/drawingml/2006/main">
              <a:ext uri="{FF2B5EF4-FFF2-40B4-BE49-F238E27FC236}">
                <a16:creationId xmlns:a16="http://schemas.microsoft.com/office/drawing/2014/main" id="{E1FD9A63-DE25-2951-B162-96D8C936000F}"/>
              </a:ext>
            </a:extLst>
          </p:cNvPr>
          <p:cNvSpPr>
            <a:spLocks xmlns:a="http://schemas.openxmlformats.org/drawingml/2006/main" noGrp="1"/>
          </p:cNvSpPr>
          <p:nvPr/>
        </p:nvSpPr>
        <p:spPr>
          <a:xfrm xmlns:a="http://schemas.openxmlformats.org/drawingml/2006/main" rot="0" flipH="0" flipV="0">
            <a:off x="5443076" y="4892016"/>
            <a:ext cx="2835534" cy="1126524"/>
          </a:xfrm>
          <a:prstGeom xmlns:a="http://schemas.openxmlformats.org/drawingml/2006/main" prst="snip2DiagRect">
            <a:avLst/>
          </a:prstGeom>
          <a:solidFill xmlns:a="http://schemas.openxmlformats.org/drawingml/2006/main">
            <a:srgbClr val="C0504D">
              <a:lumMod val="20000"/>
              <a:lumOff val="80000"/>
            </a:srgbClr>
          </a:solidFill>
          <a:ln xmlns:a="http://schemas.openxmlformats.org/drawingml/2006/main" w="12700" cmpd="sng">
            <a:solidFill>
              <a:srgbClr val="C0504D"/>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5" name="TextBox 14">
            <a:extLst xmlns:a="http://schemas.openxmlformats.org/drawingml/2006/main">
              <a:ext uri="{FF2B5EF4-FFF2-40B4-BE49-F238E27FC236}">
                <a16:creationId xmlns:a16="http://schemas.microsoft.com/office/drawing/2014/main" id="{98DD9F7C-0475-5757-DDE7-43F58D46557C}"/>
              </a:ext>
            </a:extLst>
          </p:cNvPr>
          <p:cNvSpPr>
            <a:spLocks xmlns:a="http://schemas.openxmlformats.org/drawingml/2006/main" noGrp="1"/>
          </p:cNvSpPr>
          <p:nvPr/>
        </p:nvSpPr>
        <p:spPr>
          <a:xfrm xmlns:a="http://schemas.openxmlformats.org/drawingml/2006/main" rot="0" flipH="0" flipV="0">
            <a:off x="5230121" y="5138687"/>
            <a:ext cx="321219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Copilot Chat</a:t>
            </a:r>
          </a:p>
        </p:txBody>
      </p:sp>
      <p:sp>
        <p:nvSpPr>
          <p:cNvPr id="10" name="Rectangle: Diagonal Corners Snipped 9">
            <a:extLst xmlns:a="http://schemas.openxmlformats.org/drawingml/2006/main">
              <a:ext uri="{FF2B5EF4-FFF2-40B4-BE49-F238E27FC236}">
                <a16:creationId xmlns:a16="http://schemas.microsoft.com/office/drawing/2014/main" id="{70D42EB1-F3B2-E079-0BF7-EFB3A399AD2B}"/>
              </a:ext>
            </a:extLst>
          </p:cNvPr>
          <p:cNvSpPr>
            <a:spLocks xmlns:a="http://schemas.openxmlformats.org/drawingml/2006/main" noGrp="1"/>
          </p:cNvSpPr>
          <p:nvPr/>
        </p:nvSpPr>
        <p:spPr>
          <a:xfrm xmlns:a="http://schemas.openxmlformats.org/drawingml/2006/main" rot="0" flipH="0" flipV="0">
            <a:off x="8358606" y="4820716"/>
            <a:ext cx="2835532" cy="1126524"/>
          </a:xfrm>
          <a:prstGeom xmlns:a="http://schemas.openxmlformats.org/drawingml/2006/main" prst="snip2DiagRect">
            <a:avLst/>
          </a:prstGeom>
          <a:solidFill xmlns:a="http://schemas.openxmlformats.org/drawingml/2006/main">
            <a:srgbClr val="BF9000"/>
          </a:solidFill>
          <a:ln xmlns:a="http://schemas.openxmlformats.org/drawingml/2006/main" w="12700" cmpd="sng">
            <a:solidFill>
              <a:srgbClr val="AC5288"/>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1" name="Rectangle: Diagonal Corners Snipped 10">
            <a:extLst xmlns:a="http://schemas.openxmlformats.org/drawingml/2006/main">
              <a:ext uri="{FF2B5EF4-FFF2-40B4-BE49-F238E27FC236}">
                <a16:creationId xmlns:a16="http://schemas.microsoft.com/office/drawing/2014/main" id="{581019AA-542D-2B47-1808-C9FD40AA72F7}"/>
              </a:ext>
            </a:extLst>
          </p:cNvPr>
          <p:cNvSpPr>
            <a:spLocks xmlns:a="http://schemas.openxmlformats.org/drawingml/2006/main" noGrp="1"/>
          </p:cNvSpPr>
          <p:nvPr/>
        </p:nvSpPr>
        <p:spPr>
          <a:xfrm xmlns:a="http://schemas.openxmlformats.org/drawingml/2006/main" rot="0" flipH="0" flipV="0">
            <a:off x="8426815" y="4892016"/>
            <a:ext cx="2835532" cy="1126524"/>
          </a:xfrm>
          <a:prstGeom xmlns:a="http://schemas.openxmlformats.org/drawingml/2006/main" prst="snip2DiagRect">
            <a:avLst/>
          </a:prstGeom>
          <a:solidFill xmlns:a="http://schemas.openxmlformats.org/drawingml/2006/main">
            <a:srgbClr val="FFF2CC"/>
          </a:solidFill>
          <a:ln xmlns:a="http://schemas.openxmlformats.org/drawingml/2006/main" w="12700" cmpd="sng">
            <a:solidFill>
              <a:srgbClr val="BF9000"/>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2" name="TextBox 11">
            <a:extLst xmlns:a="http://schemas.openxmlformats.org/drawingml/2006/main">
              <a:ext uri="{FF2B5EF4-FFF2-40B4-BE49-F238E27FC236}">
                <a16:creationId xmlns:a16="http://schemas.microsoft.com/office/drawing/2014/main" id="{1D4CA841-4FBF-76A0-4BB0-646F1D85595A}"/>
              </a:ext>
            </a:extLst>
          </p:cNvPr>
          <p:cNvSpPr>
            <a:spLocks xmlns:a="http://schemas.openxmlformats.org/drawingml/2006/main" noGrp="1"/>
          </p:cNvSpPr>
          <p:nvPr/>
        </p:nvSpPr>
        <p:spPr>
          <a:xfrm xmlns:a="http://schemas.openxmlformats.org/drawingml/2006/main" rot="0" flipH="0" flipV="0">
            <a:off x="8734083" y="5250871"/>
            <a:ext cx="234315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Knowledge agent</a:t>
            </a:r>
          </a:p>
        </p:txBody>
      </p:sp>
    </p:spTree>
    <p:extLst>
      <p:ext uri="{BB962C8B-B14F-4D97-AF65-F5344CB8AC3E}">
        <p14:creationId xmlns:p14="http://schemas.microsoft.com/office/powerpoint/2010/main" val="291288793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04E72F9E-05D7-FBA8-4675-A4CD9136717E}"/>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D0094DC1-9AB0-0280-CC6A-AFC365F07777}"/>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Keep the Source of Truth Where It Belongs</a:t>
            </a:r>
          </a:p>
        </p:txBody>
      </p:sp>
      <p:sp>
        <p:nvSpPr>
          <p:cNvPr id="20" name="Google Shape;94;p19">
            <a:extLst xmlns:a="http://schemas.openxmlformats.org/drawingml/2006/main">
              <a:ext uri="{FF2B5EF4-FFF2-40B4-BE49-F238E27FC236}">
                <a16:creationId xmlns:a16="http://schemas.microsoft.com/office/drawing/2014/main" id="{95C8DE92-99BB-63A0-EB0E-4658AF062A84}"/>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9F85D937-4F8B-BE8C-D7E8-5B53C87EC8F4}"/>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28A5630B-B21B-118E-EDC5-5F65619B4662}"/>
              </a:ext>
            </a:extLst>
          </p:cNvPr>
          <p:cNvSpPr>
            <a:spLocks xmlns:a="http://schemas.openxmlformats.org/drawingml/2006/main" noGrp="1"/>
          </p:cNvSpPr>
          <p:nvPr/>
        </p:nvSpPr>
        <p:spPr>
          <a:xfrm xmlns:a="http://schemas.openxmlformats.org/drawingml/2006/main">
            <a:off x="605307" y="1442766"/>
            <a:ext cx="11056117"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Choose the authoritative location according to the type of knowledge. Avoid uncontrolled copies that can remain visible after the original has changed.</a:t>
            </a:r>
          </a:p>
        </p:txBody>
      </p:sp>
      <p:sp>
        <p:nvSpPr>
          <p:cNvPr id="4" name="Google Shape;112;p16">
            <a:extLst xmlns:a="http://schemas.openxmlformats.org/drawingml/2006/main">
              <a:ext uri="{FF2B5EF4-FFF2-40B4-BE49-F238E27FC236}">
                <a16:creationId xmlns:a16="http://schemas.microsoft.com/office/drawing/2014/main" id="{06DDE0C5-D059-A8B8-C24C-04CC57B08C0B}"/>
              </a:ext>
            </a:extLst>
          </p:cNvPr>
          <p:cNvSpPr>
            <a:spLocks xmlns:a="http://schemas.openxmlformats.org/drawingml/2006/main" noGrp="1"/>
          </p:cNvSpPr>
          <p:nvPr/>
        </p:nvSpPr>
        <p:spPr>
          <a:xfrm xmlns:a="http://schemas.openxmlformats.org/drawingml/2006/main" rot="0" flipH="0" flipV="0">
            <a:off x="1149589" y="3002423"/>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5" name="Google Shape;113;p16">
            <a:extLst xmlns:a="http://schemas.openxmlformats.org/drawingml/2006/main">
              <a:ext uri="{FF2B5EF4-FFF2-40B4-BE49-F238E27FC236}">
                <a16:creationId xmlns:a16="http://schemas.microsoft.com/office/drawing/2014/main" id="{44AA0E0E-BA71-3A6E-2BB5-E709BD234436}"/>
              </a:ext>
            </a:extLst>
          </p:cNvPr>
          <p:cNvSpPr>
            <a:spLocks xmlns:a="http://schemas.openxmlformats.org/drawingml/2006/main" noGrp="1"/>
          </p:cNvSpPr>
          <p:nvPr/>
        </p:nvSpPr>
        <p:spPr>
          <a:xfrm xmlns:a="http://schemas.openxmlformats.org/drawingml/2006/main" rot="0" flipH="0" flipV="0">
            <a:off x="1249224" y="3315371"/>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6" name="Google Shape;114;p16">
            <a:extLst xmlns:a="http://schemas.openxmlformats.org/drawingml/2006/main">
              <a:ext uri="{FF2B5EF4-FFF2-40B4-BE49-F238E27FC236}">
                <a16:creationId xmlns:a16="http://schemas.microsoft.com/office/drawing/2014/main" id="{AD86F46A-A35D-2C16-FE18-928F304AC54E}"/>
              </a:ext>
            </a:extLst>
          </p:cNvPr>
          <p:cNvSpPr>
            <a:spLocks xmlns:a="http://schemas.openxmlformats.org/drawingml/2006/main" noGrp="1"/>
          </p:cNvSpPr>
          <p:nvPr/>
        </p:nvSpPr>
        <p:spPr>
          <a:xfrm xmlns:a="http://schemas.openxmlformats.org/drawingml/2006/main" rot="0" flipH="0" flipV="0">
            <a:off x="1466117" y="3087546"/>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Formal policies → SharePoint</a:t>
            </a:r>
          </a:p>
        </p:txBody>
      </p:sp>
      <p:sp>
        <p:nvSpPr>
          <p:cNvPr id="8" name="Google Shape;112;p16">
            <a:extLst xmlns:a="http://schemas.openxmlformats.org/drawingml/2006/main">
              <a:ext uri="{FF2B5EF4-FFF2-40B4-BE49-F238E27FC236}">
                <a16:creationId xmlns:a16="http://schemas.microsoft.com/office/drawing/2014/main" id="{B964AFCF-5914-8076-DBCC-808B3C3E1178}"/>
              </a:ext>
            </a:extLst>
          </p:cNvPr>
          <p:cNvSpPr>
            <a:spLocks xmlns:a="http://schemas.openxmlformats.org/drawingml/2006/main" noGrp="1"/>
          </p:cNvSpPr>
          <p:nvPr/>
        </p:nvSpPr>
        <p:spPr>
          <a:xfrm xmlns:a="http://schemas.openxmlformats.org/drawingml/2006/main" rot="0" flipH="0" flipV="0">
            <a:off x="1149589" y="4027326"/>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9" name="Google Shape;113;p16">
            <a:extLst xmlns:a="http://schemas.openxmlformats.org/drawingml/2006/main">
              <a:ext uri="{FF2B5EF4-FFF2-40B4-BE49-F238E27FC236}">
                <a16:creationId xmlns:a16="http://schemas.microsoft.com/office/drawing/2014/main" id="{052D7DF7-5DE0-F758-8D14-9E11121E94F7}"/>
              </a:ext>
            </a:extLst>
          </p:cNvPr>
          <p:cNvSpPr>
            <a:spLocks xmlns:a="http://schemas.openxmlformats.org/drawingml/2006/main" noGrp="1"/>
          </p:cNvSpPr>
          <p:nvPr/>
        </p:nvSpPr>
        <p:spPr>
          <a:xfrm xmlns:a="http://schemas.openxmlformats.org/drawingml/2006/main" rot="0" flipH="0" flipV="0">
            <a:off x="1249224" y="4340274"/>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0" name="Google Shape;114;p16">
            <a:extLst xmlns:a="http://schemas.openxmlformats.org/drawingml/2006/main">
              <a:ext uri="{FF2B5EF4-FFF2-40B4-BE49-F238E27FC236}">
                <a16:creationId xmlns:a16="http://schemas.microsoft.com/office/drawing/2014/main" id="{C500C425-8D2F-2842-C05B-4026F825DBBF}"/>
              </a:ext>
            </a:extLst>
          </p:cNvPr>
          <p:cNvSpPr>
            <a:spLocks xmlns:a="http://schemas.openxmlformats.org/drawingml/2006/main" noGrp="1"/>
          </p:cNvSpPr>
          <p:nvPr/>
        </p:nvSpPr>
        <p:spPr>
          <a:xfrm xmlns:a="http://schemas.openxmlformats.org/drawingml/2006/main" rot="0" flipH="0" flipV="0">
            <a:off x="1466117" y="4112449"/>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Procedures → ServiceNow</a:t>
            </a:r>
            <a:endParaRPr sz="1600" b="0" i="0" u="none" kern="0" cap="none" spc="0" baseline="0">
              <a:ln>
                <a:noFill/>
              </a:ln>
              <a:solidFill>
                <a:prstClr val="black"/>
              </a:solidFill>
              <a:latin typeface="Calibri"/>
              <a:ea typeface="Calibri"/>
              <a:cs typeface="Calibri"/>
            </a:endParaRPr>
          </a:p>
        </p:txBody>
      </p:sp>
      <p:sp>
        <p:nvSpPr>
          <p:cNvPr id="12" name="Google Shape;112;p16">
            <a:extLst xmlns:a="http://schemas.openxmlformats.org/drawingml/2006/main">
              <a:ext uri="{FF2B5EF4-FFF2-40B4-BE49-F238E27FC236}">
                <a16:creationId xmlns:a16="http://schemas.microsoft.com/office/drawing/2014/main" id="{8ED01A58-97FA-81CB-FC24-BCF4C764853A}"/>
              </a:ext>
            </a:extLst>
          </p:cNvPr>
          <p:cNvSpPr>
            <a:spLocks xmlns:a="http://schemas.openxmlformats.org/drawingml/2006/main" noGrp="1"/>
          </p:cNvSpPr>
          <p:nvPr/>
        </p:nvSpPr>
        <p:spPr>
          <a:xfrm xmlns:a="http://schemas.openxmlformats.org/drawingml/2006/main" rot="0" flipH="0" flipV="0">
            <a:off x="1149589" y="5026648"/>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3" name="Google Shape;113;p16">
            <a:extLst xmlns:a="http://schemas.openxmlformats.org/drawingml/2006/main">
              <a:ext uri="{FF2B5EF4-FFF2-40B4-BE49-F238E27FC236}">
                <a16:creationId xmlns:a16="http://schemas.microsoft.com/office/drawing/2014/main" id="{CA50E8F0-1804-9637-C9AD-F909FA0B17F4}"/>
              </a:ext>
            </a:extLst>
          </p:cNvPr>
          <p:cNvSpPr>
            <a:spLocks xmlns:a="http://schemas.openxmlformats.org/drawingml/2006/main" noGrp="1"/>
          </p:cNvSpPr>
          <p:nvPr/>
        </p:nvSpPr>
        <p:spPr>
          <a:xfrm xmlns:a="http://schemas.openxmlformats.org/drawingml/2006/main" rot="0" flipH="0" flipV="0">
            <a:off x="1249224" y="5339596"/>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4" name="Google Shape;114;p16">
            <a:extLst xmlns:a="http://schemas.openxmlformats.org/drawingml/2006/main">
              <a:ext uri="{FF2B5EF4-FFF2-40B4-BE49-F238E27FC236}">
                <a16:creationId xmlns:a16="http://schemas.microsoft.com/office/drawing/2014/main" id="{97741BDA-6D42-D8FD-2131-0D26ED2DA138}"/>
              </a:ext>
            </a:extLst>
          </p:cNvPr>
          <p:cNvSpPr>
            <a:spLocks xmlns:a="http://schemas.openxmlformats.org/drawingml/2006/main" noGrp="1"/>
          </p:cNvSpPr>
          <p:nvPr/>
        </p:nvSpPr>
        <p:spPr>
          <a:xfrm xmlns:a="http://schemas.openxmlformats.org/drawingml/2006/main" rot="0" flipH="0" flipV="0">
            <a:off x="1466117" y="5111771"/>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Records → System of record</a:t>
            </a:r>
            <a:endParaRPr sz="1600" b="0" i="0" u="none" kern="0" cap="none" spc="0" baseline="0">
              <a:ln>
                <a:noFill/>
              </a:ln>
              <a:solidFill>
                <a:prstClr val="black"/>
              </a:solidFill>
              <a:latin typeface="Calibri"/>
              <a:ea typeface="Calibri"/>
              <a:cs typeface="Calibri"/>
            </a:endParaRPr>
          </a:p>
        </p:txBody>
      </p:sp>
      <p:sp>
        <p:nvSpPr>
          <p:cNvPr id="16" name="Google Shape;112;p16">
            <a:extLst xmlns:a="http://schemas.openxmlformats.org/drawingml/2006/main">
              <a:ext uri="{FF2B5EF4-FFF2-40B4-BE49-F238E27FC236}">
                <a16:creationId xmlns:a16="http://schemas.microsoft.com/office/drawing/2014/main" id="{62DCC627-CF76-A812-C137-C00E0843DF68}"/>
              </a:ext>
            </a:extLst>
          </p:cNvPr>
          <p:cNvSpPr>
            <a:spLocks xmlns:a="http://schemas.openxmlformats.org/drawingml/2006/main" noGrp="1"/>
          </p:cNvSpPr>
          <p:nvPr/>
        </p:nvSpPr>
        <p:spPr>
          <a:xfrm xmlns:a="http://schemas.openxmlformats.org/drawingml/2006/main" rot="0" flipH="0" flipV="0">
            <a:off x="6500507" y="3016276"/>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8" name="Google Shape;113;p16">
            <a:extLst xmlns:a="http://schemas.openxmlformats.org/drawingml/2006/main">
              <a:ext uri="{FF2B5EF4-FFF2-40B4-BE49-F238E27FC236}">
                <a16:creationId xmlns:a16="http://schemas.microsoft.com/office/drawing/2014/main" id="{D6D8C0CA-9B5E-6F98-45B3-E47D2C3F9A37}"/>
              </a:ext>
            </a:extLst>
          </p:cNvPr>
          <p:cNvSpPr>
            <a:spLocks xmlns:a="http://schemas.openxmlformats.org/drawingml/2006/main" noGrp="1"/>
          </p:cNvSpPr>
          <p:nvPr/>
        </p:nvSpPr>
        <p:spPr>
          <a:xfrm xmlns:a="http://schemas.openxmlformats.org/drawingml/2006/main" rot="0" flipH="0" flipV="0">
            <a:off x="6600142" y="3329224"/>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2" name="Google Shape;114;p16">
            <a:extLst xmlns:a="http://schemas.openxmlformats.org/drawingml/2006/main">
              <a:ext uri="{FF2B5EF4-FFF2-40B4-BE49-F238E27FC236}">
                <a16:creationId xmlns:a16="http://schemas.microsoft.com/office/drawing/2014/main" id="{712B5DB5-48C5-D63C-66B8-94F5D1780F5F}"/>
              </a:ext>
            </a:extLst>
          </p:cNvPr>
          <p:cNvSpPr>
            <a:spLocks xmlns:a="http://schemas.openxmlformats.org/drawingml/2006/main" noGrp="1"/>
          </p:cNvSpPr>
          <p:nvPr/>
        </p:nvSpPr>
        <p:spPr>
          <a:xfrm xmlns:a="http://schemas.openxmlformats.org/drawingml/2006/main" rot="0" flipH="0" flipV="0">
            <a:off x="6817035" y="3101399"/>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Drafts → Team workspace</a:t>
            </a:r>
          </a:p>
        </p:txBody>
      </p:sp>
      <p:sp>
        <p:nvSpPr>
          <p:cNvPr id="24" name="Google Shape;112;p16">
            <a:extLst xmlns:a="http://schemas.openxmlformats.org/drawingml/2006/main">
              <a:ext uri="{FF2B5EF4-FFF2-40B4-BE49-F238E27FC236}">
                <a16:creationId xmlns:a16="http://schemas.microsoft.com/office/drawing/2014/main" id="{D83759BE-3970-34DB-932C-08455AF49393}"/>
              </a:ext>
            </a:extLst>
          </p:cNvPr>
          <p:cNvSpPr>
            <a:spLocks xmlns:a="http://schemas.openxmlformats.org/drawingml/2006/main" noGrp="1"/>
          </p:cNvSpPr>
          <p:nvPr/>
        </p:nvSpPr>
        <p:spPr>
          <a:xfrm xmlns:a="http://schemas.openxmlformats.org/drawingml/2006/main" rot="0" flipH="0" flipV="0">
            <a:off x="6500507" y="4041180"/>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5" name="Google Shape;113;p16">
            <a:extLst xmlns:a="http://schemas.openxmlformats.org/drawingml/2006/main">
              <a:ext uri="{FF2B5EF4-FFF2-40B4-BE49-F238E27FC236}">
                <a16:creationId xmlns:a16="http://schemas.microsoft.com/office/drawing/2014/main" id="{A6733DA6-C22F-0EBD-F903-7B777EC931DD}"/>
              </a:ext>
            </a:extLst>
          </p:cNvPr>
          <p:cNvSpPr>
            <a:spLocks xmlns:a="http://schemas.openxmlformats.org/drawingml/2006/main" noGrp="1"/>
          </p:cNvSpPr>
          <p:nvPr/>
        </p:nvSpPr>
        <p:spPr>
          <a:xfrm xmlns:a="http://schemas.openxmlformats.org/drawingml/2006/main" rot="0" flipH="0" flipV="0">
            <a:off x="6600142" y="4354128"/>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6" name="Google Shape;114;p16">
            <a:extLst xmlns:a="http://schemas.openxmlformats.org/drawingml/2006/main">
              <a:ext uri="{FF2B5EF4-FFF2-40B4-BE49-F238E27FC236}">
                <a16:creationId xmlns:a16="http://schemas.microsoft.com/office/drawing/2014/main" id="{D28C8265-DB2D-A05F-9574-DB4A62C0F93B}"/>
              </a:ext>
            </a:extLst>
          </p:cNvPr>
          <p:cNvSpPr>
            <a:spLocks xmlns:a="http://schemas.openxmlformats.org/drawingml/2006/main" noGrp="1"/>
          </p:cNvSpPr>
          <p:nvPr/>
        </p:nvSpPr>
        <p:spPr>
          <a:xfrm xmlns:a="http://schemas.openxmlformats.org/drawingml/2006/main" rot="0" flipH="0" flipV="0">
            <a:off x="6817035" y="4126303"/>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Duplicates → Remove or supersede</a:t>
            </a:r>
            <a:endParaRPr sz="1600" b="0" i="0" u="none" kern="0" cap="none" spc="0" baseline="0">
              <a:ln>
                <a:noFill/>
              </a:ln>
              <a:solidFill>
                <a:prstClr val="black"/>
              </a:solidFill>
              <a:latin typeface="Calibri"/>
              <a:ea typeface="Calibri"/>
              <a:cs typeface="Calibri"/>
            </a:endParaRPr>
          </a:p>
        </p:txBody>
      </p:sp>
      <p:sp>
        <p:nvSpPr>
          <p:cNvPr id="28" name="Google Shape;112;p16">
            <a:extLst xmlns:a="http://schemas.openxmlformats.org/drawingml/2006/main">
              <a:ext uri="{FF2B5EF4-FFF2-40B4-BE49-F238E27FC236}">
                <a16:creationId xmlns:a16="http://schemas.microsoft.com/office/drawing/2014/main" id="{C8C8F381-E936-E965-2064-B2BB1B671FC4}"/>
              </a:ext>
            </a:extLst>
          </p:cNvPr>
          <p:cNvSpPr>
            <a:spLocks xmlns:a="http://schemas.openxmlformats.org/drawingml/2006/main" noGrp="1"/>
          </p:cNvSpPr>
          <p:nvPr/>
        </p:nvSpPr>
        <p:spPr>
          <a:xfrm xmlns:a="http://schemas.openxmlformats.org/drawingml/2006/main" rot="0" flipH="0" flipV="0">
            <a:off x="6500507" y="5040502"/>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9" name="Google Shape;113;p16">
            <a:extLst xmlns:a="http://schemas.openxmlformats.org/drawingml/2006/main">
              <a:ext uri="{FF2B5EF4-FFF2-40B4-BE49-F238E27FC236}">
                <a16:creationId xmlns:a16="http://schemas.microsoft.com/office/drawing/2014/main" id="{436CBD9E-74D4-F7F3-1B1C-57C852991D05}"/>
              </a:ext>
            </a:extLst>
          </p:cNvPr>
          <p:cNvSpPr>
            <a:spLocks xmlns:a="http://schemas.openxmlformats.org/drawingml/2006/main" noGrp="1"/>
          </p:cNvSpPr>
          <p:nvPr/>
        </p:nvSpPr>
        <p:spPr>
          <a:xfrm xmlns:a="http://schemas.openxmlformats.org/drawingml/2006/main" rot="0" flipH="0" flipV="0">
            <a:off x="6600142" y="5353450"/>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30" name="Google Shape;114;p16">
            <a:extLst xmlns:a="http://schemas.openxmlformats.org/drawingml/2006/main">
              <a:ext uri="{FF2B5EF4-FFF2-40B4-BE49-F238E27FC236}">
                <a16:creationId xmlns:a16="http://schemas.microsoft.com/office/drawing/2014/main" id="{F82DE398-ACAD-A57D-E97E-8BFAE6758309}"/>
              </a:ext>
            </a:extLst>
          </p:cNvPr>
          <p:cNvSpPr>
            <a:spLocks xmlns:a="http://schemas.openxmlformats.org/drawingml/2006/main" noGrp="1"/>
          </p:cNvSpPr>
          <p:nvPr/>
        </p:nvSpPr>
        <p:spPr>
          <a:xfrm xmlns:a="http://schemas.openxmlformats.org/drawingml/2006/main" rot="0" flipH="0" flipV="0">
            <a:off x="6817035" y="5125625"/>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Metadata → Knowledge catalogue</a:t>
            </a:r>
            <a:endParaRPr sz="1600" b="0" i="0" u="none" kern="0" cap="none" spc="0" baseline="0">
              <a:ln>
                <a:noFill/>
              </a:ln>
              <a:solidFill>
                <a:prstClr val="black"/>
              </a:solidFill>
              <a:latin typeface="Calibri"/>
              <a:ea typeface="Calibri"/>
              <a:cs typeface="Calibri"/>
            </a:endParaRPr>
          </a:p>
        </p:txBody>
      </p:sp>
    </p:spTree>
    <p:extLst>
      <p:ext uri="{BB962C8B-B14F-4D97-AF65-F5344CB8AC3E}">
        <p14:creationId xmlns:p14="http://schemas.microsoft.com/office/powerpoint/2010/main" val="33143735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C396D283-1998-9950-F96D-83B7612CDC4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780B0F05-955E-EBD5-A69C-B67956C1AAC1}"/>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Bringing ServiceNow Knowledge into Copilot</a:t>
            </a:r>
          </a:p>
        </p:txBody>
      </p:sp>
      <p:sp>
        <p:nvSpPr>
          <p:cNvPr id="20" name="Google Shape;94;p19">
            <a:extLst xmlns:a="http://schemas.openxmlformats.org/drawingml/2006/main">
              <a:ext uri="{FF2B5EF4-FFF2-40B4-BE49-F238E27FC236}">
                <a16:creationId xmlns:a16="http://schemas.microsoft.com/office/drawing/2014/main" id="{DEB1583F-82CF-4140-B717-F2D0E684E480}"/>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A48A4BC5-ABA7-DC41-EE2A-958C77DD39B3}"/>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4C14631D-CFEB-B2CB-440A-86F29EFD8AD7}"/>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The ServiceNow Knowledge connector indexes approved knowledge into Microsoft Graph. Correct identity mapping and permission evaluation are essential before broad rollout.</a:t>
            </a:r>
          </a:p>
        </p:txBody>
      </p:sp>
      <p:sp>
        <p:nvSpPr>
          <p:cNvPr id="8" name="Freeform 2">
            <a:extLst xmlns:a="http://schemas.openxmlformats.org/drawingml/2006/main">
              <a:ext uri="{FF2B5EF4-FFF2-40B4-BE49-F238E27FC236}">
                <a16:creationId xmlns:a16="http://schemas.microsoft.com/office/drawing/2014/main" id="{E2DBE00A-7CC2-CB56-A84B-ABD970EBB774}"/>
              </a:ext>
            </a:extLst>
          </p:cNvPr>
          <p:cNvSpPr>
            <a:spLocks xmlns:a="http://schemas.openxmlformats.org/drawingml/2006/main" noGrp="1"/>
          </p:cNvSpPr>
          <p:nvPr/>
        </p:nvSpPr>
        <p:spPr>
          <a:xfrm xmlns:a="http://schemas.openxmlformats.org/drawingml/2006/main" rot="0" flipH="0" flipV="0">
            <a:off x="1410577" y="3222410"/>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9" name="Freeform 3">
            <a:extLst xmlns:a="http://schemas.openxmlformats.org/drawingml/2006/main">
              <a:ext uri="{FF2B5EF4-FFF2-40B4-BE49-F238E27FC236}">
                <a16:creationId xmlns:a16="http://schemas.microsoft.com/office/drawing/2014/main" id="{C45AC6DA-FA75-1566-4774-DE7D7C0F8CAD}"/>
              </a:ext>
            </a:extLst>
          </p:cNvPr>
          <p:cNvSpPr>
            <a:spLocks xmlns:a="http://schemas.openxmlformats.org/drawingml/2006/main" noGrp="1"/>
          </p:cNvSpPr>
          <p:nvPr/>
        </p:nvSpPr>
        <p:spPr>
          <a:xfrm xmlns:a="http://schemas.openxmlformats.org/drawingml/2006/main" rot="0" flipH="0" flipV="0">
            <a:off x="1187708" y="3071451"/>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1</a:t>
            </a:r>
          </a:p>
        </p:txBody>
      </p:sp>
      <p:sp>
        <p:nvSpPr>
          <p:cNvPr id="7" name="TextBox 6">
            <a:extLst xmlns:a="http://schemas.openxmlformats.org/drawingml/2006/main">
              <a:ext uri="{FF2B5EF4-FFF2-40B4-BE49-F238E27FC236}">
                <a16:creationId xmlns:a16="http://schemas.microsoft.com/office/drawing/2014/main" id="{428E30E5-738F-86A6-1DDC-FD6278255D80}"/>
              </a:ext>
            </a:extLst>
          </p:cNvPr>
          <p:cNvSpPr>
            <a:spLocks xmlns:a="http://schemas.openxmlformats.org/drawingml/2006/main" noGrp="1"/>
          </p:cNvSpPr>
          <p:nvPr/>
        </p:nvSpPr>
        <p:spPr>
          <a:xfrm xmlns:a="http://schemas.openxmlformats.org/drawingml/2006/main" rot="0" flipH="0" flipV="0">
            <a:off x="1534181" y="3576599"/>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609630">
              <a:lnSpc>
                <a:spcPct val="100000"/>
              </a:lnSpc>
              <a:spcBef>
                <a:spcPts val="0"/>
              </a:spcBef>
              <a:spcAft>
                <a:spcPts val="0"/>
              </a:spcAft>
              <a:buClrTx/>
              <a:buSzTx/>
              <a:buFontTx/>
              <a:buNone/>
            </a:pPr>
            <a:r>
              <a:rPr sz="1600" b="1" i="0" u="none" cap="none" spc="0">
                <a:ln>
                  <a:noFill/>
                </a:ln>
                <a:solidFill>
                  <a:prstClr val="black"/>
                </a:solidFill>
                <a:latin typeface="Calibri"/>
                <a:ea typeface="Calibri"/>
                <a:cs typeface="Calibri"/>
              </a:rPr>
              <a:t>Configure connector</a:t>
            </a:r>
          </a:p>
        </p:txBody>
      </p:sp>
      <p:sp>
        <p:nvSpPr>
          <p:cNvPr id="13" name="Freeform 2">
            <a:extLst xmlns:a="http://schemas.openxmlformats.org/drawingml/2006/main">
              <a:ext uri="{FF2B5EF4-FFF2-40B4-BE49-F238E27FC236}">
                <a16:creationId xmlns:a16="http://schemas.microsoft.com/office/drawing/2014/main" id="{D8AE1E2B-F548-1110-AF76-51E960F98B53}"/>
              </a:ext>
            </a:extLst>
          </p:cNvPr>
          <p:cNvSpPr>
            <a:spLocks xmlns:a="http://schemas.openxmlformats.org/drawingml/2006/main" noGrp="1"/>
          </p:cNvSpPr>
          <p:nvPr/>
        </p:nvSpPr>
        <p:spPr>
          <a:xfrm xmlns:a="http://schemas.openxmlformats.org/drawingml/2006/main" rot="0" flipH="0" flipV="0">
            <a:off x="4897034" y="3220694"/>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14" name="Freeform 3">
            <a:extLst xmlns:a="http://schemas.openxmlformats.org/drawingml/2006/main">
              <a:ext uri="{FF2B5EF4-FFF2-40B4-BE49-F238E27FC236}">
                <a16:creationId xmlns:a16="http://schemas.microsoft.com/office/drawing/2014/main" id="{D6E045A0-1D4F-5CCC-A221-5F3F2A07101A}"/>
              </a:ext>
            </a:extLst>
          </p:cNvPr>
          <p:cNvSpPr>
            <a:spLocks xmlns:a="http://schemas.openxmlformats.org/drawingml/2006/main" noGrp="1"/>
          </p:cNvSpPr>
          <p:nvPr/>
        </p:nvSpPr>
        <p:spPr>
          <a:xfrm xmlns:a="http://schemas.openxmlformats.org/drawingml/2006/main" rot="0" flipH="0" flipV="0">
            <a:off x="4674165" y="3069735"/>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2</a:t>
            </a:r>
          </a:p>
        </p:txBody>
      </p:sp>
      <p:sp>
        <p:nvSpPr>
          <p:cNvPr id="12" name="TextBox 11">
            <a:extLst xmlns:a="http://schemas.openxmlformats.org/drawingml/2006/main">
              <a:ext uri="{FF2B5EF4-FFF2-40B4-BE49-F238E27FC236}">
                <a16:creationId xmlns:a16="http://schemas.microsoft.com/office/drawing/2014/main" id="{EA156483-77BB-6BB0-115F-BFC05617A0DD}"/>
              </a:ext>
            </a:extLst>
          </p:cNvPr>
          <p:cNvSpPr>
            <a:spLocks xmlns:a="http://schemas.openxmlformats.org/drawingml/2006/main" noGrp="1"/>
          </p:cNvSpPr>
          <p:nvPr/>
        </p:nvSpPr>
        <p:spPr>
          <a:xfrm xmlns:a="http://schemas.openxmlformats.org/drawingml/2006/main" rot="0" flipH="0" flipV="0">
            <a:off x="4912819" y="3577846"/>
            <a:ext cx="283442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Scope knowledge bases</a:t>
            </a:r>
            <a:endParaRPr sz="1467" b="0" i="0" u="none" kern="0" cap="none" spc="0" baseline="0">
              <a:ln>
                <a:noFill/>
              </a:ln>
              <a:solidFill>
                <a:prstClr val="black"/>
              </a:solidFill>
              <a:latin typeface="Calibri"/>
              <a:ea typeface="Calibri"/>
              <a:cs typeface="Calibri"/>
            </a:endParaRPr>
          </a:p>
        </p:txBody>
      </p:sp>
      <p:sp>
        <p:nvSpPr>
          <p:cNvPr id="22" name="Freeform 2">
            <a:extLst xmlns:a="http://schemas.openxmlformats.org/drawingml/2006/main">
              <a:ext uri="{FF2B5EF4-FFF2-40B4-BE49-F238E27FC236}">
                <a16:creationId xmlns:a16="http://schemas.microsoft.com/office/drawing/2014/main" id="{F34B2837-6712-1649-E6D6-FD214E360A37}"/>
              </a:ext>
            </a:extLst>
          </p:cNvPr>
          <p:cNvSpPr>
            <a:spLocks xmlns:a="http://schemas.openxmlformats.org/drawingml/2006/main" noGrp="1"/>
          </p:cNvSpPr>
          <p:nvPr/>
        </p:nvSpPr>
        <p:spPr>
          <a:xfrm xmlns:a="http://schemas.openxmlformats.org/drawingml/2006/main" rot="0" flipH="0" flipV="0">
            <a:off x="8383492" y="3220694"/>
            <a:ext cx="2834420" cy="1139404"/>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3" name="Freeform 3">
            <a:extLst xmlns:a="http://schemas.openxmlformats.org/drawingml/2006/main">
              <a:ext uri="{FF2B5EF4-FFF2-40B4-BE49-F238E27FC236}">
                <a16:creationId xmlns:a16="http://schemas.microsoft.com/office/drawing/2014/main" id="{E5D1E5B4-8BBC-71CD-ECC9-112D7342C464}"/>
              </a:ext>
            </a:extLst>
          </p:cNvPr>
          <p:cNvSpPr>
            <a:spLocks xmlns:a="http://schemas.openxmlformats.org/drawingml/2006/main" noGrp="1"/>
          </p:cNvSpPr>
          <p:nvPr/>
        </p:nvSpPr>
        <p:spPr>
          <a:xfrm xmlns:a="http://schemas.openxmlformats.org/drawingml/2006/main" rot="0" flipH="0" flipV="0">
            <a:off x="8160623" y="306973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3</a:t>
            </a:r>
          </a:p>
        </p:txBody>
      </p:sp>
      <p:sp>
        <p:nvSpPr>
          <p:cNvPr id="18" name="TextBox 17">
            <a:extLst xmlns:a="http://schemas.openxmlformats.org/drawingml/2006/main">
              <a:ext uri="{FF2B5EF4-FFF2-40B4-BE49-F238E27FC236}">
                <a16:creationId xmlns:a16="http://schemas.microsoft.com/office/drawing/2014/main" id="{7FFD516B-0F8E-280E-72B3-4B03ADA5956C}"/>
              </a:ext>
            </a:extLst>
          </p:cNvPr>
          <p:cNvSpPr>
            <a:spLocks xmlns:a="http://schemas.openxmlformats.org/drawingml/2006/main" noGrp="1"/>
          </p:cNvSpPr>
          <p:nvPr/>
        </p:nvSpPr>
        <p:spPr>
          <a:xfrm xmlns:a="http://schemas.openxmlformats.org/drawingml/2006/main" rot="0" flipH="0" flipV="0">
            <a:off x="8492025" y="3572978"/>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Map identities</a:t>
            </a:r>
            <a:endParaRPr sz="1600" b="1" i="0" u="none" kern="0" cap="none" spc="0" baseline="0">
              <a:ln>
                <a:noFill/>
              </a:ln>
              <a:solidFill>
                <a:prstClr val="black"/>
              </a:solidFill>
              <a:latin typeface="Calibri"/>
              <a:ea typeface="Calibri"/>
              <a:cs typeface="Calibri"/>
            </a:endParaRPr>
          </a:p>
        </p:txBody>
      </p:sp>
      <p:sp>
        <p:nvSpPr>
          <p:cNvPr id="27" name="Freeform 2">
            <a:extLst xmlns:a="http://schemas.openxmlformats.org/drawingml/2006/main">
              <a:ext uri="{FF2B5EF4-FFF2-40B4-BE49-F238E27FC236}">
                <a16:creationId xmlns:a16="http://schemas.microsoft.com/office/drawing/2014/main" id="{16891978-EE90-B8F1-546A-0E80E8BA35EF}"/>
              </a:ext>
            </a:extLst>
          </p:cNvPr>
          <p:cNvSpPr>
            <a:spLocks xmlns:a="http://schemas.openxmlformats.org/drawingml/2006/main" noGrp="1"/>
          </p:cNvSpPr>
          <p:nvPr/>
        </p:nvSpPr>
        <p:spPr>
          <a:xfrm xmlns:a="http://schemas.openxmlformats.org/drawingml/2006/main" rot="0" flipH="0" flipV="0">
            <a:off x="1438532" y="491713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8" name="Freeform 3">
            <a:extLst xmlns:a="http://schemas.openxmlformats.org/drawingml/2006/main">
              <a:ext uri="{FF2B5EF4-FFF2-40B4-BE49-F238E27FC236}">
                <a16:creationId xmlns:a16="http://schemas.microsoft.com/office/drawing/2014/main" id="{9B678107-6042-D40B-9F23-041BB1B48810}"/>
              </a:ext>
            </a:extLst>
          </p:cNvPr>
          <p:cNvSpPr>
            <a:spLocks xmlns:a="http://schemas.openxmlformats.org/drawingml/2006/main" noGrp="1"/>
          </p:cNvSpPr>
          <p:nvPr/>
        </p:nvSpPr>
        <p:spPr>
          <a:xfrm xmlns:a="http://schemas.openxmlformats.org/drawingml/2006/main" rot="0" flipH="0" flipV="0">
            <a:off x="1215663" y="4766176"/>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4</a:t>
            </a:r>
          </a:p>
        </p:txBody>
      </p:sp>
      <p:sp>
        <p:nvSpPr>
          <p:cNvPr id="26" name="TextBox 25">
            <a:extLst xmlns:a="http://schemas.openxmlformats.org/drawingml/2006/main">
              <a:ext uri="{FF2B5EF4-FFF2-40B4-BE49-F238E27FC236}">
                <a16:creationId xmlns:a16="http://schemas.microsoft.com/office/drawing/2014/main" id="{0AF03C4D-BE12-903F-7FA0-C844058395DF}"/>
              </a:ext>
            </a:extLst>
          </p:cNvPr>
          <p:cNvSpPr>
            <a:spLocks xmlns:a="http://schemas.openxmlformats.org/drawingml/2006/main" noGrp="1"/>
          </p:cNvSpPr>
          <p:nvPr/>
        </p:nvSpPr>
        <p:spPr>
          <a:xfrm xmlns:a="http://schemas.openxmlformats.org/drawingml/2006/main" rot="0" flipH="0" flipV="0">
            <a:off x="1506226" y="5260728"/>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Preserve ACLs and criteria</a:t>
            </a:r>
            <a:endParaRPr sz="1600" b="1" i="0" u="none" kern="0" cap="none" spc="0" baseline="0">
              <a:ln>
                <a:noFill/>
              </a:ln>
              <a:solidFill>
                <a:prstClr val="black"/>
              </a:solidFill>
              <a:latin typeface="Calibri"/>
              <a:ea typeface="Calibri"/>
              <a:cs typeface="Calibri"/>
            </a:endParaRPr>
          </a:p>
        </p:txBody>
      </p:sp>
      <p:sp>
        <p:nvSpPr>
          <p:cNvPr id="32" name="Freeform 2">
            <a:extLst xmlns:a="http://schemas.openxmlformats.org/drawingml/2006/main">
              <a:ext uri="{FF2B5EF4-FFF2-40B4-BE49-F238E27FC236}">
                <a16:creationId xmlns:a16="http://schemas.microsoft.com/office/drawing/2014/main" id="{F656A45D-161B-75C5-9177-D8340131AC25}"/>
              </a:ext>
            </a:extLst>
          </p:cNvPr>
          <p:cNvSpPr>
            <a:spLocks xmlns:a="http://schemas.openxmlformats.org/drawingml/2006/main" noGrp="1"/>
          </p:cNvSpPr>
          <p:nvPr/>
        </p:nvSpPr>
        <p:spPr>
          <a:xfrm xmlns:a="http://schemas.openxmlformats.org/drawingml/2006/main" rot="0" flipH="0" flipV="0">
            <a:off x="5008468" y="491192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3" name="Freeform 3">
            <a:extLst xmlns:a="http://schemas.openxmlformats.org/drawingml/2006/main">
              <a:ext uri="{FF2B5EF4-FFF2-40B4-BE49-F238E27FC236}">
                <a16:creationId xmlns:a16="http://schemas.microsoft.com/office/drawing/2014/main" id="{6B68E53E-0629-330A-EA8E-C8DDBE321E29}"/>
              </a:ext>
            </a:extLst>
          </p:cNvPr>
          <p:cNvSpPr>
            <a:spLocks xmlns:a="http://schemas.openxmlformats.org/drawingml/2006/main" noGrp="1"/>
          </p:cNvSpPr>
          <p:nvPr/>
        </p:nvSpPr>
        <p:spPr>
          <a:xfrm xmlns:a="http://schemas.openxmlformats.org/drawingml/2006/main" rot="0" flipH="0" flipV="0">
            <a:off x="4785599" y="476096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5</a:t>
            </a:r>
          </a:p>
        </p:txBody>
      </p:sp>
      <p:sp>
        <p:nvSpPr>
          <p:cNvPr id="31" name="TextBox 30">
            <a:extLst xmlns:a="http://schemas.openxmlformats.org/drawingml/2006/main">
              <a:ext uri="{FF2B5EF4-FFF2-40B4-BE49-F238E27FC236}">
                <a16:creationId xmlns:a16="http://schemas.microsoft.com/office/drawing/2014/main" id="{6EEC897E-FB4D-4474-FEF0-ED62ACB6A128}"/>
              </a:ext>
            </a:extLst>
          </p:cNvPr>
          <p:cNvSpPr>
            <a:spLocks xmlns:a="http://schemas.openxmlformats.org/drawingml/2006/main" noGrp="1"/>
          </p:cNvSpPr>
          <p:nvPr/>
        </p:nvSpPr>
        <p:spPr>
          <a:xfrm xmlns:a="http://schemas.openxmlformats.org/drawingml/2006/main" rot="0" flipH="0" flipV="0">
            <a:off x="5104117" y="5266032"/>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Index published content</a:t>
            </a:r>
            <a:endParaRPr sz="1600" b="1" i="0" u="none" kern="0" cap="none" spc="0" baseline="0">
              <a:ln>
                <a:noFill/>
              </a:ln>
              <a:solidFill>
                <a:prstClr val="black"/>
              </a:solidFill>
              <a:latin typeface="Calibri"/>
              <a:ea typeface="Calibri"/>
              <a:cs typeface="Calibri"/>
            </a:endParaRPr>
          </a:p>
        </p:txBody>
      </p:sp>
      <p:sp>
        <p:nvSpPr>
          <p:cNvPr id="37" name="Freeform 2">
            <a:extLst xmlns:a="http://schemas.openxmlformats.org/drawingml/2006/main">
              <a:ext uri="{FF2B5EF4-FFF2-40B4-BE49-F238E27FC236}">
                <a16:creationId xmlns:a16="http://schemas.microsoft.com/office/drawing/2014/main" id="{DA2C3D72-3CD2-FB2C-D2FC-F803134D1B5A}"/>
              </a:ext>
            </a:extLst>
          </p:cNvPr>
          <p:cNvSpPr>
            <a:spLocks xmlns:a="http://schemas.openxmlformats.org/drawingml/2006/main" noGrp="1"/>
          </p:cNvSpPr>
          <p:nvPr/>
        </p:nvSpPr>
        <p:spPr>
          <a:xfrm xmlns:a="http://schemas.openxmlformats.org/drawingml/2006/main" rot="0" flipH="0" flipV="0">
            <a:off x="8494926" y="4865608"/>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8" name="Freeform 3">
            <a:extLst xmlns:a="http://schemas.openxmlformats.org/drawingml/2006/main">
              <a:ext uri="{FF2B5EF4-FFF2-40B4-BE49-F238E27FC236}">
                <a16:creationId xmlns:a16="http://schemas.microsoft.com/office/drawing/2014/main" id="{0134B811-BE61-C9A3-A684-660DDAF850A6}"/>
              </a:ext>
            </a:extLst>
          </p:cNvPr>
          <p:cNvSpPr>
            <a:spLocks xmlns:a="http://schemas.openxmlformats.org/drawingml/2006/main" noGrp="1"/>
          </p:cNvSpPr>
          <p:nvPr/>
        </p:nvSpPr>
        <p:spPr>
          <a:xfrm xmlns:a="http://schemas.openxmlformats.org/drawingml/2006/main" rot="0" flipH="0" flipV="0">
            <a:off x="8272057" y="4714649"/>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6</a:t>
            </a:r>
          </a:p>
        </p:txBody>
      </p:sp>
      <p:sp>
        <p:nvSpPr>
          <p:cNvPr id="36" name="TextBox 35">
            <a:extLst xmlns:a="http://schemas.openxmlformats.org/drawingml/2006/main">
              <a:ext uri="{FF2B5EF4-FFF2-40B4-BE49-F238E27FC236}">
                <a16:creationId xmlns:a16="http://schemas.microsoft.com/office/drawing/2014/main" id="{C7B43436-C53A-41FF-2626-538CA297E34B}"/>
              </a:ext>
            </a:extLst>
          </p:cNvPr>
          <p:cNvSpPr>
            <a:spLocks xmlns:a="http://schemas.openxmlformats.org/drawingml/2006/main" noGrp="1"/>
          </p:cNvSpPr>
          <p:nvPr/>
        </p:nvSpPr>
        <p:spPr>
          <a:xfrm xmlns:a="http://schemas.openxmlformats.org/drawingml/2006/main" rot="0" flipH="0" flipV="0">
            <a:off x="8603459" y="5234112"/>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Validate with pilot users</a:t>
            </a:r>
            <a:endParaRPr sz="1600" b="1" i="0" u="none" kern="0" cap="none" spc="0" baseline="0">
              <a:ln>
                <a:noFill/>
              </a:ln>
              <a:solidFill>
                <a:prstClr val="black"/>
              </a:solidFill>
              <a:latin typeface="Calibri"/>
              <a:ea typeface="Calibri"/>
              <a:cs typeface="Calibri"/>
            </a:endParaRPr>
          </a:p>
        </p:txBody>
      </p:sp>
    </p:spTree>
    <p:extLst>
      <p:ext uri="{BB962C8B-B14F-4D97-AF65-F5344CB8AC3E}">
        <p14:creationId xmlns:p14="http://schemas.microsoft.com/office/powerpoint/2010/main" val="39473544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F8A79285-28DC-F9DE-49DC-A7A0E9BCC84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D3B2CAC2-41D8-8578-7971-F47AE7439C00}"/>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The Knowledge Lifecycle</a:t>
            </a:r>
          </a:p>
        </p:txBody>
      </p:sp>
      <p:sp>
        <p:nvSpPr>
          <p:cNvPr id="20" name="Google Shape;94;p19">
            <a:extLst xmlns:a="http://schemas.openxmlformats.org/drawingml/2006/main">
              <a:ext uri="{FF2B5EF4-FFF2-40B4-BE49-F238E27FC236}">
                <a16:creationId xmlns:a16="http://schemas.microsoft.com/office/drawing/2014/main" id="{6EE3AC3C-42B1-72DE-9F50-B82EE63942BD}"/>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462F345E-3C9A-52E8-E0A7-59B03AEEAD4B}"/>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3FDCCBEF-F0A3-9C69-7A26-6DC4AD5A6169}"/>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 knowledge agent is only as reliable as the lifecycle behind its sources. Retrieval is one step in a controlled process, not the end of knowledge management.</a:t>
            </a:r>
          </a:p>
        </p:txBody>
      </p:sp>
      <p:sp>
        <p:nvSpPr>
          <p:cNvPr id="29" name="Rectangle: Diagonal Corners Snipped 28">
            <a:extLst xmlns:a="http://schemas.openxmlformats.org/drawingml/2006/main">
              <a:ext uri="{FF2B5EF4-FFF2-40B4-BE49-F238E27FC236}">
                <a16:creationId xmlns:a16="http://schemas.microsoft.com/office/drawing/2014/main" id="{C3CB7AE8-25BF-0DAB-59A9-60C423839A7A}"/>
              </a:ext>
            </a:extLst>
          </p:cNvPr>
          <p:cNvSpPr>
            <a:spLocks xmlns:a="http://schemas.openxmlformats.org/drawingml/2006/main" noGrp="1"/>
          </p:cNvSpPr>
          <p:nvPr/>
        </p:nvSpPr>
        <p:spPr>
          <a:xfrm xmlns:a="http://schemas.openxmlformats.org/drawingml/2006/main" rot="0" flipH="0" flipV="0">
            <a:off x="929653" y="3280923"/>
            <a:ext cx="2835533" cy="1126524"/>
          </a:xfrm>
          <a:prstGeom xmlns:a="http://schemas.openxmlformats.org/drawingml/2006/main" prst="snip2DiagRect">
            <a:avLst/>
          </a:prstGeom>
          <a:solidFill xmlns:a="http://schemas.openxmlformats.org/drawingml/2006/main">
            <a:srgbClr val="ED7D31">
              <a:lumMod val="75000"/>
            </a:srgbClr>
          </a:solidFill>
          <a:ln xmlns:a="http://schemas.openxmlformats.org/drawingml/2006/main" w="12700" cmpd="sng">
            <a:solidFill>
              <a:srgbClr val="ED7D31">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30" name="Rectangle: Diagonal Corners Snipped 29">
            <a:extLst xmlns:a="http://schemas.openxmlformats.org/drawingml/2006/main">
              <a:ext uri="{FF2B5EF4-FFF2-40B4-BE49-F238E27FC236}">
                <a16:creationId xmlns:a16="http://schemas.microsoft.com/office/drawing/2014/main" id="{93116C05-9B4C-5F55-627B-A75CA6A4E9B2}"/>
              </a:ext>
            </a:extLst>
          </p:cNvPr>
          <p:cNvSpPr>
            <a:spLocks xmlns:a="http://schemas.openxmlformats.org/drawingml/2006/main" noGrp="1"/>
          </p:cNvSpPr>
          <p:nvPr/>
        </p:nvSpPr>
        <p:spPr>
          <a:xfrm xmlns:a="http://schemas.openxmlformats.org/drawingml/2006/main" rot="0" flipH="0" flipV="0">
            <a:off x="997862" y="3352223"/>
            <a:ext cx="2835533" cy="1126524"/>
          </a:xfrm>
          <a:prstGeom xmlns:a="http://schemas.openxmlformats.org/drawingml/2006/main" prst="snip2DiagRect">
            <a:avLst/>
          </a:prstGeom>
          <a:solidFill xmlns:a="http://schemas.openxmlformats.org/drawingml/2006/main">
            <a:srgbClr val="ED7D31">
              <a:lumMod val="20000"/>
              <a:lumOff val="80000"/>
            </a:srgbClr>
          </a:solidFill>
          <a:ln xmlns:a="http://schemas.openxmlformats.org/drawingml/2006/main" w="12700" cmpd="sng">
            <a:solidFill>
              <a:srgbClr val="ED7D31">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31" name="TextBox 30">
            <a:extLst xmlns:a="http://schemas.openxmlformats.org/drawingml/2006/main">
              <a:ext uri="{FF2B5EF4-FFF2-40B4-BE49-F238E27FC236}">
                <a16:creationId xmlns:a16="http://schemas.microsoft.com/office/drawing/2014/main" id="{3137764D-49E6-E3B2-CBF5-D882A90C14FE}"/>
              </a:ext>
            </a:extLst>
          </p:cNvPr>
          <p:cNvSpPr>
            <a:spLocks xmlns:a="http://schemas.openxmlformats.org/drawingml/2006/main" noGrp="1"/>
          </p:cNvSpPr>
          <p:nvPr/>
        </p:nvSpPr>
        <p:spPr>
          <a:xfrm xmlns:a="http://schemas.openxmlformats.org/drawingml/2006/main" rot="0" flipH="0" flipV="0">
            <a:off x="1163055" y="3586354"/>
            <a:ext cx="2606038"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Create</a:t>
            </a:r>
          </a:p>
        </p:txBody>
      </p:sp>
      <p:sp>
        <p:nvSpPr>
          <p:cNvPr id="26" name="Rectangle: Diagonal Corners Snipped 25">
            <a:extLst xmlns:a="http://schemas.openxmlformats.org/drawingml/2006/main">
              <a:ext uri="{FF2B5EF4-FFF2-40B4-BE49-F238E27FC236}">
                <a16:creationId xmlns:a16="http://schemas.microsoft.com/office/drawing/2014/main" id="{901C01B5-41FF-B4E2-A36D-2CBDB8D775E6}"/>
              </a:ext>
            </a:extLst>
          </p:cNvPr>
          <p:cNvSpPr>
            <a:spLocks xmlns:a="http://schemas.openxmlformats.org/drawingml/2006/main" noGrp="1"/>
          </p:cNvSpPr>
          <p:nvPr/>
        </p:nvSpPr>
        <p:spPr>
          <a:xfrm xmlns:a="http://schemas.openxmlformats.org/drawingml/2006/main" rot="0" flipH="0" flipV="0">
            <a:off x="3917182" y="3280924"/>
            <a:ext cx="2835531" cy="1126524"/>
          </a:xfrm>
          <a:prstGeom xmlns:a="http://schemas.openxmlformats.org/drawingml/2006/main" prst="snip2DiagRect">
            <a:avLst/>
          </a:prstGeom>
          <a:solidFill xmlns:a="http://schemas.openxmlformats.org/drawingml/2006/main">
            <a:srgbClr val="4472C4">
              <a:lumMod val="75000"/>
            </a:srgbClr>
          </a:solidFill>
          <a:ln xmlns:a="http://schemas.openxmlformats.org/drawingml/2006/main" w="12700" cmpd="sng">
            <a:solidFill>
              <a:srgbClr val="4472C4">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7" name="Rectangle: Diagonal Corners Snipped 26">
            <a:extLst xmlns:a="http://schemas.openxmlformats.org/drawingml/2006/main">
              <a:ext uri="{FF2B5EF4-FFF2-40B4-BE49-F238E27FC236}">
                <a16:creationId xmlns:a16="http://schemas.microsoft.com/office/drawing/2014/main" id="{0A4F23CC-CAAE-DEAA-4966-312516DAE716}"/>
              </a:ext>
            </a:extLst>
          </p:cNvPr>
          <p:cNvSpPr>
            <a:spLocks xmlns:a="http://schemas.openxmlformats.org/drawingml/2006/main" noGrp="1"/>
          </p:cNvSpPr>
          <p:nvPr/>
        </p:nvSpPr>
        <p:spPr>
          <a:xfrm xmlns:a="http://schemas.openxmlformats.org/drawingml/2006/main" rot="0" flipH="0" flipV="0">
            <a:off x="3985391" y="3352224"/>
            <a:ext cx="2835531" cy="1126524"/>
          </a:xfrm>
          <a:prstGeom xmlns:a="http://schemas.openxmlformats.org/drawingml/2006/main" prst="snip2DiagRect">
            <a:avLst/>
          </a:prstGeom>
          <a:solidFill xmlns:a="http://schemas.openxmlformats.org/drawingml/2006/main">
            <a:srgbClr val="4472C4">
              <a:lumMod val="20000"/>
              <a:lumOff val="80000"/>
            </a:srgbClr>
          </a:solidFill>
          <a:ln xmlns:a="http://schemas.openxmlformats.org/drawingml/2006/main" w="12700" cmpd="sng">
            <a:solidFill>
              <a:srgbClr val="4472C4">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8" name="TextBox 27">
            <a:extLst xmlns:a="http://schemas.openxmlformats.org/drawingml/2006/main">
              <a:ext uri="{FF2B5EF4-FFF2-40B4-BE49-F238E27FC236}">
                <a16:creationId xmlns:a16="http://schemas.microsoft.com/office/drawing/2014/main" id="{ECB61D13-C4C2-F71C-95DC-D1DDC8D684B7}"/>
              </a:ext>
            </a:extLst>
          </p:cNvPr>
          <p:cNvSpPr>
            <a:spLocks xmlns:a="http://schemas.openxmlformats.org/drawingml/2006/main" noGrp="1"/>
          </p:cNvSpPr>
          <p:nvPr/>
        </p:nvSpPr>
        <p:spPr>
          <a:xfrm xmlns:a="http://schemas.openxmlformats.org/drawingml/2006/main" rot="0" flipH="0" flipV="0">
            <a:off x="4255166" y="3594872"/>
            <a:ext cx="239071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Review</a:t>
            </a:r>
          </a:p>
        </p:txBody>
      </p:sp>
      <p:sp>
        <p:nvSpPr>
          <p:cNvPr id="23" name="Rectangle: Diagonal Corners Snipped 22">
            <a:extLst xmlns:a="http://schemas.openxmlformats.org/drawingml/2006/main">
              <a:ext uri="{FF2B5EF4-FFF2-40B4-BE49-F238E27FC236}">
                <a16:creationId xmlns:a16="http://schemas.microsoft.com/office/drawing/2014/main" id="{A624F8B0-B00E-49B9-46BF-DAECCB71DB20}"/>
              </a:ext>
            </a:extLst>
          </p:cNvPr>
          <p:cNvSpPr>
            <a:spLocks xmlns:a="http://schemas.openxmlformats.org/drawingml/2006/main" noGrp="1"/>
          </p:cNvSpPr>
          <p:nvPr/>
        </p:nvSpPr>
        <p:spPr>
          <a:xfrm xmlns:a="http://schemas.openxmlformats.org/drawingml/2006/main" rot="0" flipH="0" flipV="0">
            <a:off x="6904712" y="3280923"/>
            <a:ext cx="2835531" cy="1126524"/>
          </a:xfrm>
          <a:prstGeom xmlns:a="http://schemas.openxmlformats.org/drawingml/2006/main" prst="snip2DiagRect">
            <a:avLst/>
          </a:prstGeom>
          <a:solidFill xmlns:a="http://schemas.openxmlformats.org/drawingml/2006/main">
            <a:srgbClr val="70AD47">
              <a:lumMod val="75000"/>
            </a:srgbClr>
          </a:solidFill>
          <a:ln xmlns:a="http://schemas.openxmlformats.org/drawingml/2006/main" w="12700" cmpd="sng">
            <a:solidFill>
              <a:srgbClr val="70AD47">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4" name="Rectangle: Diagonal Corners Snipped 23">
            <a:extLst xmlns:a="http://schemas.openxmlformats.org/drawingml/2006/main">
              <a:ext uri="{FF2B5EF4-FFF2-40B4-BE49-F238E27FC236}">
                <a16:creationId xmlns:a16="http://schemas.microsoft.com/office/drawing/2014/main" id="{2784985A-5736-984E-C2C7-113A8B94A9F0}"/>
              </a:ext>
            </a:extLst>
          </p:cNvPr>
          <p:cNvSpPr>
            <a:spLocks xmlns:a="http://schemas.openxmlformats.org/drawingml/2006/main" noGrp="1"/>
          </p:cNvSpPr>
          <p:nvPr/>
        </p:nvSpPr>
        <p:spPr>
          <a:xfrm xmlns:a="http://schemas.openxmlformats.org/drawingml/2006/main" rot="0" flipH="0" flipV="0">
            <a:off x="6972921" y="3352223"/>
            <a:ext cx="2835531" cy="1126524"/>
          </a:xfrm>
          <a:prstGeom xmlns:a="http://schemas.openxmlformats.org/drawingml/2006/main" prst="snip2DiagRect">
            <a:avLst/>
          </a:prstGeom>
          <a:solidFill xmlns:a="http://schemas.openxmlformats.org/drawingml/2006/main">
            <a:srgbClr val="70AD47">
              <a:lumMod val="20000"/>
              <a:lumOff val="80000"/>
            </a:srgbClr>
          </a:solidFill>
          <a:ln xmlns:a="http://schemas.openxmlformats.org/drawingml/2006/main" w="12700" cmpd="sng">
            <a:solidFill>
              <a:srgbClr val="70AD47">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5" name="TextBox 24">
            <a:extLst xmlns:a="http://schemas.openxmlformats.org/drawingml/2006/main">
              <a:ext uri="{FF2B5EF4-FFF2-40B4-BE49-F238E27FC236}">
                <a16:creationId xmlns:a16="http://schemas.microsoft.com/office/drawing/2014/main" id="{FDF625C2-42B4-38A1-882C-2148A34DCFF8}"/>
              </a:ext>
            </a:extLst>
          </p:cNvPr>
          <p:cNvSpPr>
            <a:spLocks xmlns:a="http://schemas.openxmlformats.org/drawingml/2006/main" noGrp="1"/>
          </p:cNvSpPr>
          <p:nvPr/>
        </p:nvSpPr>
        <p:spPr>
          <a:xfrm xmlns:a="http://schemas.openxmlformats.org/drawingml/2006/main" rot="0" flipH="0" flipV="0">
            <a:off x="6951443" y="3704690"/>
            <a:ext cx="2835534"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Approve</a:t>
            </a:r>
          </a:p>
        </p:txBody>
      </p:sp>
      <p:sp>
        <p:nvSpPr>
          <p:cNvPr id="16" name="Rectangle: Diagonal Corners Snipped 15">
            <a:extLst xmlns:a="http://schemas.openxmlformats.org/drawingml/2006/main">
              <a:ext uri="{FF2B5EF4-FFF2-40B4-BE49-F238E27FC236}">
                <a16:creationId xmlns:a16="http://schemas.microsoft.com/office/drawing/2014/main" id="{6F732226-4F7F-8D3B-2A84-E347E06AFC34}"/>
              </a:ext>
            </a:extLst>
          </p:cNvPr>
          <p:cNvSpPr>
            <a:spLocks xmlns:a="http://schemas.openxmlformats.org/drawingml/2006/main" noGrp="1"/>
          </p:cNvSpPr>
          <p:nvPr/>
        </p:nvSpPr>
        <p:spPr>
          <a:xfrm xmlns:a="http://schemas.openxmlformats.org/drawingml/2006/main" rot="0" flipH="0" flipV="0">
            <a:off x="2382645" y="4820710"/>
            <a:ext cx="2835541" cy="1126521"/>
          </a:xfrm>
          <a:prstGeom xmlns:a="http://schemas.openxmlformats.org/drawingml/2006/main" prst="snip2DiagRect">
            <a:avLst/>
          </a:prstGeom>
          <a:solidFill xmlns:a="http://schemas.openxmlformats.org/drawingml/2006/main">
            <a:srgbClr val="4BACC6">
              <a:lumMod val="75000"/>
            </a:srgbClr>
          </a:solidFill>
          <a:ln xmlns:a="http://schemas.openxmlformats.org/drawingml/2006/main" w="12700" cmpd="sng">
            <a:solidFill>
              <a:srgbClr val="4BACC6">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8" name="Rectangle: Diagonal Corners Snipped 17">
            <a:extLst xmlns:a="http://schemas.openxmlformats.org/drawingml/2006/main">
              <a:ext uri="{FF2B5EF4-FFF2-40B4-BE49-F238E27FC236}">
                <a16:creationId xmlns:a16="http://schemas.microsoft.com/office/drawing/2014/main" id="{9E32631D-246F-60A8-1E7E-BB1F97B1C7C2}"/>
              </a:ext>
            </a:extLst>
          </p:cNvPr>
          <p:cNvSpPr>
            <a:spLocks xmlns:a="http://schemas.openxmlformats.org/drawingml/2006/main" noGrp="1"/>
          </p:cNvSpPr>
          <p:nvPr/>
        </p:nvSpPr>
        <p:spPr>
          <a:xfrm xmlns:a="http://schemas.openxmlformats.org/drawingml/2006/main" rot="0" flipH="0" flipV="0">
            <a:off x="2450854" y="4892010"/>
            <a:ext cx="2835541" cy="1126521"/>
          </a:xfrm>
          <a:prstGeom xmlns:a="http://schemas.openxmlformats.org/drawingml/2006/main" prst="snip2DiagRect">
            <a:avLst/>
          </a:prstGeom>
          <a:solidFill xmlns:a="http://schemas.openxmlformats.org/drawingml/2006/main">
            <a:srgbClr val="4BACC6">
              <a:lumMod val="20000"/>
              <a:lumOff val="80000"/>
            </a:srgbClr>
          </a:solidFill>
          <a:ln xmlns:a="http://schemas.openxmlformats.org/drawingml/2006/main" w="12700" cmpd="sng">
            <a:solidFill>
              <a:srgbClr val="4BACC6">
                <a:lumMod val="75000"/>
              </a:srgbClr>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22" name="TextBox 21">
            <a:extLst xmlns:a="http://schemas.openxmlformats.org/drawingml/2006/main">
              <a:ext uri="{FF2B5EF4-FFF2-40B4-BE49-F238E27FC236}">
                <a16:creationId xmlns:a16="http://schemas.microsoft.com/office/drawing/2014/main" id="{5D92C390-8395-723D-0EF0-C0A5A96BF9BA}"/>
              </a:ext>
            </a:extLst>
          </p:cNvPr>
          <p:cNvSpPr>
            <a:spLocks xmlns:a="http://schemas.openxmlformats.org/drawingml/2006/main" noGrp="1"/>
          </p:cNvSpPr>
          <p:nvPr/>
        </p:nvSpPr>
        <p:spPr>
          <a:xfrm xmlns:a="http://schemas.openxmlformats.org/drawingml/2006/main" rot="0" flipH="0" flipV="0">
            <a:off x="2532177" y="5123846"/>
            <a:ext cx="2667741"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Publish and retrieve</a:t>
            </a:r>
          </a:p>
        </p:txBody>
      </p:sp>
      <p:sp>
        <p:nvSpPr>
          <p:cNvPr id="13" name="Rectangle: Diagonal Corners Snipped 12">
            <a:extLst xmlns:a="http://schemas.openxmlformats.org/drawingml/2006/main">
              <a:ext uri="{FF2B5EF4-FFF2-40B4-BE49-F238E27FC236}">
                <a16:creationId xmlns:a16="http://schemas.microsoft.com/office/drawing/2014/main" id="{2A9B835F-FA40-2E2C-C16F-3EF0547A061D}"/>
              </a:ext>
            </a:extLst>
          </p:cNvPr>
          <p:cNvSpPr>
            <a:spLocks xmlns:a="http://schemas.openxmlformats.org/drawingml/2006/main" noGrp="1"/>
          </p:cNvSpPr>
          <p:nvPr/>
        </p:nvSpPr>
        <p:spPr>
          <a:xfrm xmlns:a="http://schemas.openxmlformats.org/drawingml/2006/main" rot="0" flipH="0" flipV="0">
            <a:off x="5374868" y="4820716"/>
            <a:ext cx="2835534" cy="1126524"/>
          </a:xfrm>
          <a:prstGeom xmlns:a="http://schemas.openxmlformats.org/drawingml/2006/main" prst="snip2DiagRect">
            <a:avLst/>
          </a:prstGeom>
          <a:solidFill xmlns:a="http://schemas.openxmlformats.org/drawingml/2006/main">
            <a:srgbClr val="C0504D"/>
          </a:solidFill>
          <a:ln xmlns:a="http://schemas.openxmlformats.org/drawingml/2006/main" w="12700" cmpd="sng">
            <a:solidFill>
              <a:srgbClr val="C0504D"/>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4" name="Rectangle: Diagonal Corners Snipped 13">
            <a:extLst xmlns:a="http://schemas.openxmlformats.org/drawingml/2006/main">
              <a:ext uri="{FF2B5EF4-FFF2-40B4-BE49-F238E27FC236}">
                <a16:creationId xmlns:a16="http://schemas.microsoft.com/office/drawing/2014/main" id="{E1FD9A63-DE25-2951-B162-96D8C936000F}"/>
              </a:ext>
            </a:extLst>
          </p:cNvPr>
          <p:cNvSpPr>
            <a:spLocks xmlns:a="http://schemas.openxmlformats.org/drawingml/2006/main" noGrp="1"/>
          </p:cNvSpPr>
          <p:nvPr/>
        </p:nvSpPr>
        <p:spPr>
          <a:xfrm xmlns:a="http://schemas.openxmlformats.org/drawingml/2006/main" rot="0" flipH="0" flipV="0">
            <a:off x="5443076" y="4892016"/>
            <a:ext cx="2835534" cy="1126524"/>
          </a:xfrm>
          <a:prstGeom xmlns:a="http://schemas.openxmlformats.org/drawingml/2006/main" prst="snip2DiagRect">
            <a:avLst/>
          </a:prstGeom>
          <a:solidFill xmlns:a="http://schemas.openxmlformats.org/drawingml/2006/main">
            <a:srgbClr val="C0504D">
              <a:lumMod val="20000"/>
              <a:lumOff val="80000"/>
            </a:srgbClr>
          </a:solidFill>
          <a:ln xmlns:a="http://schemas.openxmlformats.org/drawingml/2006/main" w="12700" cmpd="sng">
            <a:solidFill>
              <a:srgbClr val="C0504D"/>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5" name="TextBox 14">
            <a:extLst xmlns:a="http://schemas.openxmlformats.org/drawingml/2006/main">
              <a:ext uri="{FF2B5EF4-FFF2-40B4-BE49-F238E27FC236}">
                <a16:creationId xmlns:a16="http://schemas.microsoft.com/office/drawing/2014/main" id="{98DD9F7C-0475-5757-DDE7-43F58D46557C}"/>
              </a:ext>
            </a:extLst>
          </p:cNvPr>
          <p:cNvSpPr>
            <a:spLocks xmlns:a="http://schemas.openxmlformats.org/drawingml/2006/main" noGrp="1"/>
          </p:cNvSpPr>
          <p:nvPr/>
        </p:nvSpPr>
        <p:spPr>
          <a:xfrm xmlns:a="http://schemas.openxmlformats.org/drawingml/2006/main" rot="0" flipH="0" flipV="0">
            <a:off x="5230121" y="5138687"/>
            <a:ext cx="321219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Update</a:t>
            </a:r>
          </a:p>
        </p:txBody>
      </p:sp>
      <p:sp>
        <p:nvSpPr>
          <p:cNvPr id="10" name="Rectangle: Diagonal Corners Snipped 9">
            <a:extLst xmlns:a="http://schemas.openxmlformats.org/drawingml/2006/main">
              <a:ext uri="{FF2B5EF4-FFF2-40B4-BE49-F238E27FC236}">
                <a16:creationId xmlns:a16="http://schemas.microsoft.com/office/drawing/2014/main" id="{70D42EB1-F3B2-E079-0BF7-EFB3A399AD2B}"/>
              </a:ext>
            </a:extLst>
          </p:cNvPr>
          <p:cNvSpPr>
            <a:spLocks xmlns:a="http://schemas.openxmlformats.org/drawingml/2006/main" noGrp="1"/>
          </p:cNvSpPr>
          <p:nvPr/>
        </p:nvSpPr>
        <p:spPr>
          <a:xfrm xmlns:a="http://schemas.openxmlformats.org/drawingml/2006/main" rot="0" flipH="0" flipV="0">
            <a:off x="8358606" y="4820716"/>
            <a:ext cx="2835532" cy="1126524"/>
          </a:xfrm>
          <a:prstGeom xmlns:a="http://schemas.openxmlformats.org/drawingml/2006/main" prst="snip2DiagRect">
            <a:avLst/>
          </a:prstGeom>
          <a:solidFill xmlns:a="http://schemas.openxmlformats.org/drawingml/2006/main">
            <a:srgbClr val="BF9000"/>
          </a:solidFill>
          <a:ln xmlns:a="http://schemas.openxmlformats.org/drawingml/2006/main" w="12700" cmpd="sng">
            <a:solidFill>
              <a:srgbClr val="AC5288"/>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1" name="Rectangle: Diagonal Corners Snipped 10">
            <a:extLst xmlns:a="http://schemas.openxmlformats.org/drawingml/2006/main">
              <a:ext uri="{FF2B5EF4-FFF2-40B4-BE49-F238E27FC236}">
                <a16:creationId xmlns:a16="http://schemas.microsoft.com/office/drawing/2014/main" id="{581019AA-542D-2B47-1808-C9FD40AA72F7}"/>
              </a:ext>
            </a:extLst>
          </p:cNvPr>
          <p:cNvSpPr>
            <a:spLocks xmlns:a="http://schemas.openxmlformats.org/drawingml/2006/main" noGrp="1"/>
          </p:cNvSpPr>
          <p:nvPr/>
        </p:nvSpPr>
        <p:spPr>
          <a:xfrm xmlns:a="http://schemas.openxmlformats.org/drawingml/2006/main" rot="0" flipH="0" flipV="0">
            <a:off x="8426815" y="4892016"/>
            <a:ext cx="2835532" cy="1126524"/>
          </a:xfrm>
          <a:prstGeom xmlns:a="http://schemas.openxmlformats.org/drawingml/2006/main" prst="snip2DiagRect">
            <a:avLst/>
          </a:prstGeom>
          <a:solidFill xmlns:a="http://schemas.openxmlformats.org/drawingml/2006/main">
            <a:srgbClr val="FFF2CC"/>
          </a:solidFill>
          <a:ln xmlns:a="http://schemas.openxmlformats.org/drawingml/2006/main" w="12700" cmpd="sng">
            <a:solidFill>
              <a:srgbClr val="BF9000"/>
            </a:solidFill>
            <a:prstDash val="solid"/>
          </a:ln>
        </p:spPr>
        <p:txBody>
          <a:bodyPr xmlns:a="http://schemas.openxmlformats.org/drawingml/2006/main" anchor="ct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endParaRPr sz="1600" b="0" i="0" u="none" kern="0" cap="none" spc="0" baseline="0">
              <a:ln>
                <a:noFill/>
              </a:ln>
              <a:solidFill>
                <a:prstClr val="white"/>
              </a:solidFill>
              <a:latin typeface="Calibri"/>
              <a:ea typeface="Calibri"/>
              <a:cs typeface="Calibri"/>
            </a:endParaRPr>
          </a:p>
        </p:txBody>
      </p:sp>
      <p:sp>
        <p:nvSpPr>
          <p:cNvPr id="12" name="TextBox 11">
            <a:extLst xmlns:a="http://schemas.openxmlformats.org/drawingml/2006/main">
              <a:ext uri="{FF2B5EF4-FFF2-40B4-BE49-F238E27FC236}">
                <a16:creationId xmlns:a16="http://schemas.microsoft.com/office/drawing/2014/main" id="{1D4CA841-4FBF-76A0-4BB0-646F1D85595A}"/>
              </a:ext>
            </a:extLst>
          </p:cNvPr>
          <p:cNvSpPr>
            <a:spLocks xmlns:a="http://schemas.openxmlformats.org/drawingml/2006/main" noGrp="1"/>
          </p:cNvSpPr>
          <p:nvPr/>
        </p:nvSpPr>
        <p:spPr>
          <a:xfrm xmlns:a="http://schemas.openxmlformats.org/drawingml/2006/main" rot="0" flipH="0" flipV="0">
            <a:off x="8734083" y="5250871"/>
            <a:ext cx="2343153" cy="3385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46">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Retire</a:t>
            </a:r>
          </a:p>
        </p:txBody>
      </p:sp>
    </p:spTree>
    <p:extLst>
      <p:ext uri="{BB962C8B-B14F-4D97-AF65-F5344CB8AC3E}">
        <p14:creationId xmlns:p14="http://schemas.microsoft.com/office/powerpoint/2010/main" val="291288793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C396D283-1998-9950-F96D-83B7612CDC4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780B0F05-955E-EBD5-A69C-B67956C1AAC1}"/>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Every Knowledge Source Needs an Owner</a:t>
            </a:r>
          </a:p>
        </p:txBody>
      </p:sp>
      <p:sp>
        <p:nvSpPr>
          <p:cNvPr id="20" name="Google Shape;94;p19">
            <a:extLst xmlns:a="http://schemas.openxmlformats.org/drawingml/2006/main">
              <a:ext uri="{FF2B5EF4-FFF2-40B4-BE49-F238E27FC236}">
                <a16:creationId xmlns:a16="http://schemas.microsoft.com/office/drawing/2014/main" id="{DEB1583F-82CF-4140-B717-F2D0E684E480}"/>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A48A4BC5-ABA7-DC41-EE2A-958C77DD39B3}"/>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4C14631D-CFEB-B2CB-440A-86F29EFD8AD7}"/>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Before a source is connected to Copilot, record enough metadata to decide whether it is authoritative, current, permitted and safe to reuse.</a:t>
            </a:r>
          </a:p>
        </p:txBody>
      </p:sp>
      <p:sp>
        <p:nvSpPr>
          <p:cNvPr id="8" name="Freeform 2">
            <a:extLst xmlns:a="http://schemas.openxmlformats.org/drawingml/2006/main">
              <a:ext uri="{FF2B5EF4-FFF2-40B4-BE49-F238E27FC236}">
                <a16:creationId xmlns:a16="http://schemas.microsoft.com/office/drawing/2014/main" id="{E2DBE00A-7CC2-CB56-A84B-ABD970EBB774}"/>
              </a:ext>
            </a:extLst>
          </p:cNvPr>
          <p:cNvSpPr>
            <a:spLocks xmlns:a="http://schemas.openxmlformats.org/drawingml/2006/main" noGrp="1"/>
          </p:cNvSpPr>
          <p:nvPr/>
        </p:nvSpPr>
        <p:spPr>
          <a:xfrm xmlns:a="http://schemas.openxmlformats.org/drawingml/2006/main" rot="0" flipH="0" flipV="0">
            <a:off x="1410577" y="3222410"/>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9" name="Freeform 3">
            <a:extLst xmlns:a="http://schemas.openxmlformats.org/drawingml/2006/main">
              <a:ext uri="{FF2B5EF4-FFF2-40B4-BE49-F238E27FC236}">
                <a16:creationId xmlns:a16="http://schemas.microsoft.com/office/drawing/2014/main" id="{C45AC6DA-FA75-1566-4774-DE7D7C0F8CAD}"/>
              </a:ext>
            </a:extLst>
          </p:cNvPr>
          <p:cNvSpPr>
            <a:spLocks xmlns:a="http://schemas.openxmlformats.org/drawingml/2006/main" noGrp="1"/>
          </p:cNvSpPr>
          <p:nvPr/>
        </p:nvSpPr>
        <p:spPr>
          <a:xfrm xmlns:a="http://schemas.openxmlformats.org/drawingml/2006/main" rot="0" flipH="0" flipV="0">
            <a:off x="1187708" y="3071451"/>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1</a:t>
            </a:r>
          </a:p>
        </p:txBody>
      </p:sp>
      <p:sp>
        <p:nvSpPr>
          <p:cNvPr id="7" name="TextBox 6">
            <a:extLst xmlns:a="http://schemas.openxmlformats.org/drawingml/2006/main">
              <a:ext uri="{FF2B5EF4-FFF2-40B4-BE49-F238E27FC236}">
                <a16:creationId xmlns:a16="http://schemas.microsoft.com/office/drawing/2014/main" id="{428E30E5-738F-86A6-1DDC-FD6278255D80}"/>
              </a:ext>
            </a:extLst>
          </p:cNvPr>
          <p:cNvSpPr>
            <a:spLocks xmlns:a="http://schemas.openxmlformats.org/drawingml/2006/main" noGrp="1"/>
          </p:cNvSpPr>
          <p:nvPr/>
        </p:nvSpPr>
        <p:spPr>
          <a:xfrm xmlns:a="http://schemas.openxmlformats.org/drawingml/2006/main" rot="0" flipH="0" flipV="0">
            <a:off x="1534181" y="3576599"/>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609630">
              <a:lnSpc>
                <a:spcPct val="100000"/>
              </a:lnSpc>
              <a:spcBef>
                <a:spcPts val="0"/>
              </a:spcBef>
              <a:spcAft>
                <a:spcPts val="0"/>
              </a:spcAft>
              <a:buClrTx/>
              <a:buSzTx/>
              <a:buFontTx/>
              <a:buNone/>
            </a:pPr>
            <a:r>
              <a:rPr sz="1600" b="1" i="0" u="none" cap="none" spc="0">
                <a:ln>
                  <a:noFill/>
                </a:ln>
                <a:solidFill>
                  <a:prstClr val="black"/>
                </a:solidFill>
                <a:latin typeface="Calibri"/>
                <a:ea typeface="Calibri"/>
                <a:cs typeface="Calibri"/>
              </a:rPr>
              <a:t>Content owner</a:t>
            </a:r>
          </a:p>
        </p:txBody>
      </p:sp>
      <p:sp>
        <p:nvSpPr>
          <p:cNvPr id="13" name="Freeform 2">
            <a:extLst xmlns:a="http://schemas.openxmlformats.org/drawingml/2006/main">
              <a:ext uri="{FF2B5EF4-FFF2-40B4-BE49-F238E27FC236}">
                <a16:creationId xmlns:a16="http://schemas.microsoft.com/office/drawing/2014/main" id="{D8AE1E2B-F548-1110-AF76-51E960F98B53}"/>
              </a:ext>
            </a:extLst>
          </p:cNvPr>
          <p:cNvSpPr>
            <a:spLocks xmlns:a="http://schemas.openxmlformats.org/drawingml/2006/main" noGrp="1"/>
          </p:cNvSpPr>
          <p:nvPr/>
        </p:nvSpPr>
        <p:spPr>
          <a:xfrm xmlns:a="http://schemas.openxmlformats.org/drawingml/2006/main" rot="0" flipH="0" flipV="0">
            <a:off x="4897034" y="3220694"/>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14" name="Freeform 3">
            <a:extLst xmlns:a="http://schemas.openxmlformats.org/drawingml/2006/main">
              <a:ext uri="{FF2B5EF4-FFF2-40B4-BE49-F238E27FC236}">
                <a16:creationId xmlns:a16="http://schemas.microsoft.com/office/drawing/2014/main" id="{D6E045A0-1D4F-5CCC-A221-5F3F2A07101A}"/>
              </a:ext>
            </a:extLst>
          </p:cNvPr>
          <p:cNvSpPr>
            <a:spLocks xmlns:a="http://schemas.openxmlformats.org/drawingml/2006/main" noGrp="1"/>
          </p:cNvSpPr>
          <p:nvPr/>
        </p:nvSpPr>
        <p:spPr>
          <a:xfrm xmlns:a="http://schemas.openxmlformats.org/drawingml/2006/main" rot="0" flipH="0" flipV="0">
            <a:off x="4674165" y="3069735"/>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2</a:t>
            </a:r>
          </a:p>
        </p:txBody>
      </p:sp>
      <p:sp>
        <p:nvSpPr>
          <p:cNvPr id="12" name="TextBox 11">
            <a:extLst xmlns:a="http://schemas.openxmlformats.org/drawingml/2006/main">
              <a:ext uri="{FF2B5EF4-FFF2-40B4-BE49-F238E27FC236}">
                <a16:creationId xmlns:a16="http://schemas.microsoft.com/office/drawing/2014/main" id="{EA156483-77BB-6BB0-115F-BFC05617A0DD}"/>
              </a:ext>
            </a:extLst>
          </p:cNvPr>
          <p:cNvSpPr>
            <a:spLocks xmlns:a="http://schemas.openxmlformats.org/drawingml/2006/main" noGrp="1"/>
          </p:cNvSpPr>
          <p:nvPr/>
        </p:nvSpPr>
        <p:spPr>
          <a:xfrm xmlns:a="http://schemas.openxmlformats.org/drawingml/2006/main" rot="0" flipH="0" flipV="0">
            <a:off x="4912819" y="3577846"/>
            <a:ext cx="283442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Authority and status</a:t>
            </a:r>
            <a:endParaRPr sz="1467" b="0" i="0" u="none" kern="0" cap="none" spc="0" baseline="0">
              <a:ln>
                <a:noFill/>
              </a:ln>
              <a:solidFill>
                <a:prstClr val="black"/>
              </a:solidFill>
              <a:latin typeface="Calibri"/>
              <a:ea typeface="Calibri"/>
              <a:cs typeface="Calibri"/>
            </a:endParaRPr>
          </a:p>
        </p:txBody>
      </p:sp>
      <p:sp>
        <p:nvSpPr>
          <p:cNvPr id="22" name="Freeform 2">
            <a:extLst xmlns:a="http://schemas.openxmlformats.org/drawingml/2006/main">
              <a:ext uri="{FF2B5EF4-FFF2-40B4-BE49-F238E27FC236}">
                <a16:creationId xmlns:a16="http://schemas.microsoft.com/office/drawing/2014/main" id="{F34B2837-6712-1649-E6D6-FD214E360A37}"/>
              </a:ext>
            </a:extLst>
          </p:cNvPr>
          <p:cNvSpPr>
            <a:spLocks xmlns:a="http://schemas.openxmlformats.org/drawingml/2006/main" noGrp="1"/>
          </p:cNvSpPr>
          <p:nvPr/>
        </p:nvSpPr>
        <p:spPr>
          <a:xfrm xmlns:a="http://schemas.openxmlformats.org/drawingml/2006/main" rot="0" flipH="0" flipV="0">
            <a:off x="8383492" y="3220694"/>
            <a:ext cx="2834420" cy="1139404"/>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3" name="Freeform 3">
            <a:extLst xmlns:a="http://schemas.openxmlformats.org/drawingml/2006/main">
              <a:ext uri="{FF2B5EF4-FFF2-40B4-BE49-F238E27FC236}">
                <a16:creationId xmlns:a16="http://schemas.microsoft.com/office/drawing/2014/main" id="{E5D1E5B4-8BBC-71CD-ECC9-112D7342C464}"/>
              </a:ext>
            </a:extLst>
          </p:cNvPr>
          <p:cNvSpPr>
            <a:spLocks xmlns:a="http://schemas.openxmlformats.org/drawingml/2006/main" noGrp="1"/>
          </p:cNvSpPr>
          <p:nvPr/>
        </p:nvSpPr>
        <p:spPr>
          <a:xfrm xmlns:a="http://schemas.openxmlformats.org/drawingml/2006/main" rot="0" flipH="0" flipV="0">
            <a:off x="8160623" y="306973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3</a:t>
            </a:r>
          </a:p>
        </p:txBody>
      </p:sp>
      <p:sp>
        <p:nvSpPr>
          <p:cNvPr id="18" name="TextBox 17">
            <a:extLst xmlns:a="http://schemas.openxmlformats.org/drawingml/2006/main">
              <a:ext uri="{FF2B5EF4-FFF2-40B4-BE49-F238E27FC236}">
                <a16:creationId xmlns:a16="http://schemas.microsoft.com/office/drawing/2014/main" id="{7FFD516B-0F8E-280E-72B3-4B03ADA5956C}"/>
              </a:ext>
            </a:extLst>
          </p:cNvPr>
          <p:cNvSpPr>
            <a:spLocks xmlns:a="http://schemas.openxmlformats.org/drawingml/2006/main" noGrp="1"/>
          </p:cNvSpPr>
          <p:nvPr/>
        </p:nvSpPr>
        <p:spPr>
          <a:xfrm xmlns:a="http://schemas.openxmlformats.org/drawingml/2006/main" rot="0" flipH="0" flipV="0">
            <a:off x="8492025" y="3572978"/>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Intended audience</a:t>
            </a:r>
            <a:endParaRPr sz="1600" b="1" i="0" u="none" kern="0" cap="none" spc="0" baseline="0">
              <a:ln>
                <a:noFill/>
              </a:ln>
              <a:solidFill>
                <a:prstClr val="black"/>
              </a:solidFill>
              <a:latin typeface="Calibri"/>
              <a:ea typeface="Calibri"/>
              <a:cs typeface="Calibri"/>
            </a:endParaRPr>
          </a:p>
        </p:txBody>
      </p:sp>
      <p:sp>
        <p:nvSpPr>
          <p:cNvPr id="27" name="Freeform 2">
            <a:extLst xmlns:a="http://schemas.openxmlformats.org/drawingml/2006/main">
              <a:ext uri="{FF2B5EF4-FFF2-40B4-BE49-F238E27FC236}">
                <a16:creationId xmlns:a16="http://schemas.microsoft.com/office/drawing/2014/main" id="{16891978-EE90-B8F1-546A-0E80E8BA35EF}"/>
              </a:ext>
            </a:extLst>
          </p:cNvPr>
          <p:cNvSpPr>
            <a:spLocks xmlns:a="http://schemas.openxmlformats.org/drawingml/2006/main" noGrp="1"/>
          </p:cNvSpPr>
          <p:nvPr/>
        </p:nvSpPr>
        <p:spPr>
          <a:xfrm xmlns:a="http://schemas.openxmlformats.org/drawingml/2006/main" rot="0" flipH="0" flipV="0">
            <a:off x="1438532" y="491713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8" name="Freeform 3">
            <a:extLst xmlns:a="http://schemas.openxmlformats.org/drawingml/2006/main">
              <a:ext uri="{FF2B5EF4-FFF2-40B4-BE49-F238E27FC236}">
                <a16:creationId xmlns:a16="http://schemas.microsoft.com/office/drawing/2014/main" id="{9B678107-6042-D40B-9F23-041BB1B48810}"/>
              </a:ext>
            </a:extLst>
          </p:cNvPr>
          <p:cNvSpPr>
            <a:spLocks xmlns:a="http://schemas.openxmlformats.org/drawingml/2006/main" noGrp="1"/>
          </p:cNvSpPr>
          <p:nvPr/>
        </p:nvSpPr>
        <p:spPr>
          <a:xfrm xmlns:a="http://schemas.openxmlformats.org/drawingml/2006/main" rot="0" flipH="0" flipV="0">
            <a:off x="1215663" y="4766176"/>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4</a:t>
            </a:r>
          </a:p>
        </p:txBody>
      </p:sp>
      <p:sp>
        <p:nvSpPr>
          <p:cNvPr id="26" name="TextBox 25">
            <a:extLst xmlns:a="http://schemas.openxmlformats.org/drawingml/2006/main">
              <a:ext uri="{FF2B5EF4-FFF2-40B4-BE49-F238E27FC236}">
                <a16:creationId xmlns:a16="http://schemas.microsoft.com/office/drawing/2014/main" id="{0AF03C4D-BE12-903F-7FA0-C844058395DF}"/>
              </a:ext>
            </a:extLst>
          </p:cNvPr>
          <p:cNvSpPr>
            <a:spLocks xmlns:a="http://schemas.openxmlformats.org/drawingml/2006/main" noGrp="1"/>
          </p:cNvSpPr>
          <p:nvPr/>
        </p:nvSpPr>
        <p:spPr>
          <a:xfrm xmlns:a="http://schemas.openxmlformats.org/drawingml/2006/main" rot="0" flipH="0" flipV="0">
            <a:off x="1506226" y="5260728"/>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Effective date</a:t>
            </a:r>
            <a:endParaRPr sz="1600" b="1" i="0" u="none" kern="0" cap="none" spc="0" baseline="0">
              <a:ln>
                <a:noFill/>
              </a:ln>
              <a:solidFill>
                <a:prstClr val="black"/>
              </a:solidFill>
              <a:latin typeface="Calibri"/>
              <a:ea typeface="Calibri"/>
              <a:cs typeface="Calibri"/>
            </a:endParaRPr>
          </a:p>
        </p:txBody>
      </p:sp>
      <p:sp>
        <p:nvSpPr>
          <p:cNvPr id="32" name="Freeform 2">
            <a:extLst xmlns:a="http://schemas.openxmlformats.org/drawingml/2006/main">
              <a:ext uri="{FF2B5EF4-FFF2-40B4-BE49-F238E27FC236}">
                <a16:creationId xmlns:a16="http://schemas.microsoft.com/office/drawing/2014/main" id="{F656A45D-161B-75C5-9177-D8340131AC25}"/>
              </a:ext>
            </a:extLst>
          </p:cNvPr>
          <p:cNvSpPr>
            <a:spLocks xmlns:a="http://schemas.openxmlformats.org/drawingml/2006/main" noGrp="1"/>
          </p:cNvSpPr>
          <p:nvPr/>
        </p:nvSpPr>
        <p:spPr>
          <a:xfrm xmlns:a="http://schemas.openxmlformats.org/drawingml/2006/main" rot="0" flipH="0" flipV="0">
            <a:off x="5008468" y="491192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3" name="Freeform 3">
            <a:extLst xmlns:a="http://schemas.openxmlformats.org/drawingml/2006/main">
              <a:ext uri="{FF2B5EF4-FFF2-40B4-BE49-F238E27FC236}">
                <a16:creationId xmlns:a16="http://schemas.microsoft.com/office/drawing/2014/main" id="{6B68E53E-0629-330A-EA8E-C8DDBE321E29}"/>
              </a:ext>
            </a:extLst>
          </p:cNvPr>
          <p:cNvSpPr>
            <a:spLocks xmlns:a="http://schemas.openxmlformats.org/drawingml/2006/main" noGrp="1"/>
          </p:cNvSpPr>
          <p:nvPr/>
        </p:nvSpPr>
        <p:spPr>
          <a:xfrm xmlns:a="http://schemas.openxmlformats.org/drawingml/2006/main" rot="0" flipH="0" flipV="0">
            <a:off x="4785599" y="476096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5</a:t>
            </a:r>
          </a:p>
        </p:txBody>
      </p:sp>
      <p:sp>
        <p:nvSpPr>
          <p:cNvPr id="31" name="TextBox 30">
            <a:extLst xmlns:a="http://schemas.openxmlformats.org/drawingml/2006/main">
              <a:ext uri="{FF2B5EF4-FFF2-40B4-BE49-F238E27FC236}">
                <a16:creationId xmlns:a16="http://schemas.microsoft.com/office/drawing/2014/main" id="{6EEC897E-FB4D-4474-FEF0-ED62ACB6A128}"/>
              </a:ext>
            </a:extLst>
          </p:cNvPr>
          <p:cNvSpPr>
            <a:spLocks xmlns:a="http://schemas.openxmlformats.org/drawingml/2006/main" noGrp="1"/>
          </p:cNvSpPr>
          <p:nvPr/>
        </p:nvSpPr>
        <p:spPr>
          <a:xfrm xmlns:a="http://schemas.openxmlformats.org/drawingml/2006/main" rot="0" flipH="0" flipV="0">
            <a:off x="5104117" y="5266032"/>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Next review date</a:t>
            </a:r>
            <a:endParaRPr sz="1600" b="1" i="0" u="none" kern="0" cap="none" spc="0" baseline="0">
              <a:ln>
                <a:noFill/>
              </a:ln>
              <a:solidFill>
                <a:prstClr val="black"/>
              </a:solidFill>
              <a:latin typeface="Calibri"/>
              <a:ea typeface="Calibri"/>
              <a:cs typeface="Calibri"/>
            </a:endParaRPr>
          </a:p>
        </p:txBody>
      </p:sp>
      <p:sp>
        <p:nvSpPr>
          <p:cNvPr id="37" name="Freeform 2">
            <a:extLst xmlns:a="http://schemas.openxmlformats.org/drawingml/2006/main">
              <a:ext uri="{FF2B5EF4-FFF2-40B4-BE49-F238E27FC236}">
                <a16:creationId xmlns:a16="http://schemas.microsoft.com/office/drawing/2014/main" id="{DA2C3D72-3CD2-FB2C-D2FC-F803134D1B5A}"/>
              </a:ext>
            </a:extLst>
          </p:cNvPr>
          <p:cNvSpPr>
            <a:spLocks xmlns:a="http://schemas.openxmlformats.org/drawingml/2006/main" noGrp="1"/>
          </p:cNvSpPr>
          <p:nvPr/>
        </p:nvSpPr>
        <p:spPr>
          <a:xfrm xmlns:a="http://schemas.openxmlformats.org/drawingml/2006/main" rot="0" flipH="0" flipV="0">
            <a:off x="8494926" y="4865608"/>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rgbClr val="74385C"/>
          </a:solidFill>
          <a:ln xmlns:a="http://schemas.openxmlformats.org/drawingml/2006/main" w="25400" cmpd="sng">
            <a:solidFill>
              <a:srgbClr val="74385C"/>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8" name="Freeform 3">
            <a:extLst xmlns:a="http://schemas.openxmlformats.org/drawingml/2006/main">
              <a:ext uri="{FF2B5EF4-FFF2-40B4-BE49-F238E27FC236}">
                <a16:creationId xmlns:a16="http://schemas.microsoft.com/office/drawing/2014/main" id="{0134B811-BE61-C9A3-A684-660DDAF850A6}"/>
              </a:ext>
            </a:extLst>
          </p:cNvPr>
          <p:cNvSpPr>
            <a:spLocks xmlns:a="http://schemas.openxmlformats.org/drawingml/2006/main" noGrp="1"/>
          </p:cNvSpPr>
          <p:nvPr/>
        </p:nvSpPr>
        <p:spPr>
          <a:xfrm xmlns:a="http://schemas.openxmlformats.org/drawingml/2006/main" rot="0" flipH="0" flipV="0">
            <a:off x="8272057" y="4714649"/>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rgbClr val="935F7B"/>
          </a:solidFill>
          <a:ln xmlns:a="http://schemas.openxmlformats.org/drawingml/2006/main" w="9525" cmpd="sng">
            <a:solidFill>
              <a:srgbClr val="935F7B"/>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white"/>
                </a:solidFill>
                <a:latin typeface="Calibri"/>
                <a:ea typeface="Calibri"/>
                <a:cs typeface="Calibri"/>
              </a:rPr>
              <a:t>6</a:t>
            </a:r>
          </a:p>
        </p:txBody>
      </p:sp>
      <p:sp>
        <p:nvSpPr>
          <p:cNvPr id="36" name="TextBox 35">
            <a:extLst xmlns:a="http://schemas.openxmlformats.org/drawingml/2006/main">
              <a:ext uri="{FF2B5EF4-FFF2-40B4-BE49-F238E27FC236}">
                <a16:creationId xmlns:a16="http://schemas.microsoft.com/office/drawing/2014/main" id="{C7B43436-C53A-41FF-2626-538CA297E34B}"/>
              </a:ext>
            </a:extLst>
          </p:cNvPr>
          <p:cNvSpPr>
            <a:spLocks xmlns:a="http://schemas.openxmlformats.org/drawingml/2006/main" noGrp="1"/>
          </p:cNvSpPr>
          <p:nvPr/>
        </p:nvSpPr>
        <p:spPr>
          <a:xfrm xmlns:a="http://schemas.openxmlformats.org/drawingml/2006/main" rot="0" flipH="0" flipV="0">
            <a:off x="8603459" y="5234112"/>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defTabSz="483864">
              <a:buNone/>
            </a:pPr>
            <a:r>
              <a:rPr sz="1600" b="1"/>
              <a:t>Sensitivity and access</a:t>
            </a:r>
            <a:endParaRPr sz="1600" b="1" i="0" u="none" kern="0" cap="none" spc="0" baseline="0">
              <a:ln>
                <a:noFill/>
              </a:ln>
              <a:solidFill>
                <a:prstClr val="black"/>
              </a:solidFill>
              <a:latin typeface="Calibri"/>
              <a:ea typeface="Calibri"/>
              <a:cs typeface="Calibri"/>
            </a:endParaRPr>
          </a:p>
        </p:txBody>
      </p:sp>
    </p:spTree>
    <p:extLst>
      <p:ext uri="{BB962C8B-B14F-4D97-AF65-F5344CB8AC3E}">
        <p14:creationId xmlns:p14="http://schemas.microsoft.com/office/powerpoint/2010/main" val="39473544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D120CC0C-9C7A-F214-5EF0-AC6788B28AF3}"/>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2B23393A-6FE5-F7CB-21E4-8BBB057EB165}"/>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Design the Agent to Expose Uncertainty</a:t>
            </a:r>
          </a:p>
        </p:txBody>
      </p:sp>
      <p:sp>
        <p:nvSpPr>
          <p:cNvPr id="20" name="Google Shape;94;p19">
            <a:extLst xmlns:a="http://schemas.openxmlformats.org/drawingml/2006/main">
              <a:ext uri="{FF2B5EF4-FFF2-40B4-BE49-F238E27FC236}">
                <a16:creationId xmlns:a16="http://schemas.microsoft.com/office/drawing/2014/main" id="{B9224D72-539C-E74D-D551-9DCA3C793FC2}"/>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B8995FF9-7349-8947-99ED-6E6AC1FC145B}"/>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6CAF5591-3A18-7EA4-5A01-AA7202AA4AB4}"/>
              </a:ext>
            </a:extLst>
          </p:cNvPr>
          <p:cNvSpPr>
            <a:spLocks xmlns:a="http://schemas.openxmlformats.org/drawingml/2006/main" noGrp="1"/>
          </p:cNvSpPr>
          <p:nvPr/>
        </p:nvSpPr>
        <p:spPr>
          <a:xfrm xmlns:a="http://schemas.openxmlformats.org/drawingml/2006/main">
            <a:off x="605307" y="1442766"/>
            <a:ext cx="1105611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 policy agent should make evidence visible. It should not hide missing information, merge conflicting rules or claim authority it does not have.</a:t>
            </a:r>
          </a:p>
        </p:txBody>
      </p:sp>
      <p:sp>
        <p:nvSpPr>
          <p:cNvPr id="6" name="Freeform 2">
            <a:extLst xmlns:a="http://schemas.openxmlformats.org/drawingml/2006/main">
              <a:ext uri="{FF2B5EF4-FFF2-40B4-BE49-F238E27FC236}">
                <a16:creationId xmlns:a16="http://schemas.microsoft.com/office/drawing/2014/main" id="{88C9A0DC-FCA6-1F48-9A76-97D23DF7DFFD}"/>
              </a:ext>
            </a:extLst>
          </p:cNvPr>
          <p:cNvSpPr>
            <a:spLocks xmlns:a="http://schemas.openxmlformats.org/drawingml/2006/main" noGrp="1"/>
          </p:cNvSpPr>
          <p:nvPr/>
        </p:nvSpPr>
        <p:spPr>
          <a:xfrm xmlns:a="http://schemas.openxmlformats.org/drawingml/2006/main" rot="0" flipH="0" flipV="0">
            <a:off x="1308977" y="3300920"/>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chemeClr val="accent2">
              <a:lumMod val="60000"/>
              <a:lumOff val="40000"/>
            </a:schemeClr>
          </a:solidFill>
          <a:ln xmlns:a="http://schemas.openxmlformats.org/drawingml/2006/main" w="25400" cmpd="sng">
            <a:solidFill>
              <a:schemeClr val="accent2">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7" name="Freeform 3">
            <a:extLst xmlns:a="http://schemas.openxmlformats.org/drawingml/2006/main">
              <a:ext uri="{FF2B5EF4-FFF2-40B4-BE49-F238E27FC236}">
                <a16:creationId xmlns:a16="http://schemas.microsoft.com/office/drawing/2014/main" id="{A4E8C4E9-7693-D4F3-2A88-60663CADE7A3}"/>
              </a:ext>
            </a:extLst>
          </p:cNvPr>
          <p:cNvSpPr>
            <a:spLocks xmlns:a="http://schemas.openxmlformats.org/drawingml/2006/main" noGrp="1"/>
          </p:cNvSpPr>
          <p:nvPr/>
        </p:nvSpPr>
        <p:spPr>
          <a:xfrm xmlns:a="http://schemas.openxmlformats.org/drawingml/2006/main" rot="0" flipH="0" flipV="0">
            <a:off x="1086108" y="3149961"/>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chemeClr val="accent2">
              <a:lumMod val="60000"/>
              <a:lumOff val="40000"/>
            </a:schemeClr>
          </a:solidFill>
          <a:ln xmlns:a="http://schemas.openxmlformats.org/drawingml/2006/main" w="9525" cmpd="sng">
            <a:solidFill>
              <a:schemeClr val="accent2">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black"/>
                </a:solidFill>
                <a:latin typeface="Calibri"/>
                <a:ea typeface="Calibri"/>
                <a:cs typeface="Calibri"/>
              </a:rPr>
              <a:t>1</a:t>
            </a:r>
          </a:p>
        </p:txBody>
      </p:sp>
      <p:sp>
        <p:nvSpPr>
          <p:cNvPr id="5" name="TextBox 4">
            <a:extLst xmlns:a="http://schemas.openxmlformats.org/drawingml/2006/main">
              <a:ext uri="{FF2B5EF4-FFF2-40B4-BE49-F238E27FC236}">
                <a16:creationId xmlns:a16="http://schemas.microsoft.com/office/drawing/2014/main" id="{BD351133-ABAE-1B59-9EE6-3097D9DDC289}"/>
              </a:ext>
            </a:extLst>
          </p:cNvPr>
          <p:cNvSpPr>
            <a:spLocks xmlns:a="http://schemas.openxmlformats.org/drawingml/2006/main" noGrp="1"/>
          </p:cNvSpPr>
          <p:nvPr/>
        </p:nvSpPr>
        <p:spPr>
          <a:xfrm xmlns:a="http://schemas.openxmlformats.org/drawingml/2006/main" rot="0" flipH="0" flipV="0">
            <a:off x="1432581" y="3655109"/>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609630">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Cite the source</a:t>
            </a:r>
          </a:p>
        </p:txBody>
      </p:sp>
      <p:sp>
        <p:nvSpPr>
          <p:cNvPr id="11" name="Freeform 2">
            <a:extLst xmlns:a="http://schemas.openxmlformats.org/drawingml/2006/main">
              <a:ext uri="{FF2B5EF4-FFF2-40B4-BE49-F238E27FC236}">
                <a16:creationId xmlns:a16="http://schemas.microsoft.com/office/drawing/2014/main" id="{ADB12E2F-BE81-EE67-71BB-247B1F68D761}"/>
              </a:ext>
            </a:extLst>
          </p:cNvPr>
          <p:cNvSpPr>
            <a:spLocks xmlns:a="http://schemas.openxmlformats.org/drawingml/2006/main" noGrp="1"/>
          </p:cNvSpPr>
          <p:nvPr/>
        </p:nvSpPr>
        <p:spPr>
          <a:xfrm xmlns:a="http://schemas.openxmlformats.org/drawingml/2006/main" rot="0" flipH="0" flipV="0">
            <a:off x="4795434" y="3299204"/>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chemeClr val="accent5">
              <a:lumMod val="60000"/>
              <a:lumOff val="40000"/>
            </a:schemeClr>
          </a:solidFill>
          <a:ln xmlns:a="http://schemas.openxmlformats.org/drawingml/2006/main" w="25400" cmpd="sng">
            <a:solidFill>
              <a:schemeClr val="accent5">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12" name="Freeform 3">
            <a:extLst xmlns:a="http://schemas.openxmlformats.org/drawingml/2006/main">
              <a:ext uri="{FF2B5EF4-FFF2-40B4-BE49-F238E27FC236}">
                <a16:creationId xmlns:a16="http://schemas.microsoft.com/office/drawing/2014/main" id="{43E33AFE-CE3F-1A04-DB80-613623566AB0}"/>
              </a:ext>
            </a:extLst>
          </p:cNvPr>
          <p:cNvSpPr>
            <a:spLocks xmlns:a="http://schemas.openxmlformats.org/drawingml/2006/main" noGrp="1"/>
          </p:cNvSpPr>
          <p:nvPr/>
        </p:nvSpPr>
        <p:spPr>
          <a:xfrm xmlns:a="http://schemas.openxmlformats.org/drawingml/2006/main" rot="0" flipH="0" flipV="0">
            <a:off x="4572565" y="3148245"/>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chemeClr val="accent5">
              <a:lumMod val="60000"/>
              <a:lumOff val="40000"/>
            </a:schemeClr>
          </a:solidFill>
          <a:ln xmlns:a="http://schemas.openxmlformats.org/drawingml/2006/main" w="9525" cmpd="sng">
            <a:solidFill>
              <a:schemeClr val="accent5">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black"/>
                </a:solidFill>
                <a:latin typeface="Calibri"/>
                <a:ea typeface="Calibri"/>
                <a:cs typeface="Calibri"/>
              </a:rPr>
              <a:t>2</a:t>
            </a:r>
          </a:p>
        </p:txBody>
      </p:sp>
      <p:sp>
        <p:nvSpPr>
          <p:cNvPr id="10" name="TextBox 9">
            <a:extLst xmlns:a="http://schemas.openxmlformats.org/drawingml/2006/main">
              <a:ext uri="{FF2B5EF4-FFF2-40B4-BE49-F238E27FC236}">
                <a16:creationId xmlns:a16="http://schemas.microsoft.com/office/drawing/2014/main" id="{B9D80131-7964-A0D4-2E74-BA4CDBA277F8}"/>
              </a:ext>
            </a:extLst>
          </p:cNvPr>
          <p:cNvSpPr>
            <a:spLocks xmlns:a="http://schemas.openxmlformats.org/drawingml/2006/main" noGrp="1"/>
          </p:cNvSpPr>
          <p:nvPr/>
        </p:nvSpPr>
        <p:spPr>
          <a:xfrm xmlns:a="http://schemas.openxmlformats.org/drawingml/2006/main" rot="0" flipH="0" flipV="0">
            <a:off x="4811219" y="3676020"/>
            <a:ext cx="283442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Show the effective date</a:t>
            </a:r>
          </a:p>
        </p:txBody>
      </p:sp>
      <p:sp>
        <p:nvSpPr>
          <p:cNvPr id="16" name="Freeform 2">
            <a:extLst xmlns:a="http://schemas.openxmlformats.org/drawingml/2006/main">
              <a:ext uri="{FF2B5EF4-FFF2-40B4-BE49-F238E27FC236}">
                <a16:creationId xmlns:a16="http://schemas.microsoft.com/office/drawing/2014/main" id="{8766E700-0BCC-AF0B-681E-5ADF9F04B3CB}"/>
              </a:ext>
            </a:extLst>
          </p:cNvPr>
          <p:cNvSpPr>
            <a:spLocks xmlns:a="http://schemas.openxmlformats.org/drawingml/2006/main" noGrp="1"/>
          </p:cNvSpPr>
          <p:nvPr/>
        </p:nvSpPr>
        <p:spPr>
          <a:xfrm xmlns:a="http://schemas.openxmlformats.org/drawingml/2006/main" rot="0" flipH="0" flipV="0">
            <a:off x="8281892" y="3299204"/>
            <a:ext cx="2834420" cy="1139404"/>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chemeClr val="accent6">
              <a:lumMod val="60000"/>
              <a:lumOff val="40000"/>
            </a:schemeClr>
          </a:solidFill>
          <a:ln xmlns:a="http://schemas.openxmlformats.org/drawingml/2006/main" w="25400" cmpd="sng">
            <a:solidFill>
              <a:schemeClr val="accent6">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18" name="Freeform 3">
            <a:extLst xmlns:a="http://schemas.openxmlformats.org/drawingml/2006/main">
              <a:ext uri="{FF2B5EF4-FFF2-40B4-BE49-F238E27FC236}">
                <a16:creationId xmlns:a16="http://schemas.microsoft.com/office/drawing/2014/main" id="{A96BF8F5-DF99-8103-98BC-DF55C45A367E}"/>
              </a:ext>
            </a:extLst>
          </p:cNvPr>
          <p:cNvSpPr>
            <a:spLocks xmlns:a="http://schemas.openxmlformats.org/drawingml/2006/main" noGrp="1"/>
          </p:cNvSpPr>
          <p:nvPr/>
        </p:nvSpPr>
        <p:spPr>
          <a:xfrm xmlns:a="http://schemas.openxmlformats.org/drawingml/2006/main" rot="0" flipH="0" flipV="0">
            <a:off x="8059023" y="314824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chemeClr val="accent6">
              <a:lumMod val="60000"/>
              <a:lumOff val="40000"/>
            </a:schemeClr>
          </a:solidFill>
          <a:ln xmlns:a="http://schemas.openxmlformats.org/drawingml/2006/main" w="9525" cmpd="sng">
            <a:solidFill>
              <a:schemeClr val="accent6">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black"/>
                </a:solidFill>
                <a:latin typeface="Calibri"/>
                <a:ea typeface="Calibri"/>
                <a:cs typeface="Calibri"/>
              </a:rPr>
              <a:t>3</a:t>
            </a:r>
          </a:p>
        </p:txBody>
      </p:sp>
      <p:sp>
        <p:nvSpPr>
          <p:cNvPr id="15" name="TextBox 14">
            <a:extLst xmlns:a="http://schemas.openxmlformats.org/drawingml/2006/main">
              <a:ext uri="{FF2B5EF4-FFF2-40B4-BE49-F238E27FC236}">
                <a16:creationId xmlns:a16="http://schemas.microsoft.com/office/drawing/2014/main" id="{FD593352-A86F-78DB-FE57-9904444C200D}"/>
              </a:ext>
            </a:extLst>
          </p:cNvPr>
          <p:cNvSpPr>
            <a:spLocks xmlns:a="http://schemas.openxmlformats.org/drawingml/2006/main" noGrp="1"/>
          </p:cNvSpPr>
          <p:nvPr/>
        </p:nvSpPr>
        <p:spPr>
          <a:xfrm xmlns:a="http://schemas.openxmlformats.org/drawingml/2006/main" rot="0" flipH="0" flipV="0">
            <a:off x="8390425" y="3651488"/>
            <a:ext cx="2643123" cy="584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Separate policy and guidance</a:t>
            </a:r>
          </a:p>
        </p:txBody>
      </p:sp>
      <p:sp>
        <p:nvSpPr>
          <p:cNvPr id="25" name="Freeform 2">
            <a:extLst xmlns:a="http://schemas.openxmlformats.org/drawingml/2006/main">
              <a:ext uri="{FF2B5EF4-FFF2-40B4-BE49-F238E27FC236}">
                <a16:creationId xmlns:a16="http://schemas.microsoft.com/office/drawing/2014/main" id="{079C95C4-D3F6-3D9C-492F-3BA5145DFACD}"/>
              </a:ext>
            </a:extLst>
          </p:cNvPr>
          <p:cNvSpPr>
            <a:spLocks xmlns:a="http://schemas.openxmlformats.org/drawingml/2006/main" noGrp="1"/>
          </p:cNvSpPr>
          <p:nvPr/>
        </p:nvSpPr>
        <p:spPr>
          <a:xfrm xmlns:a="http://schemas.openxmlformats.org/drawingml/2006/main" rot="0" flipH="0" flipV="0">
            <a:off x="3135252" y="499564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chemeClr val="accent4">
              <a:lumMod val="60000"/>
              <a:lumOff val="40000"/>
            </a:schemeClr>
          </a:solidFill>
          <a:ln xmlns:a="http://schemas.openxmlformats.org/drawingml/2006/main" w="25400" cmpd="sng">
            <a:solidFill>
              <a:schemeClr val="accent4">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26" name="Freeform 3">
            <a:extLst xmlns:a="http://schemas.openxmlformats.org/drawingml/2006/main">
              <a:ext uri="{FF2B5EF4-FFF2-40B4-BE49-F238E27FC236}">
                <a16:creationId xmlns:a16="http://schemas.microsoft.com/office/drawing/2014/main" id="{FAD99BE6-9877-12A7-DA50-CBBFADDF5FCC}"/>
              </a:ext>
            </a:extLst>
          </p:cNvPr>
          <p:cNvSpPr>
            <a:spLocks xmlns:a="http://schemas.openxmlformats.org/drawingml/2006/main" noGrp="1"/>
          </p:cNvSpPr>
          <p:nvPr/>
        </p:nvSpPr>
        <p:spPr>
          <a:xfrm xmlns:a="http://schemas.openxmlformats.org/drawingml/2006/main" rot="0" flipH="0" flipV="0">
            <a:off x="2912383" y="4844686"/>
            <a:ext cx="662803"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chemeClr val="accent4">
              <a:lumMod val="60000"/>
              <a:lumOff val="40000"/>
            </a:schemeClr>
          </a:solidFill>
          <a:ln xmlns:a="http://schemas.openxmlformats.org/drawingml/2006/main" w="9525" cmpd="sng">
            <a:solidFill>
              <a:schemeClr val="accent4">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black"/>
                </a:solidFill>
                <a:latin typeface="Calibri"/>
                <a:ea typeface="Calibri"/>
                <a:cs typeface="Calibri"/>
              </a:rPr>
              <a:t>4</a:t>
            </a:r>
          </a:p>
        </p:txBody>
      </p:sp>
      <p:sp>
        <p:nvSpPr>
          <p:cNvPr id="24" name="TextBox 23">
            <a:extLst xmlns:a="http://schemas.openxmlformats.org/drawingml/2006/main">
              <a:ext uri="{FF2B5EF4-FFF2-40B4-BE49-F238E27FC236}">
                <a16:creationId xmlns:a16="http://schemas.microsoft.com/office/drawing/2014/main" id="{1741563B-8CC3-6FBF-F315-81FCC00B9CB6}"/>
              </a:ext>
            </a:extLst>
          </p:cNvPr>
          <p:cNvSpPr>
            <a:spLocks xmlns:a="http://schemas.openxmlformats.org/drawingml/2006/main" noGrp="1"/>
          </p:cNvSpPr>
          <p:nvPr/>
        </p:nvSpPr>
        <p:spPr>
          <a:xfrm xmlns:a="http://schemas.openxmlformats.org/drawingml/2006/main" rot="0" flipH="0" flipV="0">
            <a:off x="3202946" y="5271396"/>
            <a:ext cx="264312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Expose conflicts and gaps</a:t>
            </a:r>
          </a:p>
        </p:txBody>
      </p:sp>
      <p:sp>
        <p:nvSpPr>
          <p:cNvPr id="30" name="Freeform 2">
            <a:extLst xmlns:a="http://schemas.openxmlformats.org/drawingml/2006/main">
              <a:ext uri="{FF2B5EF4-FFF2-40B4-BE49-F238E27FC236}">
                <a16:creationId xmlns:a16="http://schemas.microsoft.com/office/drawing/2014/main" id="{113B1B0B-1417-1694-293D-065611BD65A6}"/>
              </a:ext>
            </a:extLst>
          </p:cNvPr>
          <p:cNvSpPr>
            <a:spLocks xmlns:a="http://schemas.openxmlformats.org/drawingml/2006/main" noGrp="1"/>
          </p:cNvSpPr>
          <p:nvPr/>
        </p:nvSpPr>
        <p:spPr>
          <a:xfrm xmlns:a="http://schemas.openxmlformats.org/drawingml/2006/main" rot="0" flipH="0" flipV="0">
            <a:off x="6613748" y="4990435"/>
            <a:ext cx="2834420" cy="1139403"/>
          </a:xfrm>
          <a:custGeom xmlns:a="http://schemas.openxmlformats.org/drawingml/2006/main">
            <a:gdLst>
              <a:gd name="T0" fmla="*/ 867 w 7947"/>
              <a:gd name="T1" fmla="*/ 139 h 4750"/>
              <a:gd name="T2" fmla="*/ 867 w 7947"/>
              <a:gd name="T3" fmla="*/ 139 h 4750"/>
              <a:gd name="T4" fmla="*/ 139 w 7947"/>
              <a:gd name="T5" fmla="*/ 866 h 4750"/>
              <a:gd name="T6" fmla="*/ 139 w 7947"/>
              <a:gd name="T7" fmla="*/ 3882 h 4750"/>
              <a:gd name="T8" fmla="*/ 139 w 7947"/>
              <a:gd name="T9" fmla="*/ 3882 h 4750"/>
              <a:gd name="T10" fmla="*/ 867 w 7947"/>
              <a:gd name="T11" fmla="*/ 4610 h 4750"/>
              <a:gd name="T12" fmla="*/ 7079 w 7947"/>
              <a:gd name="T13" fmla="*/ 4610 h 4750"/>
              <a:gd name="T14" fmla="*/ 7079 w 7947"/>
              <a:gd name="T15" fmla="*/ 4610 h 4750"/>
              <a:gd name="T16" fmla="*/ 7807 w 7947"/>
              <a:gd name="T17" fmla="*/ 3882 h 4750"/>
              <a:gd name="T18" fmla="*/ 7807 w 7947"/>
              <a:gd name="T19" fmla="*/ 866 h 4750"/>
              <a:gd name="T20" fmla="*/ 7807 w 7947"/>
              <a:gd name="T21" fmla="*/ 866 h 4750"/>
              <a:gd name="T22" fmla="*/ 7079 w 7947"/>
              <a:gd name="T23" fmla="*/ 139 h 4750"/>
              <a:gd name="T24" fmla="*/ 867 w 7947"/>
              <a:gd name="T25" fmla="*/ 139 h 4750"/>
              <a:gd name="T26" fmla="*/ 7079 w 7947"/>
              <a:gd name="T27" fmla="*/ 4749 h 4750"/>
              <a:gd name="T28" fmla="*/ 867 w 7947"/>
              <a:gd name="T29" fmla="*/ 4749 h 4750"/>
              <a:gd name="T30" fmla="*/ 867 w 7947"/>
              <a:gd name="T31" fmla="*/ 4749 h 4750"/>
              <a:gd name="T32" fmla="*/ 0 w 7947"/>
              <a:gd name="T33" fmla="*/ 3882 h 4750"/>
              <a:gd name="T34" fmla="*/ 0 w 7947"/>
              <a:gd name="T35" fmla="*/ 866 h 4750"/>
              <a:gd name="T36" fmla="*/ 0 w 7947"/>
              <a:gd name="T37" fmla="*/ 866 h 4750"/>
              <a:gd name="T38" fmla="*/ 867 w 7947"/>
              <a:gd name="T39" fmla="*/ 0 h 4750"/>
              <a:gd name="T40" fmla="*/ 7079 w 7947"/>
              <a:gd name="T41" fmla="*/ 0 h 4750"/>
              <a:gd name="T42" fmla="*/ 7079 w 7947"/>
              <a:gd name="T43" fmla="*/ 0 h 4750"/>
              <a:gd name="T44" fmla="*/ 7946 w 7947"/>
              <a:gd name="T45" fmla="*/ 866 h 4750"/>
              <a:gd name="T46" fmla="*/ 7946 w 7947"/>
              <a:gd name="T47" fmla="*/ 3882 h 4750"/>
              <a:gd name="T48" fmla="*/ 7946 w 7947"/>
              <a:gd name="T49" fmla="*/ 3882 h 4750"/>
              <a:gd name="T50" fmla="*/ 7079 w 7947"/>
              <a:gd name="T51" fmla="*/ 4749 h 4750"/>
            </a:gdLst>
            <a:rect l="0" t="0" r="r" b="b"/>
            <a:pathLst>
              <a:path w="7947" h="4750">
                <a:moveTo>
                  <a:pt x="867" y="139"/>
                </a:moveTo>
                <a:lnTo>
                  <a:pt x="867" y="139"/>
                </a:lnTo>
                <a:cubicBezTo>
                  <a:pt x="466" y="139"/>
                  <a:pt x="139" y="465"/>
                  <a:pt x="139" y="866"/>
                </a:cubicBezTo>
                <a:lnTo>
                  <a:pt x="139" y="3882"/>
                </a:lnTo>
                <a:lnTo>
                  <a:pt x="139" y="3882"/>
                </a:lnTo>
                <a:cubicBezTo>
                  <a:pt x="139" y="4283"/>
                  <a:pt x="466" y="4610"/>
                  <a:pt x="867" y="4610"/>
                </a:cubicBezTo>
                <a:lnTo>
                  <a:pt x="7079" y="4610"/>
                </a:lnTo>
                <a:lnTo>
                  <a:pt x="7079" y="4610"/>
                </a:lnTo>
                <a:cubicBezTo>
                  <a:pt x="7480" y="4610"/>
                  <a:pt x="7807" y="4283"/>
                  <a:pt x="7807" y="3882"/>
                </a:cubicBezTo>
                <a:lnTo>
                  <a:pt x="7807" y="866"/>
                </a:lnTo>
                <a:lnTo>
                  <a:pt x="7807" y="866"/>
                </a:lnTo>
                <a:cubicBezTo>
                  <a:pt x="7807" y="465"/>
                  <a:pt x="7480" y="139"/>
                  <a:pt x="7079" y="139"/>
                </a:cubicBezTo>
                <a:lnTo>
                  <a:pt x="867" y="139"/>
                </a:lnTo>
                <a:close/>
                <a:moveTo>
                  <a:pt x="7079" y="4749"/>
                </a:moveTo>
                <a:lnTo>
                  <a:pt x="867" y="4749"/>
                </a:lnTo>
                <a:lnTo>
                  <a:pt x="867" y="4749"/>
                </a:lnTo>
                <a:cubicBezTo>
                  <a:pt x="389" y="4749"/>
                  <a:pt x="0" y="4360"/>
                  <a:pt x="0" y="3882"/>
                </a:cubicBezTo>
                <a:lnTo>
                  <a:pt x="0" y="866"/>
                </a:lnTo>
                <a:lnTo>
                  <a:pt x="0" y="866"/>
                </a:lnTo>
                <a:cubicBezTo>
                  <a:pt x="0" y="388"/>
                  <a:pt x="389" y="0"/>
                  <a:pt x="867" y="0"/>
                </a:cubicBezTo>
                <a:lnTo>
                  <a:pt x="7079" y="0"/>
                </a:lnTo>
                <a:lnTo>
                  <a:pt x="7079" y="0"/>
                </a:lnTo>
                <a:cubicBezTo>
                  <a:pt x="7557" y="0"/>
                  <a:pt x="7946" y="388"/>
                  <a:pt x="7946" y="866"/>
                </a:cubicBezTo>
                <a:lnTo>
                  <a:pt x="7946" y="3882"/>
                </a:lnTo>
                <a:lnTo>
                  <a:pt x="7946" y="3882"/>
                </a:lnTo>
                <a:cubicBezTo>
                  <a:pt x="7946" y="4360"/>
                  <a:pt x="7557" y="4749"/>
                  <a:pt x="7079" y="4749"/>
                </a:cubicBezTo>
                <a:close/>
              </a:path>
            </a:pathLst>
          </a:custGeom>
          <a:solidFill xmlns:a="http://schemas.openxmlformats.org/drawingml/2006/main">
            <a:schemeClr val="accent1">
              <a:lumMod val="60000"/>
              <a:lumOff val="40000"/>
            </a:schemeClr>
          </a:solidFill>
          <a:ln xmlns:a="http://schemas.openxmlformats.org/drawingml/2006/main" w="25400" cmpd="sng">
            <a:solidFill>
              <a:schemeClr val="accent1">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endParaRPr sz="1467" b="0" i="0" u="none" kern="0" cap="none" spc="0" baseline="0">
              <a:ln>
                <a:noFill/>
              </a:ln>
              <a:solidFill>
                <a:prstClr val="black"/>
              </a:solidFill>
              <a:latin typeface="Calibri"/>
              <a:ea typeface="Calibri"/>
              <a:cs typeface="Calibri"/>
            </a:endParaRPr>
          </a:p>
        </p:txBody>
      </p:sp>
      <p:sp>
        <p:nvSpPr>
          <p:cNvPr id="31" name="Freeform 3">
            <a:extLst xmlns:a="http://schemas.openxmlformats.org/drawingml/2006/main">
              <a:ext uri="{FF2B5EF4-FFF2-40B4-BE49-F238E27FC236}">
                <a16:creationId xmlns:a16="http://schemas.microsoft.com/office/drawing/2014/main" id="{3664859D-58F7-DBBC-DB74-F8CF9CFF7553}"/>
              </a:ext>
            </a:extLst>
          </p:cNvPr>
          <p:cNvSpPr>
            <a:spLocks xmlns:a="http://schemas.openxmlformats.org/drawingml/2006/main" noGrp="1"/>
          </p:cNvSpPr>
          <p:nvPr/>
        </p:nvSpPr>
        <p:spPr>
          <a:xfrm xmlns:a="http://schemas.openxmlformats.org/drawingml/2006/main" rot="0" flipH="0" flipV="0">
            <a:off x="6390879" y="4839476"/>
            <a:ext cx="662802" cy="445796"/>
          </a:xfrm>
          <a:custGeom xmlns:a="http://schemas.openxmlformats.org/drawingml/2006/main">
            <a:gdLst>
              <a:gd name="T0" fmla="*/ 1285 w 1286"/>
              <a:gd name="T1" fmla="*/ 642 h 1286"/>
              <a:gd name="T2" fmla="*/ 1285 w 1286"/>
              <a:gd name="T3" fmla="*/ 642 h 1286"/>
              <a:gd name="T4" fmla="*/ 642 w 1286"/>
              <a:gd name="T5" fmla="*/ 0 h 1286"/>
              <a:gd name="T6" fmla="*/ 642 w 1286"/>
              <a:gd name="T7" fmla="*/ 0 h 1286"/>
              <a:gd name="T8" fmla="*/ 0 w 1286"/>
              <a:gd name="T9" fmla="*/ 642 h 1286"/>
              <a:gd name="T10" fmla="*/ 0 w 1286"/>
              <a:gd name="T11" fmla="*/ 642 h 1286"/>
              <a:gd name="T12" fmla="*/ 642 w 1286"/>
              <a:gd name="T13" fmla="*/ 1285 h 1286"/>
              <a:gd name="T14" fmla="*/ 642 w 1286"/>
              <a:gd name="T15" fmla="*/ 1285 h 1286"/>
              <a:gd name="T16" fmla="*/ 1285 w 1286"/>
              <a:gd name="T17" fmla="*/ 642 h 1286"/>
            </a:gdLst>
            <a:rect l="0" t="0" r="r" b="b"/>
            <a:pathLst>
              <a:path w="1286" h="1286">
                <a:moveTo>
                  <a:pt x="1285" y="642"/>
                </a:moveTo>
                <a:lnTo>
                  <a:pt x="1285" y="642"/>
                </a:lnTo>
                <a:cubicBezTo>
                  <a:pt x="1285" y="287"/>
                  <a:pt x="997" y="0"/>
                  <a:pt x="642" y="0"/>
                </a:cubicBezTo>
                <a:lnTo>
                  <a:pt x="642" y="0"/>
                </a:lnTo>
                <a:cubicBezTo>
                  <a:pt x="287" y="0"/>
                  <a:pt x="0" y="287"/>
                  <a:pt x="0" y="642"/>
                </a:cubicBezTo>
                <a:lnTo>
                  <a:pt x="0" y="642"/>
                </a:lnTo>
                <a:cubicBezTo>
                  <a:pt x="0" y="997"/>
                  <a:pt x="287" y="1285"/>
                  <a:pt x="642" y="1285"/>
                </a:cubicBezTo>
                <a:lnTo>
                  <a:pt x="642" y="1285"/>
                </a:lnTo>
                <a:cubicBezTo>
                  <a:pt x="997" y="1285"/>
                  <a:pt x="1285" y="997"/>
                  <a:pt x="1285" y="642"/>
                </a:cubicBezTo>
              </a:path>
            </a:pathLst>
          </a:custGeom>
          <a:solidFill xmlns:a="http://schemas.openxmlformats.org/drawingml/2006/main">
            <a:schemeClr val="accent1">
              <a:lumMod val="60000"/>
              <a:lumOff val="40000"/>
            </a:schemeClr>
          </a:solidFill>
          <a:ln xmlns:a="http://schemas.openxmlformats.org/drawingml/2006/main" w="9525" cmpd="sng">
            <a:solidFill>
              <a:schemeClr val="accent1">
                <a:lumMod val="60000"/>
                <a:lumOff val="40000"/>
              </a:schemeClr>
            </a:solidFill>
            <a:prstDash val="solid"/>
          </a:ln>
        </p:spPr>
        <p:txBody>
          <a:bodyPr xmlns:a="http://schemas.openxmlformats.org/drawingml/2006/main" wrap="none" anchor="ct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867" b="1" i="0" u="none" cap="none" spc="0">
                <a:ln>
                  <a:noFill/>
                </a:ln>
                <a:solidFill>
                  <a:prstClr val="black"/>
                </a:solidFill>
                <a:latin typeface="Calibri"/>
                <a:ea typeface="Calibri"/>
                <a:cs typeface="Calibri"/>
              </a:rPr>
              <a:t>5</a:t>
            </a:r>
          </a:p>
        </p:txBody>
      </p:sp>
      <p:sp>
        <p:nvSpPr>
          <p:cNvPr id="29" name="TextBox 28">
            <a:extLst xmlns:a="http://schemas.openxmlformats.org/drawingml/2006/main">
              <a:ext uri="{FF2B5EF4-FFF2-40B4-BE49-F238E27FC236}">
                <a16:creationId xmlns:a16="http://schemas.microsoft.com/office/drawing/2014/main" id="{B85ADD50-59C3-DF99-3B06-475EBF06AF44}"/>
              </a:ext>
            </a:extLst>
          </p:cNvPr>
          <p:cNvSpPr>
            <a:spLocks xmlns:a="http://schemas.openxmlformats.org/drawingml/2006/main" noGrp="1"/>
          </p:cNvSpPr>
          <p:nvPr/>
        </p:nvSpPr>
        <p:spPr>
          <a:xfrm xmlns:a="http://schemas.openxmlformats.org/drawingml/2006/main" rot="0" flipH="0" flipV="0">
            <a:off x="6709397" y="5276702"/>
            <a:ext cx="264312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483864">
              <a:lnSpc>
                <a:spcPct val="100000"/>
              </a:lnSpc>
              <a:spcBef>
                <a:spcPts val="0"/>
              </a:spcBef>
              <a:spcAft>
                <a:spcPts val="0"/>
              </a:spcAft>
              <a:buClrTx/>
              <a:buSzTx/>
              <a:buFontTx/>
              <a:buNone/>
            </a:pPr>
            <a:r>
              <a:rPr sz="1600" b="0" i="0" u="none" cap="none" spc="0">
                <a:ln>
                  <a:noFill/>
                </a:ln>
                <a:solidFill>
                  <a:prstClr val="black"/>
                </a:solidFill>
                <a:latin typeface="Calibri"/>
                <a:ea typeface="Calibri"/>
                <a:cs typeface="Calibri"/>
              </a:rPr>
              <a:t>Escalate to the owner</a:t>
            </a:r>
          </a:p>
        </p:txBody>
      </p:sp>
    </p:spTree>
    <p:extLst>
      <p:ext uri="{BB962C8B-B14F-4D97-AF65-F5344CB8AC3E}">
        <p14:creationId xmlns:p14="http://schemas.microsoft.com/office/powerpoint/2010/main" val="11414216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9" name="Google Shape;93;p19">
            <a:extLst xmlns:a="http://schemas.openxmlformats.org/drawingml/2006/main">
              <a:ext uri="{FF2B5EF4-FFF2-40B4-BE49-F238E27FC236}">
                <a16:creationId xmlns:a16="http://schemas.microsoft.com/office/drawing/2014/main" id="{04E72F9E-05D7-FBA8-4675-A4CD9136717E}"/>
              </a:ext>
            </a:extLst>
          </p:cNvPr>
          <p:cNvSpPr>
            <a:spLocks xmlns:a="http://schemas.openxmlformats.org/drawingml/2006/main" noGrp="1"/>
          </p:cNvSpPr>
          <p:nvPr/>
        </p:nvSpPr>
        <p:spPr>
          <a:xfrm xmlns:a="http://schemas.openxmlformats.org/drawingml/2006/main" rot="10800000" flipH="1">
            <a:off x="0" y="0"/>
            <a:ext cx="5275200" cy="1671600"/>
          </a:xfrm>
          <a:prstGeom xmlns:a="http://schemas.openxmlformats.org/drawingml/2006/main" prst="rtTriangle">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17" name="TextBox 16">
            <a:extLst xmlns:a="http://schemas.openxmlformats.org/drawingml/2006/main">
              <a:ext uri="{FF2B5EF4-FFF2-40B4-BE49-F238E27FC236}">
                <a16:creationId xmlns:a16="http://schemas.microsoft.com/office/drawing/2014/main" id="{D0094DC1-9AB0-0280-CC6A-AFC365F07777}"/>
              </a:ext>
            </a:extLst>
          </p:cNvPr>
          <p:cNvSpPr>
            <a:spLocks xmlns:a="http://schemas.openxmlformats.org/drawingml/2006/main" noGrp="1"/>
          </p:cNvSpPr>
          <p:nvPr/>
        </p:nvSpPr>
        <p:spPr>
          <a:xfrm xmlns:a="http://schemas.openxmlformats.org/drawingml/2006/main">
            <a:off x="605306" y="526691"/>
            <a:ext cx="11154894" cy="64633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3600" b="1" i="0" u="none" cap="none" spc="-100">
                <a:ln>
                  <a:noFill/>
                </a:ln>
                <a:solidFill>
                  <a:srgbClr val="000000"/>
                </a:solidFill>
                <a:latin typeface="Calibri"/>
                <a:ea typeface="Calibri"/>
                <a:cs typeface="Calibri"/>
              </a:rPr>
              <a:t>Pilot Before Organisation-Wide Rollout</a:t>
            </a:r>
          </a:p>
        </p:txBody>
      </p:sp>
      <p:sp>
        <p:nvSpPr>
          <p:cNvPr id="20" name="Google Shape;94;p19">
            <a:extLst xmlns:a="http://schemas.openxmlformats.org/drawingml/2006/main">
              <a:ext uri="{FF2B5EF4-FFF2-40B4-BE49-F238E27FC236}">
                <a16:creationId xmlns:a16="http://schemas.microsoft.com/office/drawing/2014/main" id="{95C8DE92-99BB-63A0-EB0E-4658AF062A84}"/>
              </a:ext>
            </a:extLst>
          </p:cNvPr>
          <p:cNvSpPr>
            <a:spLocks xmlns:a="http://schemas.openxmlformats.org/drawingml/2006/main" noGrp="1"/>
          </p:cNvSpPr>
          <p:nvPr/>
        </p:nvSpPr>
        <p:spPr>
          <a:xfrm xmlns:a="http://schemas.openxmlformats.org/drawingml/2006/main" rot="-5400000">
            <a:off x="10798629" y="5464627"/>
            <a:ext cx="1815737" cy="971008"/>
          </a:xfrm>
          <a:prstGeom xmlns:a="http://schemas.openxmlformats.org/drawingml/2006/main" prst="rtTriangle">
            <a:avLst/>
          </a:prstGeom>
          <a:solidFill xmlns:a="http://schemas.openxmlformats.org/drawingml/2006/main">
            <a:srgbClr val="44318D"/>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Calibri"/>
              <a:ea typeface="Calibri"/>
              <a:cs typeface="Calibri"/>
            </a:endParaRPr>
          </a:p>
        </p:txBody>
      </p:sp>
      <p:sp>
        <p:nvSpPr>
          <p:cNvPr id="21" name="TextBox 20">
            <a:extLst xmlns:a="http://schemas.openxmlformats.org/drawingml/2006/main">
              <a:ext uri="{FF2B5EF4-FFF2-40B4-BE49-F238E27FC236}">
                <a16:creationId xmlns:a16="http://schemas.microsoft.com/office/drawing/2014/main" id="{9F85D937-4F8B-BE8C-D7E8-5B53C87EC8F4}"/>
              </a:ext>
            </a:extLst>
          </p:cNvPr>
          <p:cNvSpPr>
            <a:spLocks xmlns:a="http://schemas.openxmlformats.org/drawingml/2006/main" noGrp="1"/>
          </p:cNvSpPr>
          <p:nvPr/>
        </p:nvSpPr>
        <p:spPr>
          <a:xfrm xmlns:a="http://schemas.openxmlformats.org/drawingml/2006/main">
            <a:off x="8208136" y="14067"/>
            <a:ext cx="39838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800" b="0" i="1" u="none" cap="none" spc="0">
                <a:ln>
                  <a:noFill/>
                </a:ln>
                <a:solidFill>
                  <a:srgbClr val="44318D"/>
                </a:solidFill>
                <a:latin typeface="Garamond"/>
                <a:ea typeface="Garamond"/>
                <a:cs typeface="Garamond"/>
              </a:rPr>
              <a:t>the</a:t>
            </a:r>
            <a:r>
              <a:rPr sz="2800" b="0" i="0" u="none" cap="none" spc="0">
                <a:ln>
                  <a:noFill/>
                </a:ln>
                <a:solidFill>
                  <a:srgbClr val="44318D"/>
                </a:solidFill>
                <a:latin typeface="Garamond"/>
                <a:ea typeface="Garamond"/>
                <a:cs typeface="Garamond"/>
              </a:rPr>
              <a:t>knowledge</a:t>
            </a:r>
            <a:r>
              <a:rPr sz="2800" b="1" i="0" u="none" cap="none" spc="0">
                <a:ln>
                  <a:noFill/>
                </a:ln>
                <a:solidFill>
                  <a:srgbClr val="44318D"/>
                </a:solidFill>
                <a:latin typeface="Garamond"/>
                <a:ea typeface="Garamond"/>
                <a:cs typeface="Garamond"/>
              </a:rPr>
              <a:t>academy</a:t>
            </a:r>
            <a:endParaRPr sz="2800" b="1" i="0" u="none" kern="1200" cap="none" spc="0" baseline="0">
              <a:ln>
                <a:noFill/>
              </a:ln>
              <a:solidFill>
                <a:srgbClr val="44318D"/>
              </a:solidFill>
              <a:latin typeface="Garamond"/>
              <a:ea typeface="Garamond"/>
              <a:cs typeface="Garamond"/>
            </a:endParaRPr>
          </a:p>
        </p:txBody>
      </p:sp>
      <p:sp>
        <p:nvSpPr>
          <p:cNvPr id="2" name="TextBox 1">
            <a:extLst xmlns:a="http://schemas.openxmlformats.org/drawingml/2006/main">
              <a:ext uri="{FF2B5EF4-FFF2-40B4-BE49-F238E27FC236}">
                <a16:creationId xmlns:a16="http://schemas.microsoft.com/office/drawing/2014/main" id="{28A5630B-B21B-118E-EDC5-5F65619B4662}"/>
              </a:ext>
            </a:extLst>
          </p:cNvPr>
          <p:cNvSpPr>
            <a:spLocks xmlns:a="http://schemas.openxmlformats.org/drawingml/2006/main" noGrp="1"/>
          </p:cNvSpPr>
          <p:nvPr/>
        </p:nvSpPr>
        <p:spPr>
          <a:xfrm xmlns:a="http://schemas.openxmlformats.org/drawingml/2006/main">
            <a:off x="605307" y="1442766"/>
            <a:ext cx="11056117" cy="12003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Begin with one policy area, a controlled source set and measurable questions. Expand only after permissions, citations, freshness and escalation work for real users.</a:t>
            </a:r>
          </a:p>
        </p:txBody>
      </p:sp>
      <p:sp>
        <p:nvSpPr>
          <p:cNvPr id="4" name="Google Shape;112;p16">
            <a:extLst xmlns:a="http://schemas.openxmlformats.org/drawingml/2006/main">
              <a:ext uri="{FF2B5EF4-FFF2-40B4-BE49-F238E27FC236}">
                <a16:creationId xmlns:a16="http://schemas.microsoft.com/office/drawing/2014/main" id="{06DDE0C5-D059-A8B8-C24C-04CC57B08C0B}"/>
              </a:ext>
            </a:extLst>
          </p:cNvPr>
          <p:cNvSpPr>
            <a:spLocks xmlns:a="http://schemas.openxmlformats.org/drawingml/2006/main" noGrp="1"/>
          </p:cNvSpPr>
          <p:nvPr/>
        </p:nvSpPr>
        <p:spPr>
          <a:xfrm xmlns:a="http://schemas.openxmlformats.org/drawingml/2006/main" rot="0" flipH="0" flipV="0">
            <a:off x="1149589" y="3002423"/>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5" name="Google Shape;113;p16">
            <a:extLst xmlns:a="http://schemas.openxmlformats.org/drawingml/2006/main">
              <a:ext uri="{FF2B5EF4-FFF2-40B4-BE49-F238E27FC236}">
                <a16:creationId xmlns:a16="http://schemas.microsoft.com/office/drawing/2014/main" id="{44AA0E0E-BA71-3A6E-2BB5-E709BD234436}"/>
              </a:ext>
            </a:extLst>
          </p:cNvPr>
          <p:cNvSpPr>
            <a:spLocks xmlns:a="http://schemas.openxmlformats.org/drawingml/2006/main" noGrp="1"/>
          </p:cNvSpPr>
          <p:nvPr/>
        </p:nvSpPr>
        <p:spPr>
          <a:xfrm xmlns:a="http://schemas.openxmlformats.org/drawingml/2006/main" rot="0" flipH="0" flipV="0">
            <a:off x="1249224" y="3315371"/>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6" name="Google Shape;114;p16">
            <a:extLst xmlns:a="http://schemas.openxmlformats.org/drawingml/2006/main">
              <a:ext uri="{FF2B5EF4-FFF2-40B4-BE49-F238E27FC236}">
                <a16:creationId xmlns:a16="http://schemas.microsoft.com/office/drawing/2014/main" id="{AD86F46A-A35D-2C16-FE18-928F304AC54E}"/>
              </a:ext>
            </a:extLst>
          </p:cNvPr>
          <p:cNvSpPr>
            <a:spLocks xmlns:a="http://schemas.openxmlformats.org/drawingml/2006/main" noGrp="1"/>
          </p:cNvSpPr>
          <p:nvPr/>
        </p:nvSpPr>
        <p:spPr>
          <a:xfrm xmlns:a="http://schemas.openxmlformats.org/drawingml/2006/main" rot="0" flipH="0" flipV="0">
            <a:off x="1466117" y="3087546"/>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Weeks 1–2: Scope</a:t>
            </a:r>
          </a:p>
        </p:txBody>
      </p:sp>
      <p:sp>
        <p:nvSpPr>
          <p:cNvPr id="8" name="Google Shape;112;p16">
            <a:extLst xmlns:a="http://schemas.openxmlformats.org/drawingml/2006/main">
              <a:ext uri="{FF2B5EF4-FFF2-40B4-BE49-F238E27FC236}">
                <a16:creationId xmlns:a16="http://schemas.microsoft.com/office/drawing/2014/main" id="{B964AFCF-5914-8076-DBCC-808B3C3E1178}"/>
              </a:ext>
            </a:extLst>
          </p:cNvPr>
          <p:cNvSpPr>
            <a:spLocks xmlns:a="http://schemas.openxmlformats.org/drawingml/2006/main" noGrp="1"/>
          </p:cNvSpPr>
          <p:nvPr/>
        </p:nvSpPr>
        <p:spPr>
          <a:xfrm xmlns:a="http://schemas.openxmlformats.org/drawingml/2006/main" rot="0" flipH="0" flipV="0">
            <a:off x="1149589" y="4027326"/>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9" name="Google Shape;113;p16">
            <a:extLst xmlns:a="http://schemas.openxmlformats.org/drawingml/2006/main">
              <a:ext uri="{FF2B5EF4-FFF2-40B4-BE49-F238E27FC236}">
                <a16:creationId xmlns:a16="http://schemas.microsoft.com/office/drawing/2014/main" id="{052D7DF7-5DE0-F758-8D14-9E11121E94F7}"/>
              </a:ext>
            </a:extLst>
          </p:cNvPr>
          <p:cNvSpPr>
            <a:spLocks xmlns:a="http://schemas.openxmlformats.org/drawingml/2006/main" noGrp="1"/>
          </p:cNvSpPr>
          <p:nvPr/>
        </p:nvSpPr>
        <p:spPr>
          <a:xfrm xmlns:a="http://schemas.openxmlformats.org/drawingml/2006/main" rot="0" flipH="0" flipV="0">
            <a:off x="1249224" y="4340274"/>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0" name="Google Shape;114;p16">
            <a:extLst xmlns:a="http://schemas.openxmlformats.org/drawingml/2006/main">
              <a:ext uri="{FF2B5EF4-FFF2-40B4-BE49-F238E27FC236}">
                <a16:creationId xmlns:a16="http://schemas.microsoft.com/office/drawing/2014/main" id="{C500C425-8D2F-2842-C05B-4026F825DBBF}"/>
              </a:ext>
            </a:extLst>
          </p:cNvPr>
          <p:cNvSpPr>
            <a:spLocks xmlns:a="http://schemas.openxmlformats.org/drawingml/2006/main" noGrp="1"/>
          </p:cNvSpPr>
          <p:nvPr/>
        </p:nvSpPr>
        <p:spPr>
          <a:xfrm xmlns:a="http://schemas.openxmlformats.org/drawingml/2006/main" rot="0" flipH="0" flipV="0">
            <a:off x="1466117" y="4112449"/>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Weeks 2–3: Clean sources</a:t>
            </a:r>
            <a:endParaRPr sz="1600" b="0" i="0" u="none" kern="0" cap="none" spc="0" baseline="0">
              <a:ln>
                <a:noFill/>
              </a:ln>
              <a:solidFill>
                <a:prstClr val="black"/>
              </a:solidFill>
              <a:latin typeface="Calibri"/>
              <a:ea typeface="Calibri"/>
              <a:cs typeface="Calibri"/>
            </a:endParaRPr>
          </a:p>
        </p:txBody>
      </p:sp>
      <p:sp>
        <p:nvSpPr>
          <p:cNvPr id="12" name="Google Shape;112;p16">
            <a:extLst xmlns:a="http://schemas.openxmlformats.org/drawingml/2006/main">
              <a:ext uri="{FF2B5EF4-FFF2-40B4-BE49-F238E27FC236}">
                <a16:creationId xmlns:a16="http://schemas.microsoft.com/office/drawing/2014/main" id="{8ED01A58-97FA-81CB-FC24-BCF4C764853A}"/>
              </a:ext>
            </a:extLst>
          </p:cNvPr>
          <p:cNvSpPr>
            <a:spLocks xmlns:a="http://schemas.openxmlformats.org/drawingml/2006/main" noGrp="1"/>
          </p:cNvSpPr>
          <p:nvPr/>
        </p:nvSpPr>
        <p:spPr>
          <a:xfrm xmlns:a="http://schemas.openxmlformats.org/drawingml/2006/main" rot="0" flipH="0" flipV="0">
            <a:off x="1149589" y="5026648"/>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3" name="Google Shape;113;p16">
            <a:extLst xmlns:a="http://schemas.openxmlformats.org/drawingml/2006/main">
              <a:ext uri="{FF2B5EF4-FFF2-40B4-BE49-F238E27FC236}">
                <a16:creationId xmlns:a16="http://schemas.microsoft.com/office/drawing/2014/main" id="{CA50E8F0-1804-9637-C9AD-F909FA0B17F4}"/>
              </a:ext>
            </a:extLst>
          </p:cNvPr>
          <p:cNvSpPr>
            <a:spLocks xmlns:a="http://schemas.openxmlformats.org/drawingml/2006/main" noGrp="1"/>
          </p:cNvSpPr>
          <p:nvPr/>
        </p:nvSpPr>
        <p:spPr>
          <a:xfrm xmlns:a="http://schemas.openxmlformats.org/drawingml/2006/main" rot="0" flipH="0" flipV="0">
            <a:off x="1249224" y="5339596"/>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4" name="Google Shape;114;p16">
            <a:extLst xmlns:a="http://schemas.openxmlformats.org/drawingml/2006/main">
              <a:ext uri="{FF2B5EF4-FFF2-40B4-BE49-F238E27FC236}">
                <a16:creationId xmlns:a16="http://schemas.microsoft.com/office/drawing/2014/main" id="{97741BDA-6D42-D8FD-2131-0D26ED2DA138}"/>
              </a:ext>
            </a:extLst>
          </p:cNvPr>
          <p:cNvSpPr>
            <a:spLocks xmlns:a="http://schemas.openxmlformats.org/drawingml/2006/main" noGrp="1"/>
          </p:cNvSpPr>
          <p:nvPr/>
        </p:nvSpPr>
        <p:spPr>
          <a:xfrm xmlns:a="http://schemas.openxmlformats.org/drawingml/2006/main" rot="0" flipH="0" flipV="0">
            <a:off x="1466117" y="5111771"/>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Weeks 3–4: Build agent</a:t>
            </a:r>
            <a:endParaRPr sz="1600" b="0" i="0" u="none" kern="0" cap="none" spc="0" baseline="0">
              <a:ln>
                <a:noFill/>
              </a:ln>
              <a:solidFill>
                <a:prstClr val="black"/>
              </a:solidFill>
              <a:latin typeface="Calibri"/>
              <a:ea typeface="Calibri"/>
              <a:cs typeface="Calibri"/>
            </a:endParaRPr>
          </a:p>
        </p:txBody>
      </p:sp>
      <p:sp>
        <p:nvSpPr>
          <p:cNvPr id="16" name="Google Shape;112;p16">
            <a:extLst xmlns:a="http://schemas.openxmlformats.org/drawingml/2006/main">
              <a:ext uri="{FF2B5EF4-FFF2-40B4-BE49-F238E27FC236}">
                <a16:creationId xmlns:a16="http://schemas.microsoft.com/office/drawing/2014/main" id="{62DCC627-CF76-A812-C137-C00E0843DF68}"/>
              </a:ext>
            </a:extLst>
          </p:cNvPr>
          <p:cNvSpPr>
            <a:spLocks xmlns:a="http://schemas.openxmlformats.org/drawingml/2006/main" noGrp="1"/>
          </p:cNvSpPr>
          <p:nvPr/>
        </p:nvSpPr>
        <p:spPr>
          <a:xfrm xmlns:a="http://schemas.openxmlformats.org/drawingml/2006/main" rot="0" flipH="0" flipV="0">
            <a:off x="6500507" y="3016276"/>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18" name="Google Shape;113;p16">
            <a:extLst xmlns:a="http://schemas.openxmlformats.org/drawingml/2006/main">
              <a:ext uri="{FF2B5EF4-FFF2-40B4-BE49-F238E27FC236}">
                <a16:creationId xmlns:a16="http://schemas.microsoft.com/office/drawing/2014/main" id="{D6D8C0CA-9B5E-6F98-45B3-E47D2C3F9A37}"/>
              </a:ext>
            </a:extLst>
          </p:cNvPr>
          <p:cNvSpPr>
            <a:spLocks xmlns:a="http://schemas.openxmlformats.org/drawingml/2006/main" noGrp="1"/>
          </p:cNvSpPr>
          <p:nvPr/>
        </p:nvSpPr>
        <p:spPr>
          <a:xfrm xmlns:a="http://schemas.openxmlformats.org/drawingml/2006/main" rot="0" flipH="0" flipV="0">
            <a:off x="6600142" y="3329224"/>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2" name="Google Shape;114;p16">
            <a:extLst xmlns:a="http://schemas.openxmlformats.org/drawingml/2006/main">
              <a:ext uri="{FF2B5EF4-FFF2-40B4-BE49-F238E27FC236}">
                <a16:creationId xmlns:a16="http://schemas.microsoft.com/office/drawing/2014/main" id="{712B5DB5-48C5-D63C-66B8-94F5D1780F5F}"/>
              </a:ext>
            </a:extLst>
          </p:cNvPr>
          <p:cNvSpPr>
            <a:spLocks xmlns:a="http://schemas.openxmlformats.org/drawingml/2006/main" noGrp="1"/>
          </p:cNvSpPr>
          <p:nvPr/>
        </p:nvSpPr>
        <p:spPr>
          <a:xfrm xmlns:a="http://schemas.openxmlformats.org/drawingml/2006/main" rot="0" flipH="0" flipV="0">
            <a:off x="6817035" y="3101399"/>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Weeks 5–6: Test</a:t>
            </a:r>
          </a:p>
        </p:txBody>
      </p:sp>
      <p:sp>
        <p:nvSpPr>
          <p:cNvPr id="24" name="Google Shape;112;p16">
            <a:extLst xmlns:a="http://schemas.openxmlformats.org/drawingml/2006/main">
              <a:ext uri="{FF2B5EF4-FFF2-40B4-BE49-F238E27FC236}">
                <a16:creationId xmlns:a16="http://schemas.microsoft.com/office/drawing/2014/main" id="{D83759BE-3970-34DB-932C-08455AF49393}"/>
              </a:ext>
            </a:extLst>
          </p:cNvPr>
          <p:cNvSpPr>
            <a:spLocks xmlns:a="http://schemas.openxmlformats.org/drawingml/2006/main" noGrp="1"/>
          </p:cNvSpPr>
          <p:nvPr/>
        </p:nvSpPr>
        <p:spPr>
          <a:xfrm xmlns:a="http://schemas.openxmlformats.org/drawingml/2006/main" rot="0" flipH="0" flipV="0">
            <a:off x="6500507" y="4041180"/>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5" name="Google Shape;113;p16">
            <a:extLst xmlns:a="http://schemas.openxmlformats.org/drawingml/2006/main">
              <a:ext uri="{FF2B5EF4-FFF2-40B4-BE49-F238E27FC236}">
                <a16:creationId xmlns:a16="http://schemas.microsoft.com/office/drawing/2014/main" id="{A6733DA6-C22F-0EBD-F903-7B777EC931DD}"/>
              </a:ext>
            </a:extLst>
          </p:cNvPr>
          <p:cNvSpPr>
            <a:spLocks xmlns:a="http://schemas.openxmlformats.org/drawingml/2006/main" noGrp="1"/>
          </p:cNvSpPr>
          <p:nvPr/>
        </p:nvSpPr>
        <p:spPr>
          <a:xfrm xmlns:a="http://schemas.openxmlformats.org/drawingml/2006/main" rot="0" flipH="0" flipV="0">
            <a:off x="6600142" y="4354128"/>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FFD000"/>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6" name="Google Shape;114;p16">
            <a:extLst xmlns:a="http://schemas.openxmlformats.org/drawingml/2006/main">
              <a:ext uri="{FF2B5EF4-FFF2-40B4-BE49-F238E27FC236}">
                <a16:creationId xmlns:a16="http://schemas.microsoft.com/office/drawing/2014/main" id="{D28C8265-DB2D-A05F-9574-DB4A62C0F93B}"/>
              </a:ext>
            </a:extLst>
          </p:cNvPr>
          <p:cNvSpPr>
            <a:spLocks xmlns:a="http://schemas.openxmlformats.org/drawingml/2006/main" noGrp="1"/>
          </p:cNvSpPr>
          <p:nvPr/>
        </p:nvSpPr>
        <p:spPr>
          <a:xfrm xmlns:a="http://schemas.openxmlformats.org/drawingml/2006/main" rot="0" flipH="0" flipV="0">
            <a:off x="6817035" y="4126303"/>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chemeClr val="accent4">
              <a:lumMod val="40000"/>
              <a:lumOff val="60000"/>
            </a:schemeClr>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Weeks 6–7: Limited pilot</a:t>
            </a:r>
            <a:endParaRPr sz="1600" b="0" i="0" u="none" kern="0" cap="none" spc="0" baseline="0">
              <a:ln>
                <a:noFill/>
              </a:ln>
              <a:solidFill>
                <a:prstClr val="black"/>
              </a:solidFill>
              <a:latin typeface="Calibri"/>
              <a:ea typeface="Calibri"/>
              <a:cs typeface="Calibri"/>
            </a:endParaRPr>
          </a:p>
        </p:txBody>
      </p:sp>
      <p:sp>
        <p:nvSpPr>
          <p:cNvPr id="28" name="Google Shape;112;p16">
            <a:extLst xmlns:a="http://schemas.openxmlformats.org/drawingml/2006/main">
              <a:ext uri="{FF2B5EF4-FFF2-40B4-BE49-F238E27FC236}">
                <a16:creationId xmlns:a16="http://schemas.microsoft.com/office/drawing/2014/main" id="{C8C8F381-E936-E965-2064-B2BB1B671FC4}"/>
              </a:ext>
            </a:extLst>
          </p:cNvPr>
          <p:cNvSpPr>
            <a:spLocks xmlns:a="http://schemas.openxmlformats.org/drawingml/2006/main" noGrp="1"/>
          </p:cNvSpPr>
          <p:nvPr/>
        </p:nvSpPr>
        <p:spPr>
          <a:xfrm xmlns:a="http://schemas.openxmlformats.org/drawingml/2006/main" rot="0" flipH="0" flipV="0">
            <a:off x="6500507" y="5040502"/>
            <a:ext cx="838507" cy="925194"/>
          </a:xfrm>
          <a:custGeom xmlns:a="http://schemas.openxmlformats.org/drawingml/2006/main">
            <a:rect l="l" t="t" r="r" b="b"/>
            <a:pathLst>
              <a:path w="22647" h="36943">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29" name="Google Shape;113;p16">
            <a:extLst xmlns:a="http://schemas.openxmlformats.org/drawingml/2006/main">
              <a:ext uri="{FF2B5EF4-FFF2-40B4-BE49-F238E27FC236}">
                <a16:creationId xmlns:a16="http://schemas.microsoft.com/office/drawing/2014/main" id="{436CBD9E-74D4-F7F3-1B1C-57C852991D05}"/>
              </a:ext>
            </a:extLst>
          </p:cNvPr>
          <p:cNvSpPr>
            <a:spLocks xmlns:a="http://schemas.openxmlformats.org/drawingml/2006/main" noGrp="1"/>
          </p:cNvSpPr>
          <p:nvPr/>
        </p:nvSpPr>
        <p:spPr>
          <a:xfrm xmlns:a="http://schemas.openxmlformats.org/drawingml/2006/main" rot="0" flipH="0" flipV="0">
            <a:off x="6600142" y="5353450"/>
            <a:ext cx="254399" cy="299073"/>
          </a:xfrm>
          <a:custGeom xmlns:a="http://schemas.openxmlformats.org/drawingml/2006/main">
            <a:rect l="l" t="t" r="r" b="b"/>
            <a:pathLst>
              <a:path w="6871" h="11942">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xmlns:a="http://schemas.openxmlformats.org/drawingml/2006/main">
            <a:srgbClr val="44318C"/>
          </a:solidFill>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marR="0" lvl="0" indent="0" algn="l" defTabSz="1219170">
              <a:lnSpc>
                <a:spcPct val="100000"/>
              </a:lnSpc>
              <a:spcBef>
                <a:spcPts val="0"/>
              </a:spcBef>
              <a:spcAft>
                <a:spcPts val="0"/>
              </a:spcAft>
              <a:buClr>
                <a:srgbClr val="000000"/>
              </a:buClr>
              <a:buSzTx/>
              <a:buFontTx/>
              <a:buNone/>
            </a:pPr>
            <a:endParaRPr sz="1867" b="0" i="0" u="none" kern="0" cap="none" spc="0" baseline="0">
              <a:ln>
                <a:noFill/>
              </a:ln>
              <a:solidFill>
                <a:srgbClr val="000000"/>
              </a:solidFill>
              <a:latin typeface="Arial"/>
              <a:ea typeface="Arial"/>
              <a:cs typeface="Arial"/>
            </a:endParaRPr>
          </a:p>
        </p:txBody>
      </p:sp>
      <p:sp>
        <p:nvSpPr>
          <p:cNvPr id="30" name="Google Shape;114;p16">
            <a:extLst xmlns:a="http://schemas.openxmlformats.org/drawingml/2006/main">
              <a:ext uri="{FF2B5EF4-FFF2-40B4-BE49-F238E27FC236}">
                <a16:creationId xmlns:a16="http://schemas.microsoft.com/office/drawing/2014/main" id="{F82DE398-ACAD-A57D-E97E-8BFAE6758309}"/>
              </a:ext>
            </a:extLst>
          </p:cNvPr>
          <p:cNvSpPr>
            <a:spLocks xmlns:a="http://schemas.openxmlformats.org/drawingml/2006/main" noGrp="1"/>
          </p:cNvSpPr>
          <p:nvPr/>
        </p:nvSpPr>
        <p:spPr>
          <a:xfrm xmlns:a="http://schemas.openxmlformats.org/drawingml/2006/main" rot="0" flipH="0" flipV="0">
            <a:off x="6817035" y="5125625"/>
            <a:ext cx="4225375" cy="754721"/>
          </a:xfrm>
          <a:custGeom xmlns:a="http://schemas.openxmlformats.org/drawingml/2006/main">
            <a:rect l="l" t="t" r="r" b="b"/>
            <a:pathLst>
              <a:path w="114122" h="30136">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xmlns:a="http://schemas.openxmlformats.org/drawingml/2006/main">
            <a:srgbClr val="C7BEE8"/>
          </a:solidFill>
          <a:ln xmlns:a="http://schemas.openxmlformats.org/drawingml/2006/main">
            <a:noFill/>
          </a:ln>
        </p:spPr>
        <p:txBody>
          <a:bodyPr xmlns:a="http://schemas.openxmlformats.org/drawingml/2006/main" spcFirstLastPara="1" wrap="square" lIns="731500" tIns="121900" rIns="731500" bIns="121900" anchor="ctr">
            <a:noAutofit/>
          </a:bodyPr>
          <a:lstStyle xmlns:a="http://schemas.openxmlformats.org/drawingml/2006/main"/>
          <a:p xmlns:a="http://schemas.openxmlformats.org/drawingml/2006/main">
            <a:pPr marL="0" marR="0" lvl="0" indent="0" algn="ctr" defTabSz="1219170">
              <a:lnSpc>
                <a:spcPct val="100000"/>
              </a:lnSpc>
              <a:spcBef>
                <a:spcPts val="0"/>
              </a:spcBef>
              <a:spcAft>
                <a:spcPts val="0"/>
              </a:spcAft>
              <a:buClr>
                <a:srgbClr val="000000"/>
              </a:buClr>
              <a:buSzPts val="1100"/>
              <a:buFontTx/>
              <a:buNone/>
            </a:pPr>
            <a:r>
              <a:rPr sz="1600" b="0" i="0" u="none" cap="none" spc="0">
                <a:ln>
                  <a:noFill/>
                </a:ln>
                <a:solidFill>
                  <a:prstClr val="black"/>
                </a:solidFill>
                <a:latin typeface="Calibri"/>
                <a:ea typeface="Calibri"/>
                <a:cs typeface="Calibri"/>
              </a:rPr>
              <a:t>Week 8: Review and decide</a:t>
            </a:r>
            <a:endParaRPr sz="1600" b="0" i="0" u="none" kern="0" cap="none" spc="0" baseline="0">
              <a:ln>
                <a:noFill/>
              </a:ln>
              <a:solidFill>
                <a:prstClr val="black"/>
              </a:solidFill>
              <a:latin typeface="Calibri"/>
              <a:ea typeface="Calibri"/>
              <a:cs typeface="Calibri"/>
            </a:endParaRPr>
          </a:p>
        </p:txBody>
      </p:sp>
    </p:spTree>
    <p:extLst>
      <p:ext uri="{BB962C8B-B14F-4D97-AF65-F5344CB8AC3E}">
        <p14:creationId xmlns:p14="http://schemas.microsoft.com/office/powerpoint/2010/main" val="3314373550"/>
      </p:ext>
    </p:extLst>
  </p:cSld>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2026-08-28T01:06:14.9340000Z</dcterms:created>
  <dcterms:modified xsi:type="dcterms:W3CDTF">2026-08-28T01:06:14.9340000Z</dcterms:modified>
</coreProperties>
</file>