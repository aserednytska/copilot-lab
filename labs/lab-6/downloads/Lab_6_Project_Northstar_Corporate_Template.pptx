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c8738805bd4415" /><Relationship Type="http://schemas.openxmlformats.org/officeDocument/2006/relationships/extended-properties" Target="/docProps/app.xml" Id="Raeb1d921b4704e35" /><Relationship Type="http://schemas.openxmlformats.org/officeDocument/2006/relationships/officeDocument" Target="/ppt/presentation.xml" Id="R6618f0e0307f4f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4ef5a2e37c4f9a"/>
  </p:sldMasterIdLst>
  <p:notesMasterIdLst>
    <p:notesMasterId xmlns:r="http://schemas.openxmlformats.org/officeDocument/2006/relationships" r:id="R5a25f3400a224275"/>
  </p:notesMasterIdLst>
  <p:sldIdLst>
    <p:sldId xmlns:r="http://schemas.openxmlformats.org/officeDocument/2006/relationships" id="256" r:id="R54746f7999504c0c"/>
    <p:sldId xmlns:r="http://schemas.openxmlformats.org/officeDocument/2006/relationships" id="257" r:id="Ra941999d815e4126"/>
    <p:sldId xmlns:r="http://schemas.openxmlformats.org/officeDocument/2006/relationships" id="258" r:id="R1f4d113396a246c6"/>
    <p:sldId xmlns:r="http://schemas.openxmlformats.org/officeDocument/2006/relationships" id="259" r:id="R1f5f5e0358d84739"/>
    <p:sldId xmlns:r="http://schemas.openxmlformats.org/officeDocument/2006/relationships" id="260" r:id="R5e9232df245045d0"/>
    <p:sldId xmlns:r="http://schemas.openxmlformats.org/officeDocument/2006/relationships" id="261" r:id="R10d18a80c43b46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5c370a41594918" /><Relationship Type="http://schemas.openxmlformats.org/officeDocument/2006/relationships/slideMaster" Target="/ppt/slideMasters/slideMaster1.xml" Id="Rb64ef5a2e37c4f9a" /><Relationship Type="http://schemas.openxmlformats.org/officeDocument/2006/relationships/notesMaster" Target="/ppt/notesMasters/notesMaster1.xml" Id="R5a25f3400a224275" /><Relationship Type="http://schemas.openxmlformats.org/officeDocument/2006/relationships/presProps" Target="/ppt/presProps.xml" Id="Rbd1421914b0a434b" /><Relationship Type="http://schemas.openxmlformats.org/officeDocument/2006/relationships/tableStyles" Target="/ppt/tableStyles.xml" Id="R5f2894865d9c4384" /><Relationship Type="http://schemas.openxmlformats.org/officeDocument/2006/relationships/slide" Target="/ppt/slides/slide1.xml" Id="R54746f7999504c0c" /><Relationship Type="http://schemas.openxmlformats.org/officeDocument/2006/relationships/slide" Target="/ppt/slides/slide2.xml" Id="Ra941999d815e4126" /><Relationship Type="http://schemas.openxmlformats.org/officeDocument/2006/relationships/slide" Target="/ppt/slides/slide3.xml" Id="R1f4d113396a246c6" /><Relationship Type="http://schemas.openxmlformats.org/officeDocument/2006/relationships/slide" Target="/ppt/slides/slide4.xml" Id="R1f5f5e0358d84739" /><Relationship Type="http://schemas.openxmlformats.org/officeDocument/2006/relationships/slide" Target="/ppt/slides/slide5.xml" Id="R5e9232df245045d0" /><Relationship Type="http://schemas.openxmlformats.org/officeDocument/2006/relationships/slide" Target="/ppt/slides/slide6.xml" Id="R10d18a80c43b46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e13aec71b145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e2d70ad7ea4162" /><Relationship Type="http://schemas.openxmlformats.org/officeDocument/2006/relationships/notesMaster" Target="/ppt/notesMasters/notesMaster1.xml" Id="Rf0bc4fe6a10d4c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1afe1cd5584df3" /><Relationship Type="http://schemas.openxmlformats.org/officeDocument/2006/relationships/notesMaster" Target="/ppt/notesMasters/notesMaster1.xml" Id="Rb0a595d2c0e141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fe01bed3b54da0" /><Relationship Type="http://schemas.openxmlformats.org/officeDocument/2006/relationships/notesMaster" Target="/ppt/notesMasters/notesMaster1.xml" Id="R2b617d864c224c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0510661f864ebc" /><Relationship Type="http://schemas.openxmlformats.org/officeDocument/2006/relationships/notesMaster" Target="/ppt/notesMasters/notesMaster1.xml" Id="Rbd90480172734b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66ce769b1f45e9" /><Relationship Type="http://schemas.openxmlformats.org/officeDocument/2006/relationships/notesMaster" Target="/ppt/notesMasters/notesMaster1.xml" Id="R5d6c82832bdd40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459c29111a4291" /><Relationship Type="http://schemas.openxmlformats.org/officeDocument/2006/relationships/notesMaster" Target="/ppt/notesMasters/notesMaster1.xml" Id="Rdddde26ffe3246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use: keep the title slide minimal. Replace all sample 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Northstar corporate starter template - synthetic workshop asset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use: this divider should advance the decision narrative.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Northstar corporate starter template - synthetic workshop asset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use: keep facts, conditions and decision ownership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Northstar corporate starter template - synthetic workshop asset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use: verify chart values against the workbook and include source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Northstar corporate starter template - synthetic workshop asset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use: compare options symmetrically and keep unsupported implications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Northstar corporate starter template - synthetic workshop asset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use: do not let Copilot create or approve the final committee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Northstar corporate starter template - synthetic workshop asset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ca5b382a44a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69a63ff6d84b77" /><Relationship Type="http://schemas.openxmlformats.org/officeDocument/2006/relationships/slideLayout" Target="/ppt/slideLayouts/slideLayout1.xml" Id="Rc70c48f64edd43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0c48f64edd43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9411d20c0418b" /><Relationship Type="http://schemas.openxmlformats.org/officeDocument/2006/relationships/notesSlide" Target="/ppt/notesSlides/notesSlide1.xml" Id="R5a0a636cf9d14a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a64f814a94a64" /><Relationship Type="http://schemas.openxmlformats.org/officeDocument/2006/relationships/notesSlide" Target="/ppt/notesSlides/notesSlide2.xml" Id="Rb3401911f1644c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06749574b4147" /><Relationship Type="http://schemas.openxmlformats.org/officeDocument/2006/relationships/notesSlide" Target="/ppt/notesSlides/notesSlide3.xml" Id="Rac62e3edc9554d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d61ebe2cd4d38" /><Relationship Type="http://schemas.openxmlformats.org/officeDocument/2006/relationships/chart" Target="/ppt/slides/charts/chart1.xml" Id="R7251d68c75fc48a8" /><Relationship Type="http://schemas.openxmlformats.org/officeDocument/2006/relationships/notesSlide" Target="/ppt/notesSlides/notesSlide4.xml" Id="Rf888fc7999d74f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447e6e2574ed4" /><Relationship Type="http://schemas.openxmlformats.org/officeDocument/2006/relationships/notesSlide" Target="/ppt/notesSlides/notesSlide5.xml" Id="Rc389d4d36ff848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b5ee0fc3c495d" /><Relationship Type="http://schemas.openxmlformats.org/officeDocument/2006/relationships/notesSlide" Target="/ppt/notesSlides/notesSlide6.xml" Id="R0fc341e59234460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Current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3"/>
              <c:pt idx="0">
                <c:v>Metric A</c:v>
              </c:pt>
              <c:pt idx="1">
                <c:v>Metric B</c:v>
              </c:pt>
              <c:pt idx="2">
                <c:v>Metric C</c:v>
              </c:pt>
            </c:strLit>
          </c:cat>
          <c:val>
            <c:numLit>
              <c:formatCode>General</c:formatCode>
              <c:ptCount val="3"/>
              <c:pt idx="0">
                <c:v>72</c:v>
              </c:pt>
              <c:pt idx="1">
                <c:v>86</c:v>
              </c:pt>
              <c:pt idx="2">
                <c:v>92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1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527C20B9-B83B-4A7D-97AB-061FA272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DEBFF"/>
                </a:solidFill>
              </a:defRPr>
            </a:pPr>
            <a:r>
              <a:rPr sz="1125" b="1">
                <a:solidFill>
                  <a:srgbClr val="DDEBFF"/>
                </a:solidFill>
              </a:rPr>
              <a:t>NORTHSTAR GROUP</a:t>
            </a:r>
          </a:p>
        </p:txBody>
      </p:sp>
      <p:sp>
        <p:nvSpPr>
          <p:cNvPr id="2" name="template-title">
            <a:extLst xmlns:a="http://schemas.openxmlformats.org/drawingml/2006/main">
              <a:ext uri="{FF2B5EF4-FFF2-40B4-BE49-F238E27FC236}">
                <a16:creationId xmlns:a16="http://schemas.microsoft.com/office/drawing/2014/main" id="{CE77CE6F-0F1A-4FC3-920B-AABACF69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858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Decision-ready presentation title</a:t>
            </a:r>
          </a:p>
        </p:txBody>
      </p:sp>
      <p:sp>
        <p:nvSpPr>
          <p:cNvPr id="3" name="template-subtitle">
            <a:extLst xmlns:a="http://schemas.openxmlformats.org/drawingml/2006/main">
              <a:ext uri="{FF2B5EF4-FFF2-40B4-BE49-F238E27FC236}">
                <a16:creationId xmlns:a16="http://schemas.microsoft.com/office/drawing/2014/main" id="{4069EDD5-454B-474C-80AE-DB889071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BFF"/>
                </a:solidFill>
              </a:defRPr>
            </a:pPr>
            <a:r>
              <a:rPr sz="1650" b="0">
                <a:solidFill>
                  <a:srgbClr val="DDEBFF"/>
                </a:solidFill>
              </a:rPr>
              <a:t>Programme or initiative | Decision forum | Date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A26F40F-742E-4450-B4AD-2A22CFA4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footer">
            <a:extLst xmlns:a="http://schemas.openxmlformats.org/drawingml/2006/main">
              <a:ext uri="{FF2B5EF4-FFF2-40B4-BE49-F238E27FC236}">
                <a16:creationId xmlns:a16="http://schemas.microsoft.com/office/drawing/2014/main" id="{95AA3B91-B916-4AFD-9DDA-71860772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BFF"/>
                </a:solidFill>
              </a:defRPr>
            </a:pPr>
            <a:r>
              <a:rPr sz="975" b="0">
                <a:solidFill>
                  <a:srgbClr val="DDEBFF"/>
                </a:solidFill>
              </a:rPr>
              <a:t>Corporate starter presentation | Replace sample copy before use</a:t>
            </a:r>
          </a:p>
        </p:txBody>
      </p:sp>
    </p:spTree>
    <p:extLst>
      <p:ext uri="{BB962C8B-B14F-4D97-AF65-F5344CB8AC3E}">
        <p14:creationId xmlns:p14="http://schemas.microsoft.com/office/powerpoint/2010/main" val="20308800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2">
            <a:extLst xmlns:a="http://schemas.openxmlformats.org/drawingml/2006/main">
              <a:ext uri="{FF2B5EF4-FFF2-40B4-BE49-F238E27FC236}">
                <a16:creationId xmlns:a16="http://schemas.microsoft.com/office/drawing/2014/main" id="{60786509-F95E-4DBB-A45D-C5A97573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SECTION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B48A8E2E-D558-442C-99A2-422F0382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A clear transition between decision stages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9E61BB38-9DD6-41BB-9D98-7A853DEF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DBF65DC9-C8DC-4BE4-B384-D6CA2207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2563EB"/>
                </a:solidFill>
              </a:defRPr>
            </a:pPr>
            <a:r>
              <a:rPr sz="54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5" name="section-message">
            <a:extLst xmlns:a="http://schemas.openxmlformats.org/drawingml/2006/main">
              <a:ext uri="{FF2B5EF4-FFF2-40B4-BE49-F238E27FC236}">
                <a16:creationId xmlns:a16="http://schemas.microsoft.com/office/drawing/2014/main" id="{D8F21E63-5413-4872-904F-DE272773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85950"/>
            <a:ext cx="742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Use one sentence to explain why the next evidence matters.</a:t>
            </a:r>
          </a:p>
        </p:txBody>
      </p:sp>
      <p:sp>
        <p:nvSpPr>
          <p:cNvPr id="6" name="section-sub">
            <a:extLst xmlns:a="http://schemas.openxmlformats.org/drawingml/2006/main">
              <a:ext uri="{FF2B5EF4-FFF2-40B4-BE49-F238E27FC236}">
                <a16:creationId xmlns:a16="http://schemas.microsoft.com/office/drawing/2014/main" id="{3CE6ADD0-86D4-4E6E-A140-60D18CFF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337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Avoid agenda-only section dividers.</a:t>
            </a:r>
          </a:p>
        </p:txBody>
      </p:sp>
      <p:sp>
        <p:nvSpPr>
          <p:cNvPr id="7" name="footer-2">
            <a:extLst xmlns:a="http://schemas.openxmlformats.org/drawingml/2006/main">
              <a:ext uri="{FF2B5EF4-FFF2-40B4-BE49-F238E27FC236}">
                <a16:creationId xmlns:a16="http://schemas.microsoft.com/office/drawing/2014/main" id="{4148E9FD-374C-45BC-B23F-94441C96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NORTHSTAR GROUP | SECTION LAYOUT</a:t>
            </a:r>
          </a:p>
        </p:txBody>
      </p:sp>
      <p:sp>
        <p:nvSpPr>
          <p:cNvPr id="8" name="page-2">
            <a:extLst xmlns:a="http://schemas.openxmlformats.org/drawingml/2006/main">
              <a:ext uri="{FF2B5EF4-FFF2-40B4-BE49-F238E27FC236}">
                <a16:creationId xmlns:a16="http://schemas.microsoft.com/office/drawing/2014/main" id="{61E1D150-40F6-4348-92BF-CCB44E36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200798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3">
            <a:extLst xmlns:a="http://schemas.openxmlformats.org/drawingml/2006/main">
              <a:ext uri="{FF2B5EF4-FFF2-40B4-BE49-F238E27FC236}">
                <a16:creationId xmlns:a16="http://schemas.microsoft.com/office/drawing/2014/main" id="{714E38F9-0F74-446D-AA55-60E690E8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EXECUTIVE VIEW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45C7CD81-DAA8-4DF2-8526-579A4D8E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State the decision and the evidence in one view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97EEC3DE-9898-4E12-9782-AB1488BA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xec-summary">
            <a:extLst xmlns:a="http://schemas.openxmlformats.org/drawingml/2006/main">
              <a:ext uri="{FF2B5EF4-FFF2-40B4-BE49-F238E27FC236}">
                <a16:creationId xmlns:a16="http://schemas.microsoft.com/office/drawing/2014/main" id="{19754B24-7FBE-45C3-B558-D0B2E097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0866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DEBFF"/>
            </a:solidFill>
            <a:prstDash val="solid"/>
          </a:ln>
        </p:spPr>
      </p:sp>
      <p:sp>
        <p:nvSpPr>
          <p:cNvPr id="5" name="exec-label">
            <a:extLst xmlns:a="http://schemas.openxmlformats.org/drawingml/2006/main">
              <a:ext uri="{FF2B5EF4-FFF2-40B4-BE49-F238E27FC236}">
                <a16:creationId xmlns:a16="http://schemas.microsoft.com/office/drawing/2014/main" id="{1E8A2210-AE3A-4B92-889E-16D91D0E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DECISION REQUIRED</a:t>
            </a:r>
          </a:p>
        </p:txBody>
      </p:sp>
      <p:sp>
        <p:nvSpPr>
          <p:cNvPr id="6" name="exec-message">
            <a:extLst xmlns:a="http://schemas.openxmlformats.org/drawingml/2006/main">
              <a:ext uri="{FF2B5EF4-FFF2-40B4-BE49-F238E27FC236}">
                <a16:creationId xmlns:a16="http://schemas.microsoft.com/office/drawing/2014/main" id="{62ED246E-3B3B-4F2D-B0C5-752050ED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Write the decision question in one direct sentence.</a:t>
            </a:r>
          </a:p>
        </p:txBody>
      </p:sp>
      <p:sp>
        <p:nvSpPr>
          <p:cNvPr id="7" name="kpi-1-surface">
            <a:extLst xmlns:a="http://schemas.openxmlformats.org/drawingml/2006/main">
              <a:ext uri="{FF2B5EF4-FFF2-40B4-BE49-F238E27FC236}">
                <a16:creationId xmlns:a16="http://schemas.microsoft.com/office/drawing/2014/main" id="{4B82B2AF-2FA8-49B0-A86F-ABAA9CD9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143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8" name="kpi-1-accent">
            <a:extLst xmlns:a="http://schemas.openxmlformats.org/drawingml/2006/main">
              <a:ext uri="{FF2B5EF4-FFF2-40B4-BE49-F238E27FC236}">
                <a16:creationId xmlns:a16="http://schemas.microsoft.com/office/drawing/2014/main" id="{FBB17171-1E07-49EF-8148-DAED5AF8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kpi-1-value">
            <a:extLst xmlns:a="http://schemas.openxmlformats.org/drawingml/2006/main">
              <a:ext uri="{FF2B5EF4-FFF2-40B4-BE49-F238E27FC236}">
                <a16:creationId xmlns:a16="http://schemas.microsoft.com/office/drawing/2014/main" id="{F17BEC2F-C684-4771-956D-6BE336A0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9070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33A3A"/>
                </a:solidFill>
              </a:defRPr>
            </a:pPr>
            <a:r>
              <a:rPr sz="2400" b="1">
                <a:solidFill>
                  <a:srgbClr val="A33A3A"/>
                </a:solidFill>
              </a:rPr>
              <a:t>00%</a:t>
            </a:r>
          </a:p>
        </p:txBody>
      </p:sp>
      <p:sp>
        <p:nvSpPr>
          <p:cNvPr id="10" name="kpi-1-label">
            <a:extLst xmlns:a="http://schemas.openxmlformats.org/drawingml/2006/main">
              <a:ext uri="{FF2B5EF4-FFF2-40B4-BE49-F238E27FC236}">
                <a16:creationId xmlns:a16="http://schemas.microsoft.com/office/drawing/2014/main" id="{6CA09D98-0A43-456D-8BCA-FD9D353E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Readiness metric</a:t>
            </a:r>
          </a:p>
        </p:txBody>
      </p:sp>
      <p:sp>
        <p:nvSpPr>
          <p:cNvPr id="11" name="kpi-1-note">
            <a:extLst xmlns:a="http://schemas.openxmlformats.org/drawingml/2006/main">
              <a:ext uri="{FF2B5EF4-FFF2-40B4-BE49-F238E27FC236}">
                <a16:creationId xmlns:a16="http://schemas.microsoft.com/office/drawing/2014/main" id="{64B04C08-9E50-48EE-BCFB-8A626D97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146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Add gate, not only progress</a:t>
            </a:r>
          </a:p>
        </p:txBody>
      </p:sp>
      <p:sp>
        <p:nvSpPr>
          <p:cNvPr id="12" name="exec-b1-dot">
            <a:extLst xmlns:a="http://schemas.openxmlformats.org/drawingml/2006/main">
              <a:ext uri="{FF2B5EF4-FFF2-40B4-BE49-F238E27FC236}">
                <a16:creationId xmlns:a16="http://schemas.microsoft.com/office/drawing/2014/main" id="{A6E01831-33B1-4C56-A6FF-65EC59C6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33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xec-b1">
            <a:extLst xmlns:a="http://schemas.openxmlformats.org/drawingml/2006/main">
              <a:ext uri="{FF2B5EF4-FFF2-40B4-BE49-F238E27FC236}">
                <a16:creationId xmlns:a16="http://schemas.microsoft.com/office/drawing/2014/main" id="{ED6312BF-0333-4EE3-BAD0-922F6F08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455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Confirmed fact with source</a:t>
            </a:r>
          </a:p>
        </p:txBody>
      </p:sp>
      <p:sp>
        <p:nvSpPr>
          <p:cNvPr id="14" name="exec-b2-dot">
            <a:extLst xmlns:a="http://schemas.openxmlformats.org/drawingml/2006/main">
              <a:ext uri="{FF2B5EF4-FFF2-40B4-BE49-F238E27FC236}">
                <a16:creationId xmlns:a16="http://schemas.microsoft.com/office/drawing/2014/main" id="{78D44A28-7B2D-4149-B875-2DDCF2C0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67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xec-b2">
            <a:extLst xmlns:a="http://schemas.openxmlformats.org/drawingml/2006/main">
              <a:ext uri="{FF2B5EF4-FFF2-40B4-BE49-F238E27FC236}">
                <a16:creationId xmlns:a16="http://schemas.microsoft.com/office/drawing/2014/main" id="{1B79A767-01B0-4547-8A34-44AF590B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62450"/>
            <a:ext cx="455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Unresolved condition</a:t>
            </a:r>
          </a:p>
        </p:txBody>
      </p:sp>
      <p:sp>
        <p:nvSpPr>
          <p:cNvPr id="16" name="exec-b3-dot">
            <a:extLst xmlns:a="http://schemas.openxmlformats.org/drawingml/2006/main">
              <a:ext uri="{FF2B5EF4-FFF2-40B4-BE49-F238E27FC236}">
                <a16:creationId xmlns:a16="http://schemas.microsoft.com/office/drawing/2014/main" id="{BDCC59B5-2C87-43BB-BDC5-954E568E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0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xec-b3">
            <a:extLst xmlns:a="http://schemas.openxmlformats.org/drawingml/2006/main">
              <a:ext uri="{FF2B5EF4-FFF2-40B4-BE49-F238E27FC236}">
                <a16:creationId xmlns:a16="http://schemas.microsoft.com/office/drawing/2014/main" id="{1CAE7774-5106-46E2-8159-3CE9D768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455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Human decision owner</a:t>
            </a:r>
          </a:p>
        </p:txBody>
      </p:sp>
      <p:sp>
        <p:nvSpPr>
          <p:cNvPr id="18" name="footer-3">
            <a:extLst xmlns:a="http://schemas.openxmlformats.org/drawingml/2006/main">
              <a:ext uri="{FF2B5EF4-FFF2-40B4-BE49-F238E27FC236}">
                <a16:creationId xmlns:a16="http://schemas.microsoft.com/office/drawing/2014/main" id="{286F2555-9C2F-4614-8DFC-BB710A05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NORTHSTAR GROUP | EXECUTIVE LAYOUT</a:t>
            </a:r>
          </a:p>
        </p:txBody>
      </p:sp>
      <p:sp>
        <p:nvSpPr>
          <p:cNvPr id="19" name="page-3">
            <a:extLst xmlns:a="http://schemas.openxmlformats.org/drawingml/2006/main">
              <a:ext uri="{FF2B5EF4-FFF2-40B4-BE49-F238E27FC236}">
                <a16:creationId xmlns:a16="http://schemas.microsoft.com/office/drawing/2014/main" id="{7D64C243-7D8E-47FE-9F76-32192240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919769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4">
            <a:extLst xmlns:a="http://schemas.openxmlformats.org/drawingml/2006/main">
              <a:ext uri="{FF2B5EF4-FFF2-40B4-BE49-F238E27FC236}">
                <a16:creationId xmlns:a16="http://schemas.microsoft.com/office/drawing/2014/main" id="{915C24DE-4D93-411C-93E2-2029627E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EVIDENCE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0FB6618-8921-4B8C-8D7F-8E17D999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Use verified data to explain what blocks readiness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C63EBD98-6772-4445-975B-6BFCA212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ata-message">
            <a:extLst xmlns:a="http://schemas.openxmlformats.org/drawingml/2006/main">
              <a:ext uri="{FF2B5EF4-FFF2-40B4-BE49-F238E27FC236}">
                <a16:creationId xmlns:a16="http://schemas.microsoft.com/office/drawing/2014/main" id="{431918C2-C4FA-47C1-9140-E067FF8D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Takeaway statement</a:t>
            </a:r>
          </a:p>
        </p:txBody>
      </p:sp>
      <p:sp>
        <p:nvSpPr>
          <p:cNvPr id="5" name="data-context">
            <a:extLst xmlns:a="http://schemas.openxmlformats.org/drawingml/2006/main">
              <a:ext uri="{FF2B5EF4-FFF2-40B4-BE49-F238E27FC236}">
                <a16:creationId xmlns:a16="http://schemas.microsoft.com/office/drawing/2014/main" id="{93C77630-42AF-4595-BBDD-650D519F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</a:defRPr>
            </a:pPr>
            <a:r>
              <a:rPr sz="1425" b="0">
                <a:solidFill>
                  <a:srgbClr val="52606D"/>
                </a:solidFill>
              </a:rPr>
              <a:t>Explain why the data changes the decision.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429250" y="1695450"/>
          <a:ext xmlns:a="http://schemas.openxmlformats.org/drawingml/2006/main" cx="5810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51d68c75fc48a8"/>
          </a:graphicData>
        </a:graphic>
      </p:graphicFrame>
      <p:sp>
        <p:nvSpPr>
          <p:cNvPr id="7" name="data-source">
            <a:extLst xmlns:a="http://schemas.openxmlformats.org/drawingml/2006/main">
              <a:ext uri="{FF2B5EF4-FFF2-40B4-BE49-F238E27FC236}">
                <a16:creationId xmlns:a16="http://schemas.microsoft.com/office/drawing/2014/main" id="{E1DB3EA1-2304-433F-A5A8-B821E522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387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</a:defRPr>
            </a:pPr>
            <a:r>
              <a:rPr sz="975" b="0">
                <a:solidFill>
                  <a:srgbClr val="52606D"/>
                </a:solidFill>
              </a:rPr>
              <a:t>Source: add approved file and effective date</a:t>
            </a:r>
          </a:p>
        </p:txBody>
      </p:sp>
      <p:sp>
        <p:nvSpPr>
          <p:cNvPr id="8" name="footer-4">
            <a:extLst xmlns:a="http://schemas.openxmlformats.org/drawingml/2006/main">
              <a:ext uri="{FF2B5EF4-FFF2-40B4-BE49-F238E27FC236}">
                <a16:creationId xmlns:a16="http://schemas.microsoft.com/office/drawing/2014/main" id="{C10B1E01-F774-4081-A08E-1C51CFB5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NORTHSTAR GROUP | DATA LAYOUT</a:t>
            </a:r>
          </a:p>
        </p:txBody>
      </p:sp>
      <p:sp>
        <p:nvSpPr>
          <p:cNvPr id="9" name="page-4">
            <a:extLst xmlns:a="http://schemas.openxmlformats.org/drawingml/2006/main">
              <a:ext uri="{FF2B5EF4-FFF2-40B4-BE49-F238E27FC236}">
                <a16:creationId xmlns:a16="http://schemas.microsoft.com/office/drawing/2014/main" id="{9AF6487C-426D-465F-AB80-F257B149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430587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5">
            <a:extLst xmlns:a="http://schemas.openxmlformats.org/drawingml/2006/main">
              <a:ext uri="{FF2B5EF4-FFF2-40B4-BE49-F238E27FC236}">
                <a16:creationId xmlns:a16="http://schemas.microsoft.com/office/drawing/2014/main" id="{02F7439B-3716-4B5B-B917-88D57153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OPTIONS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8B83AE8-6415-4F80-B510-A6050E00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Compare choices using the same decision criteria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D9451B25-C037-4636-9608-FAC175D3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pt-A-num">
            <a:extLst xmlns:a="http://schemas.openxmlformats.org/drawingml/2006/main">
              <a:ext uri="{FF2B5EF4-FFF2-40B4-BE49-F238E27FC236}">
                <a16:creationId xmlns:a16="http://schemas.microsoft.com/office/drawing/2014/main" id="{183D72C9-0E03-4528-A1E1-6199F286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2563EB"/>
                </a:solidFill>
              </a:rPr>
              <a:t>A</a:t>
            </a:r>
          </a:p>
        </p:txBody>
      </p:sp>
      <p:sp>
        <p:nvSpPr>
          <p:cNvPr id="5" name="opt-A-title">
            <a:extLst xmlns:a="http://schemas.openxmlformats.org/drawingml/2006/main">
              <a:ext uri="{FF2B5EF4-FFF2-40B4-BE49-F238E27FC236}">
                <a16:creationId xmlns:a16="http://schemas.microsoft.com/office/drawing/2014/main" id="{666E637E-B817-48B7-8643-1FCAEE65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526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Option label</a:t>
            </a:r>
          </a:p>
        </p:txBody>
      </p:sp>
      <p:sp>
        <p:nvSpPr>
          <p:cNvPr id="6" name="opt-A-rule">
            <a:extLst xmlns:a="http://schemas.openxmlformats.org/drawingml/2006/main">
              <a:ext uri="{FF2B5EF4-FFF2-40B4-BE49-F238E27FC236}">
                <a16:creationId xmlns:a16="http://schemas.microsoft.com/office/drawing/2014/main" id="{DFF05A73-CC13-4F55-99F9-3C3EDBD6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2876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pt-A-text">
            <a:extLst xmlns:a="http://schemas.openxmlformats.org/drawingml/2006/main">
              <a:ext uri="{FF2B5EF4-FFF2-40B4-BE49-F238E27FC236}">
                <a16:creationId xmlns:a16="http://schemas.microsoft.com/office/drawing/2014/main" id="{F839BFDE-47DF-430D-B7A6-3B923917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28765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Conditions</a:t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Evidence status</a:t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Implication</a:t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Decision boundary</a:t>
            </a:r>
          </a:p>
        </p:txBody>
      </p:sp>
      <p:sp>
        <p:nvSpPr>
          <p:cNvPr id="8" name="opt-B-num">
            <a:extLst xmlns:a="http://schemas.openxmlformats.org/drawingml/2006/main">
              <a:ext uri="{FF2B5EF4-FFF2-40B4-BE49-F238E27FC236}">
                <a16:creationId xmlns:a16="http://schemas.microsoft.com/office/drawing/2014/main" id="{F245FE93-7E11-4BB8-9471-17594BBF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5260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7F00"/>
                </a:solidFill>
              </a:defRPr>
            </a:pPr>
            <a:r>
              <a:rPr sz="2400" b="1">
                <a:solidFill>
                  <a:srgbClr val="C47F00"/>
                </a:solidFill>
              </a:rPr>
              <a:t>B</a:t>
            </a:r>
          </a:p>
        </p:txBody>
      </p:sp>
      <p:sp>
        <p:nvSpPr>
          <p:cNvPr id="9" name="opt-B-title">
            <a:extLst xmlns:a="http://schemas.openxmlformats.org/drawingml/2006/main">
              <a:ext uri="{FF2B5EF4-FFF2-40B4-BE49-F238E27FC236}">
                <a16:creationId xmlns:a16="http://schemas.microsoft.com/office/drawing/2014/main" id="{74864B1B-1F65-426C-9604-0E53799E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526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Option label</a:t>
            </a:r>
          </a:p>
        </p:txBody>
      </p:sp>
      <p:sp>
        <p:nvSpPr>
          <p:cNvPr id="10" name="opt-B-rule">
            <a:extLst xmlns:a="http://schemas.openxmlformats.org/drawingml/2006/main">
              <a:ext uri="{FF2B5EF4-FFF2-40B4-BE49-F238E27FC236}">
                <a16:creationId xmlns:a16="http://schemas.microsoft.com/office/drawing/2014/main" id="{06971C11-2F5E-4106-8BC0-F15D4E66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2876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pt-B-text">
            <a:extLst xmlns:a="http://schemas.openxmlformats.org/drawingml/2006/main">
              <a:ext uri="{FF2B5EF4-FFF2-40B4-BE49-F238E27FC236}">
                <a16:creationId xmlns:a16="http://schemas.microsoft.com/office/drawing/2014/main" id="{0C835B88-61AD-4944-B8D1-DFC5E72D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33650"/>
            <a:ext cx="28765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Conditions</a:t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Evidence status</a:t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Implication</a:t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Decision boundary</a:t>
            </a:r>
          </a:p>
        </p:txBody>
      </p:sp>
      <p:sp>
        <p:nvSpPr>
          <p:cNvPr id="12" name="opt-C-num">
            <a:extLst xmlns:a="http://schemas.openxmlformats.org/drawingml/2006/main">
              <a:ext uri="{FF2B5EF4-FFF2-40B4-BE49-F238E27FC236}">
                <a16:creationId xmlns:a16="http://schemas.microsoft.com/office/drawing/2014/main" id="{DD4813DA-5C53-47E7-B132-23E1C42A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5260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33A3A"/>
                </a:solidFill>
              </a:defRPr>
            </a:pPr>
            <a:r>
              <a:rPr sz="2400" b="1">
                <a:solidFill>
                  <a:srgbClr val="A33A3A"/>
                </a:solidFill>
              </a:rPr>
              <a:t>C</a:t>
            </a:r>
          </a:p>
        </p:txBody>
      </p:sp>
      <p:sp>
        <p:nvSpPr>
          <p:cNvPr id="13" name="opt-C-title">
            <a:extLst xmlns:a="http://schemas.openxmlformats.org/drawingml/2006/main">
              <a:ext uri="{FF2B5EF4-FFF2-40B4-BE49-F238E27FC236}">
                <a16:creationId xmlns:a16="http://schemas.microsoft.com/office/drawing/2014/main" id="{5CB25BF0-F951-4B15-9A6D-64270AC4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526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Option label</a:t>
            </a:r>
          </a:p>
        </p:txBody>
      </p:sp>
      <p:sp>
        <p:nvSpPr>
          <p:cNvPr id="14" name="opt-C-rule">
            <a:extLst xmlns:a="http://schemas.openxmlformats.org/drawingml/2006/main">
              <a:ext uri="{FF2B5EF4-FFF2-40B4-BE49-F238E27FC236}">
                <a16:creationId xmlns:a16="http://schemas.microsoft.com/office/drawing/2014/main" id="{5DB0A67E-578B-4718-B67B-096B6DCC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2876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pt-C-text">
            <a:extLst xmlns:a="http://schemas.openxmlformats.org/drawingml/2006/main">
              <a:ext uri="{FF2B5EF4-FFF2-40B4-BE49-F238E27FC236}">
                <a16:creationId xmlns:a16="http://schemas.microsoft.com/office/drawing/2014/main" id="{D41A9E18-8092-4D53-A514-B858CE1F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33650"/>
            <a:ext cx="28765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Conditions</a:t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Evidence status</a:t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Implication</a:t>
            </a:r>
          </a:p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Decision boundary</a:t>
            </a:r>
          </a:p>
        </p:txBody>
      </p:sp>
      <p:sp>
        <p:nvSpPr>
          <p:cNvPr id="16" name="footer-5">
            <a:extLst xmlns:a="http://schemas.openxmlformats.org/drawingml/2006/main">
              <a:ext uri="{FF2B5EF4-FFF2-40B4-BE49-F238E27FC236}">
                <a16:creationId xmlns:a16="http://schemas.microsoft.com/office/drawing/2014/main" id="{48E20466-0601-4D65-B131-218AE8D5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NORTHSTAR GROUP | OPTIONS LAYOUT</a:t>
            </a:r>
          </a:p>
        </p:txBody>
      </p:sp>
      <p:sp>
        <p:nvSpPr>
          <p:cNvPr id="17" name="page-5">
            <a:extLst xmlns:a="http://schemas.openxmlformats.org/drawingml/2006/main">
              <a:ext uri="{FF2B5EF4-FFF2-40B4-BE49-F238E27FC236}">
                <a16:creationId xmlns:a16="http://schemas.microsoft.com/office/drawing/2014/main" id="{EA22CE17-D373-402A-B203-33F6A591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06D"/>
                </a:solidFill>
              </a:defRPr>
            </a:pPr>
            <a:r>
              <a:rPr sz="825" b="1">
                <a:solidFill>
                  <a:srgbClr val="52606D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155338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ecision-eyebrow">
            <a:extLst xmlns:a="http://schemas.openxmlformats.org/drawingml/2006/main">
              <a:ext uri="{FF2B5EF4-FFF2-40B4-BE49-F238E27FC236}">
                <a16:creationId xmlns:a16="http://schemas.microsoft.com/office/drawing/2014/main" id="{8DFEE946-C701-421C-BA19-E9AEBDD8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BFF"/>
                </a:solidFill>
              </a:defRPr>
            </a:pPr>
            <a:r>
              <a:rPr sz="1050" b="1">
                <a:solidFill>
                  <a:srgbClr val="DDEBFF"/>
                </a:solidFill>
              </a:rPr>
              <a:t>DECISION</a:t>
            </a:r>
          </a:p>
        </p:txBody>
      </p:sp>
      <p:sp>
        <p:nvSpPr>
          <p:cNvPr id="2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8F77BB36-5A87-4204-AD36-8AE25C5A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Close with the decision required</a:t>
            </a:r>
          </a:p>
        </p:txBody>
      </p:sp>
      <p:sp>
        <p:nvSpPr>
          <p:cNvPr id="3" name="decision-copy">
            <a:extLst xmlns:a="http://schemas.openxmlformats.org/drawingml/2006/main">
              <a:ext uri="{FF2B5EF4-FFF2-40B4-BE49-F238E27FC236}">
                <a16:creationId xmlns:a16="http://schemas.microsoft.com/office/drawing/2014/main" id="{F7EC35B8-442A-4997-B963-0ECAB822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096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EBFF"/>
                </a:solidFill>
              </a:defRPr>
            </a:pPr>
            <a:r>
              <a:rPr sz="1800" b="0">
                <a:solidFill>
                  <a:srgbClr val="DDEBFF"/>
                </a:solidFill>
              </a:rPr>
              <a:t>State what must be approved, who owns the decision and which conditions remain open.</a:t>
            </a:r>
          </a:p>
        </p:txBody>
      </p:sp>
      <p:sp>
        <p:nvSpPr>
          <p:cNvPr id="4" name="decision-rule">
            <a:extLst xmlns:a="http://schemas.openxmlformats.org/drawingml/2006/main">
              <a:ext uri="{FF2B5EF4-FFF2-40B4-BE49-F238E27FC236}">
                <a16:creationId xmlns:a16="http://schemas.microsoft.com/office/drawing/2014/main" id="{BAC03DD3-0AB2-4B17-9C83-B4C13C4A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next">
            <a:extLst xmlns:a="http://schemas.openxmlformats.org/drawingml/2006/main">
              <a:ext uri="{FF2B5EF4-FFF2-40B4-BE49-F238E27FC236}">
                <a16:creationId xmlns:a16="http://schemas.microsoft.com/office/drawing/2014/main" id="{CC8C5DED-B3C7-4DC7-A363-A353E577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Next step: confirmed action and owner</a:t>
            </a:r>
          </a:p>
        </p:txBody>
      </p:sp>
      <p:sp>
        <p:nvSpPr>
          <p:cNvPr id="6" name="decision-footer">
            <a:extLst xmlns:a="http://schemas.openxmlformats.org/drawingml/2006/main">
              <a:ext uri="{FF2B5EF4-FFF2-40B4-BE49-F238E27FC236}">
                <a16:creationId xmlns:a16="http://schemas.microsoft.com/office/drawing/2014/main" id="{EA312984-A2BC-45E3-BFA4-872D1C47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DEBFF"/>
                </a:solidFill>
              </a:defRPr>
            </a:pPr>
            <a:r>
              <a:rPr sz="900" b="1">
                <a:solidFill>
                  <a:srgbClr val="DDEBFF"/>
                </a:solidFill>
              </a:rPr>
              <a:t>NORTHSTAR GROUP | DECISION LAYOUT</a:t>
            </a:r>
          </a:p>
        </p:txBody>
      </p:sp>
    </p:spTree>
    <p:extLst>
      <p:ext uri="{BB962C8B-B14F-4D97-AF65-F5344CB8AC3E}">
        <p14:creationId xmlns:p14="http://schemas.microsoft.com/office/powerpoint/2010/main" val="6517859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2026-08-27T23:42:39.6230000Z</dcterms:created>
  <dcterms:modified xsi:type="dcterms:W3CDTF">2026-08-27T23:42:39.6230000Z</dcterms:modified>
</coreProperties>
</file>