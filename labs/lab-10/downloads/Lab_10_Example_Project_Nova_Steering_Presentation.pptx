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50045984d64ca5" /><Relationship Type="http://schemas.openxmlformats.org/officeDocument/2006/relationships/extended-properties" Target="/docProps/app.xml" Id="R2f6e5abb61cb4c6d" /><Relationship Type="http://schemas.openxmlformats.org/officeDocument/2006/relationships/officeDocument" Target="/ppt/presentation.xml" Id="R61089cdb3702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138a2771743a3"/>
  </p:sldMasterIdLst>
  <p:notesMasterIdLst>
    <p:notesMasterId xmlns:r="http://schemas.openxmlformats.org/officeDocument/2006/relationships" r:id="R37da15170e4c4f51"/>
  </p:notesMasterIdLst>
  <p:sldIdLst>
    <p:sldId xmlns:r="http://schemas.openxmlformats.org/officeDocument/2006/relationships" id="256" r:id="R0287403c4f1d4b54"/>
    <p:sldId xmlns:r="http://schemas.openxmlformats.org/officeDocument/2006/relationships" id="257" r:id="R8514f72e84f84a82"/>
    <p:sldId xmlns:r="http://schemas.openxmlformats.org/officeDocument/2006/relationships" id="258" r:id="Rc2174a42dd4f4ef5"/>
    <p:sldId xmlns:r="http://schemas.openxmlformats.org/officeDocument/2006/relationships" id="259" r:id="R52ada4c458414cd1"/>
    <p:sldId xmlns:r="http://schemas.openxmlformats.org/officeDocument/2006/relationships" id="260" r:id="R6546e1da06264f3a"/>
    <p:sldId xmlns:r="http://schemas.openxmlformats.org/officeDocument/2006/relationships" id="261" r:id="R78d4a43b31e449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8db5b9511e43db" /><Relationship Type="http://schemas.openxmlformats.org/officeDocument/2006/relationships/slideMaster" Target="/ppt/slideMasters/slideMaster1.xml" Id="R8d8138a2771743a3" /><Relationship Type="http://schemas.openxmlformats.org/officeDocument/2006/relationships/notesMaster" Target="/ppt/notesMasters/notesMaster1.xml" Id="R37da15170e4c4f51" /><Relationship Type="http://schemas.openxmlformats.org/officeDocument/2006/relationships/presProps" Target="/ppt/presProps.xml" Id="Re837c703ac374bc8" /><Relationship Type="http://schemas.openxmlformats.org/officeDocument/2006/relationships/tableStyles" Target="/ppt/tableStyles.xml" Id="R23abe9e97b9f4380" /><Relationship Type="http://schemas.openxmlformats.org/officeDocument/2006/relationships/slide" Target="/ppt/slides/slide1.xml" Id="R0287403c4f1d4b54" /><Relationship Type="http://schemas.openxmlformats.org/officeDocument/2006/relationships/slide" Target="/ppt/slides/slide2.xml" Id="R8514f72e84f84a82" /><Relationship Type="http://schemas.openxmlformats.org/officeDocument/2006/relationships/slide" Target="/ppt/slides/slide3.xml" Id="Rc2174a42dd4f4ef5" /><Relationship Type="http://schemas.openxmlformats.org/officeDocument/2006/relationships/slide" Target="/ppt/slides/slide4.xml" Id="R52ada4c458414cd1" /><Relationship Type="http://schemas.openxmlformats.org/officeDocument/2006/relationships/slide" Target="/ppt/slides/slide5.xml" Id="R6546e1da06264f3a" /><Relationship Type="http://schemas.openxmlformats.org/officeDocument/2006/relationships/slide" Target="/ppt/slides/slide6.xml" Id="R78d4a43b31e449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3c7e6c4a645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f27acbf7a246bd" /><Relationship Type="http://schemas.openxmlformats.org/officeDocument/2006/relationships/notesMaster" Target="/ppt/notesMasters/notesMaster1.xml" Id="R82899b41d7e5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53d446f2384558" /><Relationship Type="http://schemas.openxmlformats.org/officeDocument/2006/relationships/notesMaster" Target="/ppt/notesMasters/notesMaster1.xml" Id="R01add967432c46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585d778fd434f" /><Relationship Type="http://schemas.openxmlformats.org/officeDocument/2006/relationships/notesMaster" Target="/ppt/notesMasters/notesMaster1.xml" Id="Rdee7cf7f8bff46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fc2a0ee2a4605" /><Relationship Type="http://schemas.openxmlformats.org/officeDocument/2006/relationships/notesMaster" Target="/ppt/notesMasters/notesMaster1.xml" Id="R338f58f49b1247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14c2aaa6714dc5" /><Relationship Type="http://schemas.openxmlformats.org/officeDocument/2006/relationships/notesMaster" Target="/ppt/notesMasters/notesMaster1.xml" Id="Rb12bfeacdf6f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98be15d5f4410a" /><Relationship Type="http://schemas.openxmlformats.org/officeDocument/2006/relationships/notesMaster" Target="/ppt/notesMasters/notesMaster1.xml" Id="R4b858af25e3743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question. Clarify that the deck is an example output, not an approved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Nova Phase 2 Decision Brief v1.0</a:t>
            </a:r>
          </a:p>
          <a:p xmlns:a="http://schemas.openxmlformats.org/drawingml/2006/main">
            <a:r>
              <a:t>- Project Nova Three Rollout Options Source Pack 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this an approval. Ask the committee to choose the option and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Nova Phase 2 Decision Brief v1.0</a:t>
            </a:r>
          </a:p>
          <a:p xmlns:a="http://schemas.openxmlformats.org/drawingml/2006/main">
            <a:r>
              <a:t>- Project Nova Three Rollout Options Source Pack 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Researcher is answering a technical feasibility question. Preserve the internal constraints even if external research describes broader product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Nova Three Rollout Options Source Pack v1.0</a:t>
            </a:r>
          </a:p>
          <a:p xmlns:a="http://schemas.openxmlformats.org/drawingml/2006/main">
            <a:r>
              <a:t>- Expected Researcher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denominator: 46 of 120. Volume is not the same as value or risk. The dataset is synthetic and contains deliberate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Nova Access Request Dataset</a:t>
            </a:r>
          </a:p>
          <a:p xmlns:a="http://schemas.openxmlformats.org/drawingml/2006/main">
            <a:r>
              <a:t>- Dataset Definitions and KPI Rules</a:t>
            </a:r>
          </a:p>
          <a:p xmlns:a="http://schemas.openxmlformats.org/drawingml/2006/main">
            <a:r>
              <a:t>- Expected Analyst Findings workbook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options symmetrically. Do not hide the principal trade-off: start controlled learning with limited coverage, or delay until broader scope is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Nova Three Rollout Options Source Pack v1.0</a:t>
            </a:r>
          </a:p>
          <a:p xmlns:a="http://schemas.openxmlformats.org/drawingml/2006/main">
            <a:r>
              <a:t>- Project Nova Phase 2 Decision Brief v1.0</a:t>
            </a:r>
          </a:p>
          <a:p xmlns:a="http://schemas.openxmlformats.org/drawingml/2006/main">
            <a:r>
              <a:t>- Expected Researcher Report</a:t>
            </a:r>
          </a:p>
          <a:p xmlns:a="http://schemas.openxmlformats.org/drawingml/2006/main">
            <a:r>
              <a:t>- Expected Analyst Findings workbook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five decisions. Record only what the authorised committee approves. If any condition is unresolved, the correct status is Hold or Conditional—not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Nova Example Decision Paper</a:t>
            </a:r>
          </a:p>
          <a:p xmlns:a="http://schemas.openxmlformats.org/drawingml/2006/main">
            <a:r>
              <a:t>- TRUST Agent Handoff Template</a:t>
            </a:r>
          </a:p>
          <a:p xmlns:a="http://schemas.openxmlformats.org/drawingml/2006/main">
            <a:r>
              <a:t>- Project Nova Phase 2 Decision Brief 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b74355cfa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c0df7a8844bb9" /><Relationship Type="http://schemas.openxmlformats.org/officeDocument/2006/relationships/slideLayout" Target="/ppt/slideLayouts/slideLayout1.xml" Id="Rd7c02f35db01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c02f35db01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bc3f648ff44d4" /><Relationship Type="http://schemas.openxmlformats.org/officeDocument/2006/relationships/notesSlide" Target="/ppt/notesSlides/notesSlide1.xml" Id="R75b55e9b040b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f7b9838874fa3" /><Relationship Type="http://schemas.openxmlformats.org/officeDocument/2006/relationships/notesSlide" Target="/ppt/notesSlides/notesSlide2.xml" Id="R3e00590ce654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dd07aa2434740" /><Relationship Type="http://schemas.openxmlformats.org/officeDocument/2006/relationships/notesSlide" Target="/ppt/notesSlides/notesSlide3.xml" Id="Re9932a15dbf0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de817eb514759" /><Relationship Type="http://schemas.openxmlformats.org/officeDocument/2006/relationships/chart" Target="/ppt/slides/charts/chart1.xml" Id="R9734e66bceb64bc9" /><Relationship Type="http://schemas.openxmlformats.org/officeDocument/2006/relationships/notesSlide" Target="/ppt/notesSlides/notesSlide4.xml" Id="R711c3cb484d541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1832a64be4363" /><Relationship Type="http://schemas.openxmlformats.org/officeDocument/2006/relationships/notesSlide" Target="/ppt/notesSlides/notesSlide5.xml" Id="R30e6b2ff379c49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5f8f5364d42ff" /><Relationship Type="http://schemas.openxmlformats.org/officeDocument/2006/relationships/notesSlide" Target="/ppt/notesSlides/notesSlide6.xml" Id="R2586ae84119f4ed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Requests</c:v>
          </c:tx>
          <c:spPr>
            <a:solidFill xmlns:a="http://schemas.openxmlformats.org/drawingml/2006/main">
              <a:srgbClr val="0067B8"/>
            </a:solidFill>
          </c:spPr>
          <c:cat>
            <c:strLit>
              <c:ptCount val="5"/>
              <c:pt idx="0">
                <c:v>ServiceNow</c:v>
              </c:pt>
              <c:pt idx="1">
                <c:v>HR Core</c:v>
              </c:pt>
              <c:pt idx="2">
                <c:v>GitHub Enterprise</c:v>
              </c:pt>
              <c:pt idx="3">
                <c:v>FinanceHub</c:v>
              </c:pt>
              <c:pt idx="4">
                <c:v>Power BI Workspace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14</c:v>
              </c:pt>
              <c:pt idx="2">
                <c:v>14</c:v>
              </c:pt>
              <c:pt idx="3">
                <c:v>38</c:v>
              </c:pt>
              <c:pt idx="4">
                <c:v>36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6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0403F578-9CB1-4644-A459-09F5DCF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AF7"/>
                </a:solidFill>
              </a:defRPr>
            </a:pPr>
            <a:r>
              <a:rPr sz="1125" b="1">
                <a:solidFill>
                  <a:srgbClr val="D9EAF7"/>
                </a:solidFill>
              </a:rPr>
              <a:t>MICROSOFT COPILOT LABS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3CC2D0-31D4-46B5-994F-A8AEEA3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Project Nova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45165748-F032-468F-9922-E222BB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EAF7"/>
                </a:solidFill>
              </a:defRPr>
            </a:pPr>
            <a:r>
              <a:rPr sz="2175" b="1">
                <a:solidFill>
                  <a:srgbClr val="D9EAF7"/>
                </a:solidFill>
              </a:rPr>
              <a:t>Phase 2 rollout decision</a:t>
            </a:r>
          </a:p>
        </p:txBody>
      </p:sp>
      <p:sp>
        <p:nvSpPr>
          <p:cNvPr id="4" name="ask">
            <a:extLst xmlns:a="http://schemas.openxmlformats.org/drawingml/2006/main">
              <a:ext uri="{FF2B5EF4-FFF2-40B4-BE49-F238E27FC236}">
                <a16:creationId xmlns:a16="http://schemas.microsoft.com/office/drawing/2014/main" id="{EA16DC25-42C5-42CD-9838-98B2EA64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Controlled 3-app pilot • 5-app rollout • Remain in discovery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4B7D8076-5D29-451B-AFB8-6A530861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E116F20F-F456-4DF2-B131-45B4FE63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7"/>
                </a:solidFill>
              </a:defRPr>
            </a:pPr>
            <a:r>
              <a:rPr sz="1050" b="0">
                <a:solidFill>
                  <a:srgbClr val="D9EAF7"/>
                </a:solidFill>
              </a:rPr>
              <a:t>Steering Committee | 28 August 2026 | Synthetic workshop case</a:t>
            </a:r>
          </a:p>
        </p:txBody>
      </p:sp>
    </p:spTree>
    <p:extLst>
      <p:ext uri="{BB962C8B-B14F-4D97-AF65-F5344CB8AC3E}">
        <p14:creationId xmlns:p14="http://schemas.microsoft.com/office/powerpoint/2010/main" val="31320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-2">
            <a:extLst xmlns:a="http://schemas.openxmlformats.org/drawingml/2006/main">
              <a:ext uri="{FF2B5EF4-FFF2-40B4-BE49-F238E27FC236}">
                <a16:creationId xmlns:a16="http://schemas.microsoft.com/office/drawing/2014/main" id="{5DDD4D9C-29A1-4CCF-AC36-D3A96634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8"/>
                </a:solidFill>
              </a:defRPr>
            </a:pPr>
            <a:r>
              <a:rPr sz="1050" b="1">
                <a:solidFill>
                  <a:srgbClr val="0067B8"/>
                </a:solidFill>
              </a:rPr>
              <a:t>DECISION REQUIRED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52F16FC-2E38-47FE-BEDE-78302834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94B"/>
                </a:solidFill>
              </a:defRPr>
            </a:pPr>
            <a:r>
              <a:rPr sz="2850" b="1">
                <a:solidFill>
                  <a:srgbClr val="13294B"/>
                </a:solidFill>
              </a:rPr>
              <a:t>Choose scope, conditions and evidence threshold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F1E436ED-937E-4E65-BF34-6255E3C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ll">
            <a:extLst xmlns:a="http://schemas.openxmlformats.org/drawingml/2006/main">
              <a:ext uri="{FF2B5EF4-FFF2-40B4-BE49-F238E27FC236}">
                <a16:creationId xmlns:a16="http://schemas.microsoft.com/office/drawing/2014/main" id="{6D151BAE-02FF-4C32-8EB6-27C5B9B8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23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5" name="call-l">
            <a:extLst xmlns:a="http://schemas.openxmlformats.org/drawingml/2006/main">
              <a:ext uri="{FF2B5EF4-FFF2-40B4-BE49-F238E27FC236}">
                <a16:creationId xmlns:a16="http://schemas.microsoft.com/office/drawing/2014/main" id="{57BFB23A-57D9-402A-99E3-F8A9A005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8"/>
                </a:solidFill>
              </a:defRPr>
            </a:pPr>
            <a:r>
              <a:rPr sz="1050" b="1">
                <a:solidFill>
                  <a:srgbClr val="0067B8"/>
                </a:solidFill>
              </a:rPr>
              <a:t>WORKING RECOMMENDATION — NOT APPROVED</a:t>
            </a:r>
          </a:p>
        </p:txBody>
      </p:sp>
      <p:sp>
        <p:nvSpPr>
          <p:cNvPr id="6" name="call-t">
            <a:extLst xmlns:a="http://schemas.openxmlformats.org/drawingml/2006/main">
              <a:ext uri="{FF2B5EF4-FFF2-40B4-BE49-F238E27FC236}">
                <a16:creationId xmlns:a16="http://schemas.microsoft.com/office/drawing/2014/main" id="{D8BF875D-8119-4FC3-80BA-34A98D81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94B"/>
                </a:solidFill>
              </a:defRPr>
            </a:pPr>
            <a:r>
              <a:rPr sz="2100" b="1">
                <a:solidFill>
                  <a:srgbClr val="13294B"/>
                </a:solidFill>
              </a:rPr>
              <a:t>Approve a four-week, three-application pilot only if the committee accepts limited workload coverage and the named controls.</a:t>
            </a:r>
          </a:p>
        </p:txBody>
      </p:sp>
      <p:sp>
        <p:nvSpPr>
          <p:cNvPr id="7" name="ready-box">
            <a:extLst xmlns:a="http://schemas.openxmlformats.org/drawingml/2006/main">
              <a:ext uri="{FF2B5EF4-FFF2-40B4-BE49-F238E27FC236}">
                <a16:creationId xmlns:a16="http://schemas.microsoft.com/office/drawing/2014/main" id="{D6252D5E-BF2F-429A-8A23-3658877F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ready-bar">
            <a:extLst xmlns:a="http://schemas.openxmlformats.org/drawingml/2006/main">
              <a:ext uri="{FF2B5EF4-FFF2-40B4-BE49-F238E27FC236}">
                <a16:creationId xmlns:a16="http://schemas.microsoft.com/office/drawing/2014/main" id="{7E0E18C4-18BF-41F1-9789-43666C9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y-v">
            <a:extLst xmlns:a="http://schemas.openxmlformats.org/drawingml/2006/main">
              <a:ext uri="{FF2B5EF4-FFF2-40B4-BE49-F238E27FC236}">
                <a16:creationId xmlns:a16="http://schemas.microsoft.com/office/drawing/2014/main" id="{C7909130-96CC-4EC5-8D72-49CA152A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2552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7C10"/>
                </a:solidFill>
              </a:defRPr>
            </a:pPr>
            <a:r>
              <a:rPr sz="2550" b="1">
                <a:solidFill>
                  <a:srgbClr val="107C10"/>
                </a:solidFill>
              </a:rPr>
              <a:t>3 / 5</a:t>
            </a:r>
          </a:p>
        </p:txBody>
      </p:sp>
      <p:sp>
        <p:nvSpPr>
          <p:cNvPr id="10" name="ready-l">
            <a:extLst xmlns:a="http://schemas.openxmlformats.org/drawingml/2006/main">
              <a:ext uri="{FF2B5EF4-FFF2-40B4-BE49-F238E27FC236}">
                <a16:creationId xmlns:a16="http://schemas.microsoft.com/office/drawing/2014/main" id="{081C8254-385C-44AC-9F35-CCE8377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94B"/>
                </a:solidFill>
              </a:defRPr>
            </a:pPr>
            <a:r>
              <a:rPr sz="1275" b="1">
                <a:solidFill>
                  <a:srgbClr val="13294B"/>
                </a:solidFill>
              </a:rPr>
              <a:t>applications technically ready</a:t>
            </a:r>
          </a:p>
        </p:txBody>
      </p:sp>
      <p:sp>
        <p:nvSpPr>
          <p:cNvPr id="11" name="ready-n">
            <a:extLst xmlns:a="http://schemas.openxmlformats.org/drawingml/2006/main">
              <a:ext uri="{FF2B5EF4-FFF2-40B4-BE49-F238E27FC236}">
                <a16:creationId xmlns:a16="http://schemas.microsoft.com/office/drawing/2014/main" id="{49C5C1A7-3AC2-4B9B-84A9-8D1F859D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C5C"/>
                </a:solidFill>
              </a:defRPr>
            </a:pPr>
            <a:r>
              <a:rPr sz="975" b="0">
                <a:solidFill>
                  <a:srgbClr val="5C5C5C"/>
                </a:solidFill>
              </a:rPr>
              <a:t>ServiceNow • HR Core • GitHub Enterprise</a:t>
            </a:r>
          </a:p>
        </p:txBody>
      </p:sp>
      <p:sp>
        <p:nvSpPr>
          <p:cNvPr id="12" name="b1-dot">
            <a:extLst xmlns:a="http://schemas.openxmlformats.org/drawingml/2006/main">
              <a:ext uri="{FF2B5EF4-FFF2-40B4-BE49-F238E27FC236}">
                <a16:creationId xmlns:a16="http://schemas.microsoft.com/office/drawing/2014/main" id="{55CDC411-E872-4A99-923A-8E2D80C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1">
            <a:extLst xmlns:a="http://schemas.openxmlformats.org/drawingml/2006/main">
              <a:ext uri="{FF2B5EF4-FFF2-40B4-BE49-F238E27FC236}">
                <a16:creationId xmlns:a16="http://schemas.microsoft.com/office/drawing/2014/main" id="{119CB839-EB40-4A6C-B9E7-942B3887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Approve one completion definition and pilot KPI.</a:t>
            </a:r>
          </a:p>
        </p:txBody>
      </p:sp>
      <p:sp>
        <p:nvSpPr>
          <p:cNvPr id="14" name="b2-dot">
            <a:extLst xmlns:a="http://schemas.openxmlformats.org/drawingml/2006/main">
              <a:ext uri="{FF2B5EF4-FFF2-40B4-BE49-F238E27FC236}">
                <a16:creationId xmlns:a16="http://schemas.microsoft.com/office/drawing/2014/main" id="{E5216432-78B7-47CD-ACEC-57AC3AA4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2">
            <a:extLst xmlns:a="http://schemas.openxmlformats.org/drawingml/2006/main">
              <a:ext uri="{FF2B5EF4-FFF2-40B4-BE49-F238E27FC236}">
                <a16:creationId xmlns:a16="http://schemas.microsoft.com/office/drawing/2014/main" id="{AD42AB5A-42A4-406E-B56C-679C3930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Retain human approval for privileged and admin access.</a:t>
            </a:r>
          </a:p>
        </p:txBody>
      </p:sp>
      <p:sp>
        <p:nvSpPr>
          <p:cNvPr id="16" name="b3-dot">
            <a:extLst xmlns:a="http://schemas.openxmlformats.org/drawingml/2006/main">
              <a:ext uri="{FF2B5EF4-FFF2-40B4-BE49-F238E27FC236}">
                <a16:creationId xmlns:a16="http://schemas.microsoft.com/office/drawing/2014/main" id="{D10B4237-0901-453C-A391-B42611F0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3">
            <a:extLst xmlns:a="http://schemas.openxmlformats.org/drawingml/2006/main">
              <a:ext uri="{FF2B5EF4-FFF2-40B4-BE49-F238E27FC236}">
                <a16:creationId xmlns:a16="http://schemas.microsoft.com/office/drawing/2014/main" id="{3EFB18F3-E157-4428-8DEC-2ACE2443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Continue FinanceHub and Power BI remediation in parallel.</a:t>
            </a:r>
          </a:p>
        </p:txBody>
      </p:sp>
      <p:sp>
        <p:nvSpPr>
          <p:cNvPr id="18" name="b4-dot">
            <a:extLst xmlns:a="http://schemas.openxmlformats.org/drawingml/2006/main">
              <a:ext uri="{FF2B5EF4-FFF2-40B4-BE49-F238E27FC236}">
                <a16:creationId xmlns:a16="http://schemas.microsoft.com/office/drawing/2014/main" id="{00198568-C14A-4D8C-A90A-6D773A7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4">
            <a:extLst xmlns:a="http://schemas.openxmlformats.org/drawingml/2006/main">
              <a:ext uri="{FF2B5EF4-FFF2-40B4-BE49-F238E27FC236}">
                <a16:creationId xmlns:a16="http://schemas.microsoft.com/office/drawing/2014/main" id="{CFB6D30F-2CBA-448C-8608-385765B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Define four-week exit criteria before launch.</a:t>
            </a:r>
          </a:p>
        </p:txBody>
      </p:sp>
      <p:sp>
        <p:nvSpPr>
          <p:cNvPr id="20" name="foot-2">
            <a:extLst xmlns:a="http://schemas.openxmlformats.org/drawingml/2006/main">
              <a:ext uri="{FF2B5EF4-FFF2-40B4-BE49-F238E27FC236}">
                <a16:creationId xmlns:a16="http://schemas.microsoft.com/office/drawing/2014/main" id="{F3E8A5F7-285A-4B73-8993-8772F3E6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PROJECT NOVA | PHASE 2 DECISION</a:t>
            </a: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D47C462F-63D1-4113-960D-5CC3569F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8611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-3">
            <a:extLst xmlns:a="http://schemas.openxmlformats.org/drawingml/2006/main">
              <a:ext uri="{FF2B5EF4-FFF2-40B4-BE49-F238E27FC236}">
                <a16:creationId xmlns:a16="http://schemas.microsoft.com/office/drawing/2014/main" id="{4CBFC009-B74D-406A-B7A2-0EBFAAE0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8"/>
                </a:solidFill>
              </a:defRPr>
            </a:pPr>
            <a:r>
              <a:rPr sz="1050" b="1">
                <a:solidFill>
                  <a:srgbClr val="0067B8"/>
                </a:solidFill>
              </a:rPr>
              <a:t>RESEARCHER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D6AF15E-DD3D-4737-8A20-4AA83D2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94B"/>
                </a:solidFill>
              </a:defRPr>
            </a:pPr>
            <a:r>
              <a:rPr sz="2850" b="1">
                <a:solidFill>
                  <a:srgbClr val="13294B"/>
                </a:solidFill>
              </a:rPr>
              <a:t>A controlled subset pilot is technically feasible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94F8D3E-10A6-4512-83B0-78F987EE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search">
            <a:extLst xmlns:a="http://schemas.openxmlformats.org/drawingml/2006/main">
              <a:ext uri="{FF2B5EF4-FFF2-40B4-BE49-F238E27FC236}">
                <a16:creationId xmlns:a16="http://schemas.microsoft.com/office/drawing/2014/main" id="{A657A483-67C3-4090-8F03-2B46544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053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D9EAF7"/>
            </a:solidFill>
            <a:prstDash val="solid"/>
          </a:ln>
        </p:spPr>
      </p:sp>
      <p:sp>
        <p:nvSpPr>
          <p:cNvPr id="5" name="rt">
            <a:extLst xmlns:a="http://schemas.openxmlformats.org/drawingml/2006/main">
              <a:ext uri="{FF2B5EF4-FFF2-40B4-BE49-F238E27FC236}">
                <a16:creationId xmlns:a16="http://schemas.microsoft.com/office/drawing/2014/main" id="{7DD99D61-9A54-4E4F-9DF3-195FF47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8"/>
                </a:solidFill>
              </a:defRPr>
            </a:pPr>
            <a:r>
              <a:rPr sz="1050" b="1">
                <a:solidFill>
                  <a:srgbClr val="0067B8"/>
                </a:solidFill>
              </a:rPr>
              <a:t>CONFIRMED INTERNAL EVIDENCE</a:t>
            </a:r>
          </a:p>
        </p:txBody>
      </p:sp>
      <p:sp>
        <p:nvSpPr>
          <p:cNvPr id="6" name="r1-dot">
            <a:extLst xmlns:a="http://schemas.openxmlformats.org/drawingml/2006/main">
              <a:ext uri="{FF2B5EF4-FFF2-40B4-BE49-F238E27FC236}">
                <a16:creationId xmlns:a16="http://schemas.microsoft.com/office/drawing/2014/main" id="{9FE987B8-5A7D-46C0-8721-B88A1EB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1">
            <a:extLst xmlns:a="http://schemas.openxmlformats.org/drawingml/2006/main">
              <a:ext uri="{FF2B5EF4-FFF2-40B4-BE49-F238E27FC236}">
                <a16:creationId xmlns:a16="http://schemas.microsoft.com/office/drawing/2014/main" id="{49878343-FBA2-4C8B-8AB5-4B20B1E0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02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ServiceNow has an approved REST API and sandbox service account.</a:t>
            </a:r>
          </a:p>
        </p:txBody>
      </p:sp>
      <p:sp>
        <p:nvSpPr>
          <p:cNvPr id="8" name="r2-dot">
            <a:extLst xmlns:a="http://schemas.openxmlformats.org/drawingml/2006/main">
              <a:ext uri="{FF2B5EF4-FFF2-40B4-BE49-F238E27FC236}">
                <a16:creationId xmlns:a16="http://schemas.microsoft.com/office/drawing/2014/main" id="{F5144BA5-E3BE-4CCD-820B-D46521D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2">
            <a:extLst xmlns:a="http://schemas.openxmlformats.org/drawingml/2006/main">
              <a:ext uri="{FF2B5EF4-FFF2-40B4-BE49-F238E27FC236}">
                <a16:creationId xmlns:a16="http://schemas.microsoft.com/office/drawing/2014/main" id="{773B9BD3-9D46-425A-AD40-92019BE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4029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HR Core has an approved batch API and test tenant.</a:t>
            </a:r>
          </a:p>
        </p:txBody>
      </p:sp>
      <p:sp>
        <p:nvSpPr>
          <p:cNvPr id="10" name="r3-dot">
            <a:extLst xmlns:a="http://schemas.openxmlformats.org/drawingml/2006/main">
              <a:ext uri="{FF2B5EF4-FFF2-40B4-BE49-F238E27FC236}">
                <a16:creationId xmlns:a16="http://schemas.microsoft.com/office/drawing/2014/main" id="{4DEDA070-8282-4D85-BBE0-1F36AEF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3">
            <a:extLst xmlns:a="http://schemas.openxmlformats.org/drawingml/2006/main">
              <a:ext uri="{FF2B5EF4-FFF2-40B4-BE49-F238E27FC236}">
                <a16:creationId xmlns:a16="http://schemas.microsoft.com/office/drawing/2014/main" id="{6C174C1D-784C-4F57-9F67-9AC0B692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4029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GitHub Enterprise has an approved enterprise app and test organisation.</a:t>
            </a:r>
          </a:p>
        </p:txBody>
      </p:sp>
      <p:sp>
        <p:nvSpPr>
          <p:cNvPr id="12" name="r4-dot">
            <a:extLst xmlns:a="http://schemas.openxmlformats.org/drawingml/2006/main">
              <a:ext uri="{FF2B5EF4-FFF2-40B4-BE49-F238E27FC236}">
                <a16:creationId xmlns:a16="http://schemas.microsoft.com/office/drawing/2014/main" id="{0CF39F58-45C3-4837-8639-0E4966A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4">
            <a:extLst xmlns:a="http://schemas.openxmlformats.org/drawingml/2006/main">
              <a:ext uri="{FF2B5EF4-FFF2-40B4-BE49-F238E27FC236}">
                <a16:creationId xmlns:a16="http://schemas.microsoft.com/office/drawing/2014/main" id="{6DBCB727-A218-418A-A8E7-01C6E42D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029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A time-boxed pilot can therefore begin with this scope.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759570E8-AD2D-4A90-A3E5-F6090A45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57350"/>
            <a:ext cx="5286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bt">
            <a:extLst xmlns:a="http://schemas.openxmlformats.org/drawingml/2006/main">
              <a:ext uri="{FF2B5EF4-FFF2-40B4-BE49-F238E27FC236}">
                <a16:creationId xmlns:a16="http://schemas.microsoft.com/office/drawing/2014/main" id="{231BAE16-F673-4DD6-B29E-275A11CF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5100"/>
                </a:solidFill>
              </a:defRPr>
            </a:pPr>
            <a:r>
              <a:rPr sz="1050" b="1">
                <a:solidFill>
                  <a:srgbClr val="8A5100"/>
                </a:solidFill>
              </a:rPr>
              <a:t>RESEARCHER BOUNDARY</a:t>
            </a:r>
          </a:p>
        </p:txBody>
      </p:sp>
      <p:sp>
        <p:nvSpPr>
          <p:cNvPr id="16" name="bc">
            <a:extLst xmlns:a="http://schemas.openxmlformats.org/drawingml/2006/main">
              <a:ext uri="{FF2B5EF4-FFF2-40B4-BE49-F238E27FC236}">
                <a16:creationId xmlns:a16="http://schemas.microsoft.com/office/drawing/2014/main" id="{CFA643C3-081C-4B34-BEBB-108DC84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94B"/>
                </a:solidFill>
              </a:defRPr>
            </a:pPr>
            <a:r>
              <a:rPr sz="1575" b="1">
                <a:solidFill>
                  <a:srgbClr val="13294B"/>
                </a:solidFill>
              </a:rPr>
              <a:t>Researcher can compare evidence and recommend conditions. It cannot approve the rollout or convert a Proposed measure into an SLA.</a:t>
            </a:r>
          </a:p>
        </p:txBody>
      </p:sp>
      <p:sp>
        <p:nvSpPr>
          <p:cNvPr id="17" name="notready">
            <a:extLst xmlns:a="http://schemas.openxmlformats.org/drawingml/2006/main">
              <a:ext uri="{FF2B5EF4-FFF2-40B4-BE49-F238E27FC236}">
                <a16:creationId xmlns:a16="http://schemas.microsoft.com/office/drawing/2014/main" id="{1DC6EB8E-E309-4B67-9E0C-A761449D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71850"/>
            <a:ext cx="5286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DE7E9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8" name="nt">
            <a:extLst xmlns:a="http://schemas.openxmlformats.org/drawingml/2006/main">
              <a:ext uri="{FF2B5EF4-FFF2-40B4-BE49-F238E27FC236}">
                <a16:creationId xmlns:a16="http://schemas.microsoft.com/office/drawing/2014/main" id="{9691A020-0A27-4FBD-8323-049C2C60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442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314B"/>
                </a:solidFill>
              </a:defRPr>
            </a:pPr>
            <a:r>
              <a:rPr sz="1050" b="1">
                <a:solidFill>
                  <a:srgbClr val="C4314B"/>
                </a:solidFill>
              </a:rPr>
              <a:t>UNRESOLVED FOR FIVE-APP ROLLOUT</a:t>
            </a:r>
          </a:p>
        </p:txBody>
      </p:sp>
      <p:sp>
        <p:nvSpPr>
          <p:cNvPr id="19" name="n1-dot">
            <a:extLst xmlns:a="http://schemas.openxmlformats.org/drawingml/2006/main">
              <a:ext uri="{FF2B5EF4-FFF2-40B4-BE49-F238E27FC236}">
                <a16:creationId xmlns:a16="http://schemas.microsoft.com/office/drawing/2014/main" id="{6DA7615A-9B11-4D9B-B3C4-E4EA922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1">
            <a:extLst xmlns:a="http://schemas.openxmlformats.org/drawingml/2006/main">
              <a:ext uri="{FF2B5EF4-FFF2-40B4-BE49-F238E27FC236}">
                <a16:creationId xmlns:a16="http://schemas.microsoft.com/office/drawing/2014/main" id="{CCA69E15-A0AD-4016-987E-D87A4F9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FinanceHub: no approved real-time API; security review open.</a:t>
            </a:r>
          </a:p>
        </p:txBody>
      </p:sp>
      <p:sp>
        <p:nvSpPr>
          <p:cNvPr id="21" name="n2-dot">
            <a:extLst xmlns:a="http://schemas.openxmlformats.org/drawingml/2006/main">
              <a:ext uri="{FF2B5EF4-FFF2-40B4-BE49-F238E27FC236}">
                <a16:creationId xmlns:a16="http://schemas.microsoft.com/office/drawing/2014/main" id="{7D667B3D-0DB8-4EB1-B9D7-FBE85C4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2">
            <a:extLst xmlns:a="http://schemas.openxmlformats.org/drawingml/2006/main">
              <a:ext uri="{FF2B5EF4-FFF2-40B4-BE49-F238E27FC236}">
                <a16:creationId xmlns:a16="http://schemas.microsoft.com/office/drawing/2014/main" id="{0A2DB93E-4E76-46B5-99D4-81A42670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Power BI: tenant-admin consent and workspace design unresolved.</a:t>
            </a:r>
          </a:p>
        </p:txBody>
      </p:sp>
      <p:sp>
        <p:nvSpPr>
          <p:cNvPr id="23" name="foot-3">
            <a:extLst xmlns:a="http://schemas.openxmlformats.org/drawingml/2006/main">
              <a:ext uri="{FF2B5EF4-FFF2-40B4-BE49-F238E27FC236}">
                <a16:creationId xmlns:a16="http://schemas.microsoft.com/office/drawing/2014/main" id="{11AE0ECE-6FDD-45AF-A751-231ACD2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PROJECT NOVA | PHASE 2 DECISION</a:t>
            </a:r>
          </a:p>
        </p:txBody>
      </p:sp>
      <p:sp>
        <p:nvSpPr>
          <p:cNvPr id="24" name="page-3">
            <a:extLst xmlns:a="http://schemas.openxmlformats.org/drawingml/2006/main">
              <a:ext uri="{FF2B5EF4-FFF2-40B4-BE49-F238E27FC236}">
                <a16:creationId xmlns:a16="http://schemas.microsoft.com/office/drawing/2014/main" id="{1633D8BD-75B5-4815-BA4D-7307DEBD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7158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-4">
            <a:extLst xmlns:a="http://schemas.openxmlformats.org/drawingml/2006/main">
              <a:ext uri="{FF2B5EF4-FFF2-40B4-BE49-F238E27FC236}">
                <a16:creationId xmlns:a16="http://schemas.microsoft.com/office/drawing/2014/main" id="{18D1941C-4100-4149-9C55-5337C168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8"/>
                </a:solidFill>
              </a:defRPr>
            </a:pPr>
            <a:r>
              <a:rPr sz="1050" b="1">
                <a:solidFill>
                  <a:srgbClr val="0067B8"/>
                </a:solidFill>
              </a:rPr>
              <a:t>ANALYST VIEW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C5F0A84-06B8-44EE-A2DE-8FE5717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94B"/>
                </a:solidFill>
              </a:defRPr>
            </a:pPr>
            <a:r>
              <a:rPr sz="2850" b="1">
                <a:solidFill>
                  <a:srgbClr val="13294B"/>
                </a:solidFill>
              </a:rPr>
              <a:t>The ready subset covers 38.3% of observed request volume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B15EF61D-EE02-48AD-B4CB-3C9A06AC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t-box">
            <a:extLst xmlns:a="http://schemas.openxmlformats.org/drawingml/2006/main">
              <a:ext uri="{FF2B5EF4-FFF2-40B4-BE49-F238E27FC236}">
                <a16:creationId xmlns:a16="http://schemas.microsoft.com/office/drawing/2014/main" id="{9D166BFF-8221-4F59-8B6B-2E634E9A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tot-bar">
            <a:extLst xmlns:a="http://schemas.openxmlformats.org/drawingml/2006/main">
              <a:ext uri="{FF2B5EF4-FFF2-40B4-BE49-F238E27FC236}">
                <a16:creationId xmlns:a16="http://schemas.microsoft.com/office/drawing/2014/main" id="{6833F8D7-1FC1-48E0-AA12-DA6DF66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t-v">
            <a:extLst xmlns:a="http://schemas.openxmlformats.org/drawingml/2006/main">
              <a:ext uri="{FF2B5EF4-FFF2-40B4-BE49-F238E27FC236}">
                <a16:creationId xmlns:a16="http://schemas.microsoft.com/office/drawing/2014/main" id="{6CC1880F-7E94-4FAF-B148-874E9D36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7B8"/>
                </a:solidFill>
              </a:defRPr>
            </a:pPr>
            <a:r>
              <a:rPr sz="2550" b="1">
                <a:solidFill>
                  <a:srgbClr val="0067B8"/>
                </a:solidFill>
              </a:rPr>
              <a:t>120</a:t>
            </a:r>
          </a:p>
        </p:txBody>
      </p:sp>
      <p:sp>
        <p:nvSpPr>
          <p:cNvPr id="7" name="tot-l">
            <a:extLst xmlns:a="http://schemas.openxmlformats.org/drawingml/2006/main">
              <a:ext uri="{FF2B5EF4-FFF2-40B4-BE49-F238E27FC236}">
                <a16:creationId xmlns:a16="http://schemas.microsoft.com/office/drawing/2014/main" id="{F4BFDE81-C8F9-4894-A23F-1BBC8978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94B"/>
                </a:solidFill>
              </a:defRPr>
            </a:pPr>
            <a:r>
              <a:rPr sz="1275" b="1">
                <a:solidFill>
                  <a:srgbClr val="13294B"/>
                </a:solidFill>
              </a:rPr>
              <a:t>synthetic requests</a:t>
            </a:r>
          </a:p>
        </p:txBody>
      </p:sp>
      <p:sp>
        <p:nvSpPr>
          <p:cNvPr id="8" name="tot-n">
            <a:extLst xmlns:a="http://schemas.openxmlformats.org/drawingml/2006/main">
              <a:ext uri="{FF2B5EF4-FFF2-40B4-BE49-F238E27FC236}">
                <a16:creationId xmlns:a16="http://schemas.microsoft.com/office/drawing/2014/main" id="{2E9AB879-445E-4EF6-9FB2-F09A5CB1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C5C"/>
                </a:solidFill>
              </a:defRPr>
            </a:pPr>
            <a:r>
              <a:rPr sz="975" b="0">
                <a:solidFill>
                  <a:srgbClr val="5C5C5C"/>
                </a:solidFill>
              </a:rPr>
              <a:t>Five applications</a:t>
            </a:r>
          </a:p>
        </p:txBody>
      </p:sp>
      <p:sp>
        <p:nvSpPr>
          <p:cNvPr id="9" name="cov-box">
            <a:extLst xmlns:a="http://schemas.openxmlformats.org/drawingml/2006/main">
              <a:ext uri="{FF2B5EF4-FFF2-40B4-BE49-F238E27FC236}">
                <a16:creationId xmlns:a16="http://schemas.microsoft.com/office/drawing/2014/main" id="{C4D0ED0E-B1F1-4536-B7F2-0345F9FB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0" name="cov-bar">
            <a:extLst xmlns:a="http://schemas.openxmlformats.org/drawingml/2006/main">
              <a:ext uri="{FF2B5EF4-FFF2-40B4-BE49-F238E27FC236}">
                <a16:creationId xmlns:a16="http://schemas.microsoft.com/office/drawing/2014/main" id="{7B08A774-F155-4BF4-A953-18BDD693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-v">
            <a:extLst xmlns:a="http://schemas.openxmlformats.org/drawingml/2006/main">
              <a:ext uri="{FF2B5EF4-FFF2-40B4-BE49-F238E27FC236}">
                <a16:creationId xmlns:a16="http://schemas.microsoft.com/office/drawing/2014/main" id="{2CB3D083-14F6-4930-8E86-3ADF887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7C10"/>
                </a:solidFill>
              </a:defRPr>
            </a:pPr>
            <a:r>
              <a:rPr sz="2550" b="1">
                <a:solidFill>
                  <a:srgbClr val="107C10"/>
                </a:solidFill>
              </a:rPr>
              <a:t>46</a:t>
            </a:r>
          </a:p>
        </p:txBody>
      </p:sp>
      <p:sp>
        <p:nvSpPr>
          <p:cNvPr id="12" name="cov-l">
            <a:extLst xmlns:a="http://schemas.openxmlformats.org/drawingml/2006/main">
              <a:ext uri="{FF2B5EF4-FFF2-40B4-BE49-F238E27FC236}">
                <a16:creationId xmlns:a16="http://schemas.microsoft.com/office/drawing/2014/main" id="{DE3868A3-4010-4C61-9F2B-E6EAE8F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94B"/>
                </a:solidFill>
              </a:defRPr>
            </a:pPr>
            <a:r>
              <a:rPr sz="1275" b="1">
                <a:solidFill>
                  <a:srgbClr val="13294B"/>
                </a:solidFill>
              </a:rPr>
              <a:t>ready-app requests</a:t>
            </a:r>
          </a:p>
        </p:txBody>
      </p:sp>
      <p:sp>
        <p:nvSpPr>
          <p:cNvPr id="13" name="cov-n">
            <a:extLst xmlns:a="http://schemas.openxmlformats.org/drawingml/2006/main">
              <a:ext uri="{FF2B5EF4-FFF2-40B4-BE49-F238E27FC236}">
                <a16:creationId xmlns:a16="http://schemas.microsoft.com/office/drawing/2014/main" id="{8A85D17E-1DC7-4AF0-944C-46028986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C5C"/>
                </a:solidFill>
              </a:defRPr>
            </a:pPr>
            <a:r>
              <a:rPr sz="975" b="0">
                <a:solidFill>
                  <a:srgbClr val="5C5C5C"/>
                </a:solidFill>
              </a:rPr>
              <a:t>38.3% of total</a:t>
            </a:r>
          </a:p>
        </p:txBody>
      </p:sp>
      <p:sp>
        <p:nvSpPr>
          <p:cNvPr id="14" name="gap-box">
            <a:extLst xmlns:a="http://schemas.openxmlformats.org/drawingml/2006/main">
              <a:ext uri="{FF2B5EF4-FFF2-40B4-BE49-F238E27FC236}">
                <a16:creationId xmlns:a16="http://schemas.microsoft.com/office/drawing/2014/main" id="{E0BB0871-920E-4EE4-AED3-42AC6BEF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gap-bar">
            <a:extLst xmlns:a="http://schemas.openxmlformats.org/drawingml/2006/main">
              <a:ext uri="{FF2B5EF4-FFF2-40B4-BE49-F238E27FC236}">
                <a16:creationId xmlns:a16="http://schemas.microsoft.com/office/drawing/2014/main" id="{F05496CC-4E20-427E-9350-0599932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ap-v">
            <a:extLst xmlns:a="http://schemas.openxmlformats.org/drawingml/2006/main">
              <a:ext uri="{FF2B5EF4-FFF2-40B4-BE49-F238E27FC236}">
                <a16:creationId xmlns:a16="http://schemas.microsoft.com/office/drawing/2014/main" id="{8AD487B5-2EAD-45C7-979F-D08FE6EE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4314B"/>
                </a:solidFill>
              </a:defRPr>
            </a:pPr>
            <a:r>
              <a:rPr sz="2550" b="1">
                <a:solidFill>
                  <a:srgbClr val="C4314B"/>
                </a:solidFill>
              </a:rPr>
              <a:t>74</a:t>
            </a:r>
          </a:p>
        </p:txBody>
      </p:sp>
      <p:sp>
        <p:nvSpPr>
          <p:cNvPr id="17" name="gap-l">
            <a:extLst xmlns:a="http://schemas.openxmlformats.org/drawingml/2006/main">
              <a:ext uri="{FF2B5EF4-FFF2-40B4-BE49-F238E27FC236}">
                <a16:creationId xmlns:a16="http://schemas.microsoft.com/office/drawing/2014/main" id="{D6B27EA5-D00A-41B9-8E52-AA4291B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94B"/>
                </a:solidFill>
              </a:defRPr>
            </a:pPr>
            <a:r>
              <a:rPr sz="1275" b="1">
                <a:solidFill>
                  <a:srgbClr val="13294B"/>
                </a:solidFill>
              </a:rPr>
              <a:t>not-ready app requests</a:t>
            </a:r>
          </a:p>
        </p:txBody>
      </p:sp>
      <p:sp>
        <p:nvSpPr>
          <p:cNvPr id="18" name="gap-n">
            <a:extLst xmlns:a="http://schemas.openxmlformats.org/drawingml/2006/main">
              <a:ext uri="{FF2B5EF4-FFF2-40B4-BE49-F238E27FC236}">
                <a16:creationId xmlns:a16="http://schemas.microsoft.com/office/drawing/2014/main" id="{7E7CA8DD-55F5-4976-9860-8F38FAE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C5C"/>
                </a:solidFill>
              </a:defRPr>
            </a:pPr>
            <a:r>
              <a:rPr sz="975" b="0">
                <a:solidFill>
                  <a:srgbClr val="5C5C5C"/>
                </a:solidFill>
              </a:rPr>
              <a:t>61.7% of total</a:t>
            </a:r>
          </a:p>
        </p:txBody>
      </p:sp>
      <p:sp>
        <p:nvSpPr>
          <p:cNvPr id="19" name="dq-box">
            <a:extLst xmlns:a="http://schemas.openxmlformats.org/drawingml/2006/main">
              <a:ext uri="{FF2B5EF4-FFF2-40B4-BE49-F238E27FC236}">
                <a16:creationId xmlns:a16="http://schemas.microsoft.com/office/drawing/2014/main" id="{E51C222C-E558-4F2F-8A73-5338FAFB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2838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dq-bar">
            <a:extLst xmlns:a="http://schemas.openxmlformats.org/drawingml/2006/main">
              <a:ext uri="{FF2B5EF4-FFF2-40B4-BE49-F238E27FC236}">
                <a16:creationId xmlns:a16="http://schemas.microsoft.com/office/drawing/2014/main" id="{B539D344-4687-4FBB-A2ED-A94876C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q-v">
            <a:extLst xmlns:a="http://schemas.openxmlformats.org/drawingml/2006/main">
              <a:ext uri="{FF2B5EF4-FFF2-40B4-BE49-F238E27FC236}">
                <a16:creationId xmlns:a16="http://schemas.microsoft.com/office/drawing/2014/main" id="{A3A66BE2-A0A1-4CB2-9496-1BCDCF11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362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A5100"/>
                </a:solidFill>
              </a:defRPr>
            </a:pPr>
            <a:r>
              <a:rPr sz="2550" b="1">
                <a:solidFill>
                  <a:srgbClr val="8A5100"/>
                </a:solidFill>
              </a:rPr>
              <a:t>6</a:t>
            </a:r>
          </a:p>
        </p:txBody>
      </p:sp>
      <p:sp>
        <p:nvSpPr>
          <p:cNvPr id="22" name="dq-l">
            <a:extLst xmlns:a="http://schemas.openxmlformats.org/drawingml/2006/main">
              <a:ext uri="{FF2B5EF4-FFF2-40B4-BE49-F238E27FC236}">
                <a16:creationId xmlns:a16="http://schemas.microsoft.com/office/drawing/2014/main" id="{1375271E-1B84-42A6-807D-70525195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94B"/>
                </a:solidFill>
              </a:defRPr>
            </a:pPr>
            <a:r>
              <a:rPr sz="1275" b="1">
                <a:solidFill>
                  <a:srgbClr val="13294B"/>
                </a:solidFill>
              </a:rPr>
              <a:t>defined quality checks</a:t>
            </a:r>
          </a:p>
        </p:txBody>
      </p:sp>
      <p:sp>
        <p:nvSpPr>
          <p:cNvPr id="23" name="dq-n">
            <a:extLst xmlns:a="http://schemas.openxmlformats.org/drawingml/2006/main">
              <a:ext uri="{FF2B5EF4-FFF2-40B4-BE49-F238E27FC236}">
                <a16:creationId xmlns:a16="http://schemas.microsoft.com/office/drawing/2014/main" id="{EFBEC458-C2A6-41AC-8744-6EC8D6D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5C5C"/>
                </a:solidFill>
              </a:defRPr>
            </a:pPr>
            <a:r>
              <a:rPr sz="975" b="0">
                <a:solidFill>
                  <a:srgbClr val="5C5C5C"/>
                </a:solidFill>
              </a:rPr>
              <a:t>Exclusions and definitions required</a:t>
            </a:r>
          </a:p>
        </p:txBody>
      </p:sp>
      <p:sp>
        <p:nvSpPr>
          <p:cNvPr id="24" name="take">
            <a:extLst xmlns:a="http://schemas.openxmlformats.org/drawingml/2006/main">
              <a:ext uri="{FF2B5EF4-FFF2-40B4-BE49-F238E27FC236}">
                <a16:creationId xmlns:a16="http://schemas.microsoft.com/office/drawing/2014/main" id="{2E97BCEA-81D6-4F70-84C7-6C76BA40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94B"/>
                </a:solidFill>
              </a:defRPr>
            </a:pPr>
            <a:r>
              <a:rPr sz="2325" b="1">
                <a:solidFill>
                  <a:srgbClr val="13294B"/>
                </a:solidFill>
              </a:rPr>
              <a:t>Technical readiness and workload coverage are different decision dimensions.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685800" y="4000500"/>
          <a:ext xmlns:a="http://schemas.openxmlformats.org/drawingml/2006/main" cx="6572250" cy="2114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34e66bceb64bc9"/>
          </a:graphicData>
        </a:graphic>
      </p:graphicFrame>
      <p:sp>
        <p:nvSpPr>
          <p:cNvPr id="26" name="warn">
            <a:extLst xmlns:a="http://schemas.openxmlformats.org/drawingml/2006/main">
              <a:ext uri="{FF2B5EF4-FFF2-40B4-BE49-F238E27FC236}">
                <a16:creationId xmlns:a16="http://schemas.microsoft.com/office/drawing/2014/main" id="{91DFCB1F-747B-4CB9-9B97-0FC9DE48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36195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7" name="wl">
            <a:extLst xmlns:a="http://schemas.openxmlformats.org/drawingml/2006/main">
              <a:ext uri="{FF2B5EF4-FFF2-40B4-BE49-F238E27FC236}">
                <a16:creationId xmlns:a16="http://schemas.microsoft.com/office/drawing/2014/main" id="{8B2F27F7-504E-4C71-9EA4-F2E39AC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5100"/>
                </a:solidFill>
              </a:defRPr>
            </a:pPr>
            <a:r>
              <a:rPr sz="1050" b="1">
                <a:solidFill>
                  <a:srgbClr val="8A5100"/>
                </a:solidFill>
              </a:rPr>
              <a:t>ANALYSIS LIMITATIONS</a:t>
            </a:r>
          </a:p>
        </p:txBody>
      </p:sp>
      <p:sp>
        <p:nvSpPr>
          <p:cNvPr id="28" name="w1-dot">
            <a:extLst xmlns:a="http://schemas.openxmlformats.org/drawingml/2006/main">
              <a:ext uri="{FF2B5EF4-FFF2-40B4-BE49-F238E27FC236}">
                <a16:creationId xmlns:a16="http://schemas.microsoft.com/office/drawing/2014/main" id="{63DCB818-8267-4EF9-9E5D-EA24710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1">
            <a:extLst xmlns:a="http://schemas.openxmlformats.org/drawingml/2006/main">
              <a:ext uri="{FF2B5EF4-FFF2-40B4-BE49-F238E27FC236}">
                <a16:creationId xmlns:a16="http://schemas.microsoft.com/office/drawing/2014/main" id="{D2BEE4D1-FB7A-4663-B548-D926ED3C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434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424"/>
                </a:solidFill>
              </a:defRPr>
            </a:pPr>
            <a:r>
              <a:rPr sz="1200" b="0">
                <a:solidFill>
                  <a:srgbClr val="242424"/>
                </a:solidFill>
              </a:rPr>
              <a:t>Duplicate, negative and missing values</a:t>
            </a:r>
          </a:p>
        </p:txBody>
      </p:sp>
      <p:sp>
        <p:nvSpPr>
          <p:cNvPr id="30" name="w2-dot">
            <a:extLst xmlns:a="http://schemas.openxmlformats.org/drawingml/2006/main">
              <a:ext uri="{FF2B5EF4-FFF2-40B4-BE49-F238E27FC236}">
                <a16:creationId xmlns:a16="http://schemas.microsoft.com/office/drawing/2014/main" id="{C02A5ED4-3AC5-459D-B692-261C24A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76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w2">
            <a:extLst xmlns:a="http://schemas.openxmlformats.org/drawingml/2006/main">
              <a:ext uri="{FF2B5EF4-FFF2-40B4-BE49-F238E27FC236}">
                <a16:creationId xmlns:a16="http://schemas.microsoft.com/office/drawing/2014/main" id="{14D282F9-87BE-456F-882C-683E80AF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720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424"/>
                </a:solidFill>
              </a:defRPr>
            </a:pPr>
            <a:r>
              <a:rPr sz="1200" b="0">
                <a:solidFill>
                  <a:srgbClr val="242424"/>
                </a:solidFill>
              </a:rPr>
              <a:t>Two completion definitions</a:t>
            </a:r>
          </a:p>
        </p:txBody>
      </p:sp>
      <p:sp>
        <p:nvSpPr>
          <p:cNvPr id="32" name="w3-dot">
            <a:extLst xmlns:a="http://schemas.openxmlformats.org/drawingml/2006/main">
              <a:ext uri="{FF2B5EF4-FFF2-40B4-BE49-F238E27FC236}">
                <a16:creationId xmlns:a16="http://schemas.microsoft.com/office/drawing/2014/main" id="{CF6015B2-301C-4929-996B-506D5FF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05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3">
            <a:extLst xmlns:a="http://schemas.openxmlformats.org/drawingml/2006/main">
              <a:ext uri="{FF2B5EF4-FFF2-40B4-BE49-F238E27FC236}">
                <a16:creationId xmlns:a16="http://schemas.microsoft.com/office/drawing/2014/main" id="{C219673D-A088-400B-B02F-D18A7470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006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2424"/>
                </a:solidFill>
              </a:defRPr>
            </a:pPr>
            <a:r>
              <a:rPr sz="1200" b="0">
                <a:solidFill>
                  <a:srgbClr val="242424"/>
                </a:solidFill>
              </a:rPr>
              <a:t>One-day target is Proposed</a:t>
            </a:r>
          </a:p>
        </p:txBody>
      </p:sp>
      <p:sp>
        <p:nvSpPr>
          <p:cNvPr id="34" name="foot-4">
            <a:extLst xmlns:a="http://schemas.openxmlformats.org/drawingml/2006/main">
              <a:ext uri="{FF2B5EF4-FFF2-40B4-BE49-F238E27FC236}">
                <a16:creationId xmlns:a16="http://schemas.microsoft.com/office/drawing/2014/main" id="{804FC8D7-E72E-4486-BB15-1BA4385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PROJECT NOVA | PHASE 2 DECISION</a:t>
            </a:r>
          </a:p>
        </p:txBody>
      </p:sp>
      <p:sp>
        <p:nvSpPr>
          <p:cNvPr id="35" name="page-4">
            <a:extLst xmlns:a="http://schemas.openxmlformats.org/drawingml/2006/main">
              <a:ext uri="{FF2B5EF4-FFF2-40B4-BE49-F238E27FC236}">
                <a16:creationId xmlns:a16="http://schemas.microsoft.com/office/drawing/2014/main" id="{5BDCDB5D-A129-4D09-8302-B53B96A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7745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-5">
            <a:extLst xmlns:a="http://schemas.openxmlformats.org/drawingml/2006/main">
              <a:ext uri="{FF2B5EF4-FFF2-40B4-BE49-F238E27FC236}">
                <a16:creationId xmlns:a16="http://schemas.microsoft.com/office/drawing/2014/main" id="{EB99FFC4-C989-4CAD-B3EF-B4D567F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7B8"/>
                </a:solidFill>
              </a:defRPr>
            </a:pPr>
            <a:r>
              <a:rPr sz="1050" b="1">
                <a:solidFill>
                  <a:srgbClr val="0067B8"/>
                </a:solidFill>
              </a:rPr>
              <a:t>OPTIONS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4EB17F-DA0D-48F8-AE42-9EA2A78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94B"/>
                </a:solidFill>
              </a:defRPr>
            </a:pPr>
            <a:r>
              <a:rPr sz="2850" b="1">
                <a:solidFill>
                  <a:srgbClr val="13294B"/>
                </a:solidFill>
              </a:rPr>
              <a:t>Compare all choices against the same conditions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17F5585-8DAF-4CD7-884D-4F52158C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-A">
            <a:extLst xmlns:a="http://schemas.openxmlformats.org/drawingml/2006/main">
              <a:ext uri="{FF2B5EF4-FFF2-40B4-BE49-F238E27FC236}">
                <a16:creationId xmlns:a16="http://schemas.microsoft.com/office/drawing/2014/main" id="{BA669C2E-3EB8-4066-B0AA-A96691B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4000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ob-A">
            <a:extLst xmlns:a="http://schemas.openxmlformats.org/drawingml/2006/main">
              <a:ext uri="{FF2B5EF4-FFF2-40B4-BE49-F238E27FC236}">
                <a16:creationId xmlns:a16="http://schemas.microsoft.com/office/drawing/2014/main" id="{1A9C0D18-0FF7-423A-A3EB-ED5FDA84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l-A">
            <a:extLst xmlns:a="http://schemas.openxmlformats.org/drawingml/2006/main">
              <a:ext uri="{FF2B5EF4-FFF2-40B4-BE49-F238E27FC236}">
                <a16:creationId xmlns:a16="http://schemas.microsoft.com/office/drawing/2014/main" id="{4E8D979A-9596-43CF-A49C-CA5FB3C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7C10"/>
                </a:solidFill>
              </a:defRPr>
            </a:pPr>
            <a:r>
              <a:rPr sz="2475" b="1">
                <a:solidFill>
                  <a:srgbClr val="107C10"/>
                </a:solidFill>
              </a:rPr>
              <a:t>A</a:t>
            </a:r>
          </a:p>
        </p:txBody>
      </p:sp>
      <p:sp>
        <p:nvSpPr>
          <p:cNvPr id="7" name="ot-A">
            <a:extLst xmlns:a="http://schemas.openxmlformats.org/drawingml/2006/main">
              <a:ext uri="{FF2B5EF4-FFF2-40B4-BE49-F238E27FC236}">
                <a16:creationId xmlns:a16="http://schemas.microsoft.com/office/drawing/2014/main" id="{4663B37D-7894-415C-86AF-6F67649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859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94B"/>
                </a:solidFill>
              </a:defRPr>
            </a:pPr>
            <a:r>
              <a:rPr sz="1875" b="1">
                <a:solidFill>
                  <a:srgbClr val="13294B"/>
                </a:solidFill>
              </a:rPr>
              <a:t>3-app pilot</a:t>
            </a:r>
          </a:p>
        </p:txBody>
      </p:sp>
      <p:sp>
        <p:nvSpPr>
          <p:cNvPr id="8" name="os-A">
            <a:extLst xmlns:a="http://schemas.openxmlformats.org/drawingml/2006/main">
              <a:ext uri="{FF2B5EF4-FFF2-40B4-BE49-F238E27FC236}">
                <a16:creationId xmlns:a16="http://schemas.microsoft.com/office/drawing/2014/main" id="{668FBB04-F6BD-4BC2-8676-2C5BED9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7C10"/>
                </a:solidFill>
              </a:defRPr>
            </a:pPr>
            <a:r>
              <a:rPr sz="975" b="1">
                <a:solidFill>
                  <a:srgbClr val="107C10"/>
                </a:solidFill>
              </a:rPr>
              <a:t>RECOMMENDED WITH CONDITIONS</a:t>
            </a:r>
          </a:p>
        </p:txBody>
      </p:sp>
      <p:sp>
        <p:nvSpPr>
          <p:cNvPr id="9" name="or-A">
            <a:extLst xmlns:a="http://schemas.openxmlformats.org/drawingml/2006/main">
              <a:ext uri="{FF2B5EF4-FFF2-40B4-BE49-F238E27FC236}">
                <a16:creationId xmlns:a16="http://schemas.microsoft.com/office/drawing/2014/main" id="{7E0E0AA3-FD99-46EA-8113-2F588B95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ody-A">
            <a:extLst xmlns:a="http://schemas.openxmlformats.org/drawingml/2006/main">
              <a:ext uri="{FF2B5EF4-FFF2-40B4-BE49-F238E27FC236}">
                <a16:creationId xmlns:a16="http://schemas.microsoft.com/office/drawing/2014/main" id="{70B38469-0C79-4B4D-BFB4-11B542FC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857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Starts controlled learning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46 requests / 38.3% coverage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Four-week review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Manual fallback retained</a:t>
            </a:r>
          </a:p>
        </p:txBody>
      </p:sp>
      <p:sp>
        <p:nvSpPr>
          <p:cNvPr id="11" name="odec-A">
            <a:extLst xmlns:a="http://schemas.openxmlformats.org/drawingml/2006/main">
              <a:ext uri="{FF2B5EF4-FFF2-40B4-BE49-F238E27FC236}">
                <a16:creationId xmlns:a16="http://schemas.microsoft.com/office/drawing/2014/main" id="{954BF798-04C1-4108-9BF8-E2B8243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94B"/>
                </a:solidFill>
              </a:defRPr>
            </a:pPr>
            <a:r>
              <a:rPr sz="1200" b="1">
                <a:solidFill>
                  <a:srgbClr val="13294B"/>
                </a:solidFill>
              </a:rPr>
              <a:t>Decision: accept limited coverage?</a:t>
            </a:r>
          </a:p>
        </p:txBody>
      </p:sp>
      <p:sp>
        <p:nvSpPr>
          <p:cNvPr id="12" name="o-B">
            <a:extLst xmlns:a="http://schemas.openxmlformats.org/drawingml/2006/main">
              <a:ext uri="{FF2B5EF4-FFF2-40B4-BE49-F238E27FC236}">
                <a16:creationId xmlns:a16="http://schemas.microsoft.com/office/drawing/2014/main" id="{085737F2-D667-4CEF-84C2-66D79FE1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352800" cy="4000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ob-B">
            <a:extLst xmlns:a="http://schemas.openxmlformats.org/drawingml/2006/main">
              <a:ext uri="{FF2B5EF4-FFF2-40B4-BE49-F238E27FC236}">
                <a16:creationId xmlns:a16="http://schemas.microsoft.com/office/drawing/2014/main" id="{F70A1DE4-5BC3-4076-830C-6708FE35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l-B">
            <a:extLst xmlns:a="http://schemas.openxmlformats.org/drawingml/2006/main">
              <a:ext uri="{FF2B5EF4-FFF2-40B4-BE49-F238E27FC236}">
                <a16:creationId xmlns:a16="http://schemas.microsoft.com/office/drawing/2014/main" id="{6BF7838F-75D9-4BF3-AA6C-44CE3BC6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C4314B"/>
                </a:solidFill>
              </a:defRPr>
            </a:pPr>
            <a:r>
              <a:rPr sz="2475" b="1">
                <a:solidFill>
                  <a:srgbClr val="C4314B"/>
                </a:solidFill>
              </a:rPr>
              <a:t>B</a:t>
            </a:r>
          </a:p>
        </p:txBody>
      </p:sp>
      <p:sp>
        <p:nvSpPr>
          <p:cNvPr id="15" name="ot-B">
            <a:extLst xmlns:a="http://schemas.openxmlformats.org/drawingml/2006/main">
              <a:ext uri="{FF2B5EF4-FFF2-40B4-BE49-F238E27FC236}">
                <a16:creationId xmlns:a16="http://schemas.microsoft.com/office/drawing/2014/main" id="{E3088922-56A5-41CE-8C1E-72D3C74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859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94B"/>
                </a:solidFill>
              </a:defRPr>
            </a:pPr>
            <a:r>
              <a:rPr sz="1875" b="1">
                <a:solidFill>
                  <a:srgbClr val="13294B"/>
                </a:solidFill>
              </a:rPr>
              <a:t>5-app rollout</a:t>
            </a:r>
          </a:p>
        </p:txBody>
      </p:sp>
      <p:sp>
        <p:nvSpPr>
          <p:cNvPr id="16" name="os-B">
            <a:extLst xmlns:a="http://schemas.openxmlformats.org/drawingml/2006/main">
              <a:ext uri="{FF2B5EF4-FFF2-40B4-BE49-F238E27FC236}">
                <a16:creationId xmlns:a16="http://schemas.microsoft.com/office/drawing/2014/main" id="{25D51A9E-1D1C-4F01-A91E-C52126A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14B"/>
                </a:solidFill>
              </a:defRPr>
            </a:pPr>
            <a:r>
              <a:rPr sz="975" b="1">
                <a:solidFill>
                  <a:srgbClr val="C4314B"/>
                </a:solidFill>
              </a:rPr>
              <a:t>NOT SUPPORTED NOW</a:t>
            </a:r>
          </a:p>
        </p:txBody>
      </p:sp>
      <p:sp>
        <p:nvSpPr>
          <p:cNvPr id="17" name="or-B">
            <a:extLst xmlns:a="http://schemas.openxmlformats.org/drawingml/2006/main">
              <a:ext uri="{FF2B5EF4-FFF2-40B4-BE49-F238E27FC236}">
                <a16:creationId xmlns:a16="http://schemas.microsoft.com/office/drawing/2014/main" id="{57E68C3C-F0A5-41A4-8B36-D23B0FF0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ody-B">
            <a:extLst xmlns:a="http://schemas.openxmlformats.org/drawingml/2006/main">
              <a:ext uri="{FF2B5EF4-FFF2-40B4-BE49-F238E27FC236}">
                <a16:creationId xmlns:a16="http://schemas.microsoft.com/office/drawing/2014/main" id="{03805A86-AF85-4C93-95DD-C94CDD7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857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Full application scope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FinanceHub API unresolved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Power BI consent/design unresolved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Depends on unsupported assumptions</a:t>
            </a:r>
          </a:p>
        </p:txBody>
      </p:sp>
      <p:sp>
        <p:nvSpPr>
          <p:cNvPr id="19" name="odec-B">
            <a:extLst xmlns:a="http://schemas.openxmlformats.org/drawingml/2006/main">
              <a:ext uri="{FF2B5EF4-FFF2-40B4-BE49-F238E27FC236}">
                <a16:creationId xmlns:a16="http://schemas.microsoft.com/office/drawing/2014/main" id="{97EF5A30-1D34-42CC-9A16-14E677BB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29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94B"/>
                </a:solidFill>
              </a:defRPr>
            </a:pPr>
            <a:r>
              <a:rPr sz="1200" b="1">
                <a:solidFill>
                  <a:srgbClr val="13294B"/>
                </a:solidFill>
              </a:rPr>
              <a:t>Decision: wait for constraints?</a:t>
            </a:r>
          </a:p>
        </p:txBody>
      </p:sp>
      <p:sp>
        <p:nvSpPr>
          <p:cNvPr id="20" name="o-C">
            <a:extLst xmlns:a="http://schemas.openxmlformats.org/drawingml/2006/main">
              <a:ext uri="{FF2B5EF4-FFF2-40B4-BE49-F238E27FC236}">
                <a16:creationId xmlns:a16="http://schemas.microsoft.com/office/drawing/2014/main" id="{2943BBCD-777C-4572-A8A3-2CDC6EB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352800" cy="4000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1" name="ob-C">
            <a:extLst xmlns:a="http://schemas.openxmlformats.org/drawingml/2006/main">
              <a:ext uri="{FF2B5EF4-FFF2-40B4-BE49-F238E27FC236}">
                <a16:creationId xmlns:a16="http://schemas.microsoft.com/office/drawing/2014/main" id="{2ED735A4-4EAB-475A-9C85-5F19493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5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l-C">
            <a:extLst xmlns:a="http://schemas.openxmlformats.org/drawingml/2006/main">
              <a:ext uri="{FF2B5EF4-FFF2-40B4-BE49-F238E27FC236}">
                <a16:creationId xmlns:a16="http://schemas.microsoft.com/office/drawing/2014/main" id="{5F099E93-898A-4D9F-8F68-54EC1C2F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A5100"/>
                </a:solidFill>
              </a:defRPr>
            </a:pPr>
            <a:r>
              <a:rPr sz="2475" b="1">
                <a:solidFill>
                  <a:srgbClr val="8A5100"/>
                </a:solidFill>
              </a:rPr>
              <a:t>C</a:t>
            </a:r>
          </a:p>
        </p:txBody>
      </p:sp>
      <p:sp>
        <p:nvSpPr>
          <p:cNvPr id="23" name="ot-C">
            <a:extLst xmlns:a="http://schemas.openxmlformats.org/drawingml/2006/main">
              <a:ext uri="{FF2B5EF4-FFF2-40B4-BE49-F238E27FC236}">
                <a16:creationId xmlns:a16="http://schemas.microsoft.com/office/drawing/2014/main" id="{9BE43EAE-E7E1-463F-B407-403E8DDE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94B"/>
                </a:solidFill>
              </a:defRPr>
            </a:pPr>
            <a:r>
              <a:rPr sz="1875" b="1">
                <a:solidFill>
                  <a:srgbClr val="13294B"/>
                </a:solidFill>
              </a:rPr>
              <a:t>Discovery only</a:t>
            </a:r>
          </a:p>
        </p:txBody>
      </p:sp>
      <p:sp>
        <p:nvSpPr>
          <p:cNvPr id="24" name="os-C">
            <a:extLst xmlns:a="http://schemas.openxmlformats.org/drawingml/2006/main">
              <a:ext uri="{FF2B5EF4-FFF2-40B4-BE49-F238E27FC236}">
                <a16:creationId xmlns:a16="http://schemas.microsoft.com/office/drawing/2014/main" id="{26A818C4-1F18-45D7-A52E-266A383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5100"/>
                </a:solidFill>
              </a:defRPr>
            </a:pPr>
            <a:r>
              <a:rPr sz="975" b="1">
                <a:solidFill>
                  <a:srgbClr val="8A5100"/>
                </a:solidFill>
              </a:rPr>
              <a:t>FEASIBLE FALLBACK</a:t>
            </a:r>
          </a:p>
        </p:txBody>
      </p:sp>
      <p:sp>
        <p:nvSpPr>
          <p:cNvPr id="25" name="or-C">
            <a:extLst xmlns:a="http://schemas.openxmlformats.org/drawingml/2006/main">
              <a:ext uri="{FF2B5EF4-FFF2-40B4-BE49-F238E27FC236}">
                <a16:creationId xmlns:a16="http://schemas.microsoft.com/office/drawing/2014/main" id="{5AC2DC1B-EEE7-4576-A906-8A4ED18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body-C">
            <a:extLst xmlns:a="http://schemas.openxmlformats.org/drawingml/2006/main">
              <a:ext uri="{FF2B5EF4-FFF2-40B4-BE49-F238E27FC236}">
                <a16:creationId xmlns:a16="http://schemas.microsoft.com/office/drawing/2014/main" id="{07BC637E-4BAD-45E1-94F2-A4687D4F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857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Resolve definitions and integrations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No production pilot yet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Delays controlled learning</a:t>
            </a:r>
          </a:p>
          <a:p xmlns:a="http://schemas.openxmlformats.org/drawingml/2006/main">
            <a:pPr algn="l">
              <a:defRPr sz="1425" b="0">
                <a:solidFill>
                  <a:srgbClr val="242424"/>
                </a:solidFill>
              </a:defRPr>
            </a:pPr>
            <a:r>
              <a:rPr sz="1425" b="0">
                <a:solidFill>
                  <a:srgbClr val="242424"/>
                </a:solidFill>
              </a:rPr>
              <a:t>Requires a time-boxed exit decision</a:t>
            </a:r>
          </a:p>
        </p:txBody>
      </p:sp>
      <p:sp>
        <p:nvSpPr>
          <p:cNvPr id="27" name="odec-C">
            <a:extLst xmlns:a="http://schemas.openxmlformats.org/drawingml/2006/main">
              <a:ext uri="{FF2B5EF4-FFF2-40B4-BE49-F238E27FC236}">
                <a16:creationId xmlns:a16="http://schemas.microsoft.com/office/drawing/2014/main" id="{B8AC7CDB-7384-4B42-8B3C-0EF0472E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94B"/>
                </a:solidFill>
              </a:defRPr>
            </a:pPr>
            <a:r>
              <a:rPr sz="1200" b="1">
                <a:solidFill>
                  <a:srgbClr val="13294B"/>
                </a:solidFill>
              </a:rPr>
              <a:t>Decision: accept delay?</a:t>
            </a:r>
          </a:p>
        </p:txBody>
      </p:sp>
      <p:sp>
        <p:nvSpPr>
          <p:cNvPr id="28" name="foot-5">
            <a:extLst xmlns:a="http://schemas.openxmlformats.org/drawingml/2006/main">
              <a:ext uri="{FF2B5EF4-FFF2-40B4-BE49-F238E27FC236}">
                <a16:creationId xmlns:a16="http://schemas.microsoft.com/office/drawing/2014/main" id="{AC6CC5D3-DB84-48A1-B1C3-609E0958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PROJECT NOVA | PHASE 2 DECISION</a:t>
            </a:r>
          </a:p>
        </p:txBody>
      </p:sp>
      <p:sp>
        <p:nvSpPr>
          <p:cNvPr id="29" name="page-5">
            <a:extLst xmlns:a="http://schemas.openxmlformats.org/drawingml/2006/main">
              <a:ext uri="{FF2B5EF4-FFF2-40B4-BE49-F238E27FC236}">
                <a16:creationId xmlns:a16="http://schemas.microsoft.com/office/drawing/2014/main" id="{61B64AEC-91F7-4809-BD65-B8A552ED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C5C5C"/>
                </a:solidFill>
              </a:defRPr>
            </a:pPr>
            <a:r>
              <a:rPr sz="825" b="1">
                <a:solidFill>
                  <a:srgbClr val="5C5C5C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54538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6">
            <a:extLst xmlns:a="http://schemas.openxmlformats.org/drawingml/2006/main">
              <a:ext uri="{FF2B5EF4-FFF2-40B4-BE49-F238E27FC236}">
                <a16:creationId xmlns:a16="http://schemas.microsoft.com/office/drawing/2014/main" id="{315CA9B2-D32D-4C33-A793-892A06C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AF7"/>
                </a:solidFill>
              </a:defRPr>
            </a:pPr>
            <a:r>
              <a:rPr sz="1125" b="1">
                <a:solidFill>
                  <a:srgbClr val="D9EAF7"/>
                </a:solidFill>
              </a:rPr>
              <a:t>DECISIONS REQUIRED</a:t>
            </a:r>
          </a:p>
        </p:txBody>
      </p:sp>
      <p:sp>
        <p:nvSpPr>
          <p:cNvPr id="2" name="title6">
            <a:extLst xmlns:a="http://schemas.openxmlformats.org/drawingml/2006/main">
              <a:ext uri="{FF2B5EF4-FFF2-40B4-BE49-F238E27FC236}">
                <a16:creationId xmlns:a16="http://schemas.microsoft.com/office/drawing/2014/main" id="{D007F4F1-C5A0-4B5B-9225-B5567D1E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Approve the pilot only with explicit conditions</a:t>
            </a:r>
          </a:p>
        </p:txBody>
      </p:sp>
      <p:sp>
        <p:nvSpPr>
          <p:cNvPr id="3" name="dn-1">
            <a:extLst xmlns:a="http://schemas.openxmlformats.org/drawingml/2006/main">
              <a:ext uri="{FF2B5EF4-FFF2-40B4-BE49-F238E27FC236}">
                <a16:creationId xmlns:a16="http://schemas.microsoft.com/office/drawing/2014/main" id="{6458F93A-9B84-4EC0-87FB-E411B636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nt-1">
            <a:extLst xmlns:a="http://schemas.openxmlformats.org/drawingml/2006/main">
              <a:ext uri="{FF2B5EF4-FFF2-40B4-BE49-F238E27FC236}">
                <a16:creationId xmlns:a16="http://schemas.microsoft.com/office/drawing/2014/main" id="{EA6FE159-6865-466B-B27C-525B636D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dl-1">
            <a:extLst xmlns:a="http://schemas.openxmlformats.org/drawingml/2006/main">
              <a:ext uri="{FF2B5EF4-FFF2-40B4-BE49-F238E27FC236}">
                <a16:creationId xmlns:a16="http://schemas.microsoft.com/office/drawing/2014/main" id="{518E001A-BF0B-4493-B6C4-658D8815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812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AF7"/>
                </a:solidFill>
              </a:defRPr>
            </a:pPr>
            <a:r>
              <a:rPr sz="1050" b="1">
                <a:solidFill>
                  <a:srgbClr val="D9EAF7"/>
                </a:solidFill>
              </a:rPr>
              <a:t>SCOPE</a:t>
            </a:r>
          </a:p>
        </p:txBody>
      </p:sp>
      <p:sp>
        <p:nvSpPr>
          <p:cNvPr id="6" name="db-1">
            <a:extLst xmlns:a="http://schemas.openxmlformats.org/drawingml/2006/main">
              <a:ext uri="{FF2B5EF4-FFF2-40B4-BE49-F238E27FC236}">
                <a16:creationId xmlns:a16="http://schemas.microsoft.com/office/drawing/2014/main" id="{292974AF-1B0B-4932-8D7A-2EBB33B0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Select Option A, B or C</a:t>
            </a:r>
          </a:p>
        </p:txBody>
      </p:sp>
      <p:sp>
        <p:nvSpPr>
          <p:cNvPr id="7" name="dn-2">
            <a:extLst xmlns:a="http://schemas.openxmlformats.org/drawingml/2006/main">
              <a:ext uri="{FF2B5EF4-FFF2-40B4-BE49-F238E27FC236}">
                <a16:creationId xmlns:a16="http://schemas.microsoft.com/office/drawing/2014/main" id="{A34E60B9-E676-4B2A-B175-937F98B8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nt-2">
            <a:extLst xmlns:a="http://schemas.openxmlformats.org/drawingml/2006/main">
              <a:ext uri="{FF2B5EF4-FFF2-40B4-BE49-F238E27FC236}">
                <a16:creationId xmlns:a16="http://schemas.microsoft.com/office/drawing/2014/main" id="{063BCA71-F563-4E90-96F3-C06F970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dl-2">
            <a:extLst xmlns:a="http://schemas.openxmlformats.org/drawingml/2006/main">
              <a:ext uri="{FF2B5EF4-FFF2-40B4-BE49-F238E27FC236}">
                <a16:creationId xmlns:a16="http://schemas.microsoft.com/office/drawing/2014/main" id="{C41EF446-A9FF-4CE8-B5DB-9FD3B87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AF7"/>
                </a:solidFill>
              </a:defRPr>
            </a:pPr>
            <a:r>
              <a:rPr sz="1050" b="1">
                <a:solidFill>
                  <a:srgbClr val="D9EAF7"/>
                </a:solidFill>
              </a:rPr>
              <a:t>MEASURE</a:t>
            </a:r>
          </a:p>
        </p:txBody>
      </p:sp>
      <p:sp>
        <p:nvSpPr>
          <p:cNvPr id="10" name="db-2">
            <a:extLst xmlns:a="http://schemas.openxmlformats.org/drawingml/2006/main">
              <a:ext uri="{FF2B5EF4-FFF2-40B4-BE49-F238E27FC236}">
                <a16:creationId xmlns:a16="http://schemas.microsoft.com/office/drawing/2014/main" id="{4D31994B-921A-4FC6-9321-ACA09C22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Approve completion definition and pilot KPI</a:t>
            </a:r>
          </a:p>
        </p:txBody>
      </p:sp>
      <p:sp>
        <p:nvSpPr>
          <p:cNvPr id="11" name="dn-3">
            <a:extLst xmlns:a="http://schemas.openxmlformats.org/drawingml/2006/main">
              <a:ext uri="{FF2B5EF4-FFF2-40B4-BE49-F238E27FC236}">
                <a16:creationId xmlns:a16="http://schemas.microsoft.com/office/drawing/2014/main" id="{9D2F8FB8-D32C-44C0-9B43-A117223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nt-3">
            <a:extLst xmlns:a="http://schemas.openxmlformats.org/drawingml/2006/main">
              <a:ext uri="{FF2B5EF4-FFF2-40B4-BE49-F238E27FC236}">
                <a16:creationId xmlns:a16="http://schemas.microsoft.com/office/drawing/2014/main" id="{16803DDA-CDB6-490A-8395-AD0F869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dl-3">
            <a:extLst xmlns:a="http://schemas.openxmlformats.org/drawingml/2006/main">
              <a:ext uri="{FF2B5EF4-FFF2-40B4-BE49-F238E27FC236}">
                <a16:creationId xmlns:a16="http://schemas.microsoft.com/office/drawing/2014/main" id="{ACFDA604-BF32-4A56-874D-17969ED7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AF7"/>
                </a:solidFill>
              </a:defRPr>
            </a:pPr>
            <a:r>
              <a:rPr sz="1050" b="1">
                <a:solidFill>
                  <a:srgbClr val="D9EAF7"/>
                </a:solidFill>
              </a:rPr>
              <a:t>CONTROL</a:t>
            </a:r>
          </a:p>
        </p:txBody>
      </p:sp>
      <p:sp>
        <p:nvSpPr>
          <p:cNvPr id="14" name="db-3">
            <a:extLst xmlns:a="http://schemas.openxmlformats.org/drawingml/2006/main">
              <a:ext uri="{FF2B5EF4-FFF2-40B4-BE49-F238E27FC236}">
                <a16:creationId xmlns:a16="http://schemas.microsoft.com/office/drawing/2014/main" id="{A94EB732-1D80-4B6D-9FCF-C6B94305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Confirm human approval boundary for privileged/admin access</a:t>
            </a:r>
          </a:p>
        </p:txBody>
      </p:sp>
      <p:sp>
        <p:nvSpPr>
          <p:cNvPr id="15" name="dn-4">
            <a:extLst xmlns:a="http://schemas.openxmlformats.org/drawingml/2006/main">
              <a:ext uri="{FF2B5EF4-FFF2-40B4-BE49-F238E27FC236}">
                <a16:creationId xmlns:a16="http://schemas.microsoft.com/office/drawing/2014/main" id="{3097AF03-C757-4EF8-BDF5-E7DF4960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nt-4">
            <a:extLst xmlns:a="http://schemas.openxmlformats.org/drawingml/2006/main">
              <a:ext uri="{FF2B5EF4-FFF2-40B4-BE49-F238E27FC236}">
                <a16:creationId xmlns:a16="http://schemas.microsoft.com/office/drawing/2014/main" id="{2AE4BD0C-644C-4C6B-9306-787B6667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dl-4">
            <a:extLst xmlns:a="http://schemas.openxmlformats.org/drawingml/2006/main">
              <a:ext uri="{FF2B5EF4-FFF2-40B4-BE49-F238E27FC236}">
                <a16:creationId xmlns:a16="http://schemas.microsoft.com/office/drawing/2014/main" id="{2C6BD8A9-63B2-4278-ACF8-9B929DE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AF7"/>
                </a:solidFill>
              </a:defRPr>
            </a:pPr>
            <a:r>
              <a:rPr sz="1050" b="1">
                <a:solidFill>
                  <a:srgbClr val="D9EAF7"/>
                </a:solidFill>
              </a:rPr>
              <a:t>EXIT</a:t>
            </a:r>
          </a:p>
        </p:txBody>
      </p:sp>
      <p:sp>
        <p:nvSpPr>
          <p:cNvPr id="18" name="db-4">
            <a:extLst xmlns:a="http://schemas.openxmlformats.org/drawingml/2006/main">
              <a:ext uri="{FF2B5EF4-FFF2-40B4-BE49-F238E27FC236}">
                <a16:creationId xmlns:a16="http://schemas.microsoft.com/office/drawing/2014/main" id="{12760E39-A765-425B-8A18-E8259FAC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957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Approve four-week exit criteria and evidence review</a:t>
            </a:r>
          </a:p>
        </p:txBody>
      </p:sp>
      <p:sp>
        <p:nvSpPr>
          <p:cNvPr id="19" name="dn-5">
            <a:extLst xmlns:a="http://schemas.openxmlformats.org/drawingml/2006/main">
              <a:ext uri="{FF2B5EF4-FFF2-40B4-BE49-F238E27FC236}">
                <a16:creationId xmlns:a16="http://schemas.microsoft.com/office/drawing/2014/main" id="{C716F865-8A4E-4F29-8454-8AF9C88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nt-5">
            <a:extLst xmlns:a="http://schemas.openxmlformats.org/drawingml/2006/main">
              <a:ext uri="{FF2B5EF4-FFF2-40B4-BE49-F238E27FC236}">
                <a16:creationId xmlns:a16="http://schemas.microsoft.com/office/drawing/2014/main" id="{28705405-6548-4532-B5B3-DDC9661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dl-5">
            <a:extLst xmlns:a="http://schemas.openxmlformats.org/drawingml/2006/main">
              <a:ext uri="{FF2B5EF4-FFF2-40B4-BE49-F238E27FC236}">
                <a16:creationId xmlns:a16="http://schemas.microsoft.com/office/drawing/2014/main" id="{2C0A86A3-A3F7-4B05-B606-E1459B92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AF7"/>
                </a:solidFill>
              </a:defRPr>
            </a:pPr>
            <a:r>
              <a:rPr sz="1050" b="1">
                <a:solidFill>
                  <a:srgbClr val="D9EAF7"/>
                </a:solidFill>
              </a:rPr>
              <a:t>REMEDIATION</a:t>
            </a:r>
          </a:p>
        </p:txBody>
      </p:sp>
      <p:sp>
        <p:nvSpPr>
          <p:cNvPr id="22" name="db-5">
            <a:extLst xmlns:a="http://schemas.openxmlformats.org/drawingml/2006/main">
              <a:ext uri="{FF2B5EF4-FFF2-40B4-BE49-F238E27FC236}">
                <a16:creationId xmlns:a16="http://schemas.microsoft.com/office/drawing/2014/main" id="{22454005-864C-42B2-9197-3F13D2EF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006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Confirm FinanceHub and Power BI plan and owner</a:t>
            </a:r>
          </a:p>
        </p:txBody>
      </p:sp>
      <p:sp>
        <p:nvSpPr>
          <p:cNvPr id="23" name="stop">
            <a:extLst xmlns:a="http://schemas.openxmlformats.org/drawingml/2006/main">
              <a:ext uri="{FF2B5EF4-FFF2-40B4-BE49-F238E27FC236}">
                <a16:creationId xmlns:a16="http://schemas.microsoft.com/office/drawing/2014/main" id="{C70C94D3-81C7-481A-9AC2-74538068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nal">
            <a:extLst xmlns:a="http://schemas.openxmlformats.org/drawingml/2006/main">
              <a:ext uri="{FF2B5EF4-FFF2-40B4-BE49-F238E27FC236}">
                <a16:creationId xmlns:a16="http://schemas.microsoft.com/office/drawing/2014/main" id="{A958272C-D1BA-4E0D-9268-F3663DF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EAF7"/>
                </a:solidFill>
              </a:defRPr>
            </a:pPr>
            <a:r>
              <a:rPr sz="1500" b="1">
                <a:solidFill>
                  <a:srgbClr val="D9EAF7"/>
                </a:solidFill>
              </a:rPr>
              <a:t>No agent records approval. The named human decision owners confirm the final record.</a:t>
            </a:r>
          </a:p>
        </p:txBody>
      </p:sp>
      <p:sp>
        <p:nvSpPr>
          <p:cNvPr id="25" name="f6">
            <a:extLst xmlns:a="http://schemas.openxmlformats.org/drawingml/2006/main">
              <a:ext uri="{FF2B5EF4-FFF2-40B4-BE49-F238E27FC236}">
                <a16:creationId xmlns:a16="http://schemas.microsoft.com/office/drawing/2014/main" id="{9AC7728C-B93E-4D23-BD26-685DA73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AF7"/>
                </a:solidFill>
              </a:defRPr>
            </a:pPr>
            <a:r>
              <a:rPr sz="825" b="1">
                <a:solidFill>
                  <a:srgbClr val="D9EAF7"/>
                </a:solidFill>
              </a:rPr>
              <a:t>PROJECT NOVA | PHASE 2 DECISION</a:t>
            </a:r>
          </a:p>
        </p:txBody>
      </p:sp>
    </p:spTree>
    <p:extLst>
      <p:ext uri="{BB962C8B-B14F-4D97-AF65-F5344CB8AC3E}">
        <p14:creationId xmlns:p14="http://schemas.microsoft.com/office/powerpoint/2010/main" val="1170285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2026-08-28T06:58:25.1200000Z</dcterms:created>
  <dcterms:modified xsi:type="dcterms:W3CDTF">2026-08-28T06:58:25.1200000Z</dcterms:modified>
</coreProperties>
</file>